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0ac6817906410c" /><Relationship Type="http://schemas.openxmlformats.org/officeDocument/2006/relationships/extended-properties" Target="/docProps/app.xml" Id="R37b0f09758684957" /><Relationship Type="http://schemas.openxmlformats.org/officeDocument/2006/relationships/officeDocument" Target="/ppt/presentation.xml" Id="R6d16cc3b19bd4b1f" /></Relationships>
</file>

<file path=ppt/presentation.xml><?xml version="1.0" encoding="utf-8"?>
<p:presentation xmlns:p="http://schemas.openxmlformats.org/presentationml/2006/main">
  <p:sldMasterIdLst>
    <p:sldMasterId xmlns:r="http://schemas.openxmlformats.org/officeDocument/2006/relationships" id="2147483648" r:id="Ra1ce0e6c70ee4a1f"/>
  </p:sldMasterIdLst>
  <p:notesMasterIdLst>
    <p:notesMasterId xmlns:r="http://schemas.openxmlformats.org/officeDocument/2006/relationships" r:id="R846f6f558f2a40c4"/>
  </p:notesMasterIdLst>
  <p:sldIdLst>
    <p:sldId xmlns:r="http://schemas.openxmlformats.org/officeDocument/2006/relationships" id="256" r:id="Rfc39b7be11cd413b"/>
    <p:sldId xmlns:r="http://schemas.openxmlformats.org/officeDocument/2006/relationships" id="257" r:id="Ra2aae29bb0dd4a3e"/>
    <p:sldId xmlns:r="http://schemas.openxmlformats.org/officeDocument/2006/relationships" id="258" r:id="R016d9cddb2914522"/>
    <p:sldId xmlns:r="http://schemas.openxmlformats.org/officeDocument/2006/relationships" id="259" r:id="Ra5a8fd89343a41fa"/>
    <p:sldId xmlns:r="http://schemas.openxmlformats.org/officeDocument/2006/relationships" id="260" r:id="Rd559e9916efe410e"/>
    <p:sldId xmlns:r="http://schemas.openxmlformats.org/officeDocument/2006/relationships" id="261" r:id="R4a2740d33f594ed5"/>
    <p:sldId xmlns:r="http://schemas.openxmlformats.org/officeDocument/2006/relationships" id="262" r:id="R4df7a356049b4732"/>
    <p:sldId xmlns:r="http://schemas.openxmlformats.org/officeDocument/2006/relationships" id="263" r:id="R5fadfa9cec074e4c"/>
    <p:sldId xmlns:r="http://schemas.openxmlformats.org/officeDocument/2006/relationships" id="264" r:id="R6409e10a96ef4661"/>
    <p:sldId xmlns:r="http://schemas.openxmlformats.org/officeDocument/2006/relationships" id="265" r:id="R2677cb01f4fd46e0"/>
    <p:sldId xmlns:r="http://schemas.openxmlformats.org/officeDocument/2006/relationships" id="266" r:id="Red8e4e0bae6f43de"/>
    <p:sldId xmlns:r="http://schemas.openxmlformats.org/officeDocument/2006/relationships" id="267" r:id="Rb74e0fc2aef14e40"/>
    <p:sldId xmlns:r="http://schemas.openxmlformats.org/officeDocument/2006/relationships" id="268" r:id="Rd43d4336294d4e18"/>
    <p:sldId xmlns:r="http://schemas.openxmlformats.org/officeDocument/2006/relationships" id="269" r:id="R530bdcfab3f74135"/>
    <p:sldId xmlns:r="http://schemas.openxmlformats.org/officeDocument/2006/relationships" id="270" r:id="R8fa8273f20bd4df7"/>
    <p:sldId xmlns:r="http://schemas.openxmlformats.org/officeDocument/2006/relationships" id="271" r:id="R7f20db776aa0428c"/>
    <p:sldId xmlns:r="http://schemas.openxmlformats.org/officeDocument/2006/relationships" id="272" r:id="R930d59c5deff497a"/>
    <p:sldId xmlns:r="http://schemas.openxmlformats.org/officeDocument/2006/relationships" id="273" r:id="R2b8870ed2fa44af8"/>
    <p:sldId xmlns:r="http://schemas.openxmlformats.org/officeDocument/2006/relationships" id="274" r:id="R030033ba245b41da"/>
    <p:sldId xmlns:r="http://schemas.openxmlformats.org/officeDocument/2006/relationships" id="275" r:id="R790820a154da46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91bdea34e14f93" /><Relationship Type="http://schemas.openxmlformats.org/officeDocument/2006/relationships/slideMaster" Target="/ppt/slideMasters/slideMaster1.xml" Id="Ra1ce0e6c70ee4a1f" /><Relationship Type="http://schemas.openxmlformats.org/officeDocument/2006/relationships/notesMaster" Target="/ppt/notesMasters/notesMaster1.xml" Id="R846f6f558f2a40c4" /><Relationship Type="http://schemas.openxmlformats.org/officeDocument/2006/relationships/presProps" Target="/ppt/presProps.xml" Id="Rca642ac8cc644a78" /><Relationship Type="http://schemas.openxmlformats.org/officeDocument/2006/relationships/tableStyles" Target="/ppt/tableStyles.xml" Id="Raa78c410b5f04e52" /><Relationship Type="http://schemas.openxmlformats.org/officeDocument/2006/relationships/slide" Target="/ppt/slides/slide1.xml" Id="Rfc39b7be11cd413b" /><Relationship Type="http://schemas.openxmlformats.org/officeDocument/2006/relationships/slide" Target="/ppt/slides/slide2.xml" Id="Ra2aae29bb0dd4a3e" /><Relationship Type="http://schemas.openxmlformats.org/officeDocument/2006/relationships/slide" Target="/ppt/slides/slide3.xml" Id="R016d9cddb2914522" /><Relationship Type="http://schemas.openxmlformats.org/officeDocument/2006/relationships/slide" Target="/ppt/slides/slide4.xml" Id="Ra5a8fd89343a41fa" /><Relationship Type="http://schemas.openxmlformats.org/officeDocument/2006/relationships/slide" Target="/ppt/slides/slide5.xml" Id="Rd559e9916efe410e" /><Relationship Type="http://schemas.openxmlformats.org/officeDocument/2006/relationships/slide" Target="/ppt/slides/slide6.xml" Id="R4a2740d33f594ed5" /><Relationship Type="http://schemas.openxmlformats.org/officeDocument/2006/relationships/slide" Target="/ppt/slides/slide7.xml" Id="R4df7a356049b4732" /><Relationship Type="http://schemas.openxmlformats.org/officeDocument/2006/relationships/slide" Target="/ppt/slides/slide8.xml" Id="R5fadfa9cec074e4c" /><Relationship Type="http://schemas.openxmlformats.org/officeDocument/2006/relationships/slide" Target="/ppt/slides/slide9.xml" Id="R6409e10a96ef4661" /><Relationship Type="http://schemas.openxmlformats.org/officeDocument/2006/relationships/slide" Target="/ppt/slides/slide10.xml" Id="R2677cb01f4fd46e0" /><Relationship Type="http://schemas.openxmlformats.org/officeDocument/2006/relationships/slide" Target="/ppt/slides/slide11.xml" Id="Red8e4e0bae6f43de" /><Relationship Type="http://schemas.openxmlformats.org/officeDocument/2006/relationships/slide" Target="/ppt/slides/slide12.xml" Id="Rb74e0fc2aef14e40" /><Relationship Type="http://schemas.openxmlformats.org/officeDocument/2006/relationships/slide" Target="/ppt/slides/slide13.xml" Id="Rd43d4336294d4e18" /><Relationship Type="http://schemas.openxmlformats.org/officeDocument/2006/relationships/slide" Target="/ppt/slides/slide14.xml" Id="R530bdcfab3f74135" /><Relationship Type="http://schemas.openxmlformats.org/officeDocument/2006/relationships/slide" Target="/ppt/slides/slide15.xml" Id="R8fa8273f20bd4df7" /><Relationship Type="http://schemas.openxmlformats.org/officeDocument/2006/relationships/slide" Target="/ppt/slides/slide16.xml" Id="R7f20db776aa0428c" /><Relationship Type="http://schemas.openxmlformats.org/officeDocument/2006/relationships/slide" Target="/ppt/slides/slide17.xml" Id="R930d59c5deff497a" /><Relationship Type="http://schemas.openxmlformats.org/officeDocument/2006/relationships/slide" Target="/ppt/slides/slide18.xml" Id="R2b8870ed2fa44af8" /><Relationship Type="http://schemas.openxmlformats.org/officeDocument/2006/relationships/slide" Target="/ppt/slides/slide19.xml" Id="R030033ba245b41da" /><Relationship Type="http://schemas.openxmlformats.org/officeDocument/2006/relationships/slide" Target="/ppt/slides/slide20.xml" Id="R790820a154da46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2bf94ed6bf45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2d141381b34f65" /><Relationship Type="http://schemas.openxmlformats.org/officeDocument/2006/relationships/notesMaster" Target="/ppt/notesMasters/notesMaster1.xml" Id="R8c7b32bfcd2648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98cef983234541" /><Relationship Type="http://schemas.openxmlformats.org/officeDocument/2006/relationships/notesMaster" Target="/ppt/notesMasters/notesMaster1.xml" Id="Rc795f75a7a9b4f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6bc2bda03f43ac" /><Relationship Type="http://schemas.openxmlformats.org/officeDocument/2006/relationships/notesMaster" Target="/ppt/notesMasters/notesMaster1.xml" Id="Rda2a5444f9aa4b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77514e756142a8" /><Relationship Type="http://schemas.openxmlformats.org/officeDocument/2006/relationships/notesMaster" Target="/ppt/notesMasters/notesMaster1.xml" Id="R8c185aea85ff40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0736c35d854aea" /><Relationship Type="http://schemas.openxmlformats.org/officeDocument/2006/relationships/notesMaster" Target="/ppt/notesMasters/notesMaster1.xml" Id="R5eb51f33977846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6b15f7194140a3" /><Relationship Type="http://schemas.openxmlformats.org/officeDocument/2006/relationships/notesMaster" Target="/ppt/notesMasters/notesMaster1.xml" Id="R6479a37b40f4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046b861d8643a2" /><Relationship Type="http://schemas.openxmlformats.org/officeDocument/2006/relationships/notesMaster" Target="/ppt/notesMasters/notesMaster1.xml" Id="Re94cd51808a345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8201a207694085" /><Relationship Type="http://schemas.openxmlformats.org/officeDocument/2006/relationships/notesMaster" Target="/ppt/notesMasters/notesMaster1.xml" Id="R2653df3540eb45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42a2d4292b4b89" /><Relationship Type="http://schemas.openxmlformats.org/officeDocument/2006/relationships/notesMaster" Target="/ppt/notesMasters/notesMaster1.xml" Id="R1990ae24b86849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d271e729784337" /><Relationship Type="http://schemas.openxmlformats.org/officeDocument/2006/relationships/notesMaster" Target="/ppt/notesMasters/notesMaster1.xml" Id="R5dc51c530f3546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4144641cd14d60" /><Relationship Type="http://schemas.openxmlformats.org/officeDocument/2006/relationships/notesMaster" Target="/ppt/notesMasters/notesMaster1.xml" Id="Rcb6ea91f6a3e4d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5de79553764397" /><Relationship Type="http://schemas.openxmlformats.org/officeDocument/2006/relationships/notesMaster" Target="/ppt/notesMasters/notesMaster1.xml" Id="R33752786e5c747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26c32f1cbb49e2" /><Relationship Type="http://schemas.openxmlformats.org/officeDocument/2006/relationships/notesMaster" Target="/ppt/notesMasters/notesMaster1.xml" Id="R32470d3a6e8049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ea4df9398e424d" /><Relationship Type="http://schemas.openxmlformats.org/officeDocument/2006/relationships/notesMaster" Target="/ppt/notesMasters/notesMaster1.xml" Id="Ra4fb742a8c9947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06eba901a844f8" /><Relationship Type="http://schemas.openxmlformats.org/officeDocument/2006/relationships/notesMaster" Target="/ppt/notesMasters/notesMaster1.xml" Id="R3b318ef19d6c49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dfef982b9e44bbb" /><Relationship Type="http://schemas.openxmlformats.org/officeDocument/2006/relationships/notesMaster" Target="/ppt/notesMasters/notesMaster1.xml" Id="R46dbef49b4f744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9c648015ba4fac" /><Relationship Type="http://schemas.openxmlformats.org/officeDocument/2006/relationships/notesMaster" Target="/ppt/notesMasters/notesMaster1.xml" Id="R367d64f372244e3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14ed78c1204a99" /><Relationship Type="http://schemas.openxmlformats.org/officeDocument/2006/relationships/notesMaster" Target="/ppt/notesMasters/notesMaster1.xml" Id="R0fdaacb047a049d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2cb159fdb14a88" /><Relationship Type="http://schemas.openxmlformats.org/officeDocument/2006/relationships/notesMaster" Target="/ppt/notesMasters/notesMaster1.xml" Id="Race3d799cc9140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c03b8398ce4787" /><Relationship Type="http://schemas.openxmlformats.org/officeDocument/2006/relationships/notesMaster" Target="/ppt/notesMasters/notesMaster1.xml" Id="Rac493264626845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and engineering roadmap for the TYM project. The cover photograph was provided by the user. Conference dates and deadlines reflect official pages checked on 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research claim, not a result. Synthetic examples will be evaluated only as additions to training data. Unlabeled clusters will guide sampling and will never be treated as TYM labels. See the implementation and evaluation guide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paper describes time segments with NAR, REM, SUP, GEN, and FIC labels, plus TYM time-yard relations and a TimeML-style annotation layer. Source: user-provided PDF, especially the model and annotation description. Repository representation: Tym.Api response models and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user-provided PDF reports 58.9% accuracy and approximately 58.7% macro-F1 for 2,000 event instances, and reports 93 produced time segments (PDF pp. 10–11). It also gives corpus-level annotation totals on p. 10. The evaluation confusion matrix and corpus counts are presented in separate contexts and their denominator relationship is unclear, so this deck keeps them distinct. These numbers have not been reproduced by this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inspection on 1 October 2026: data/seed-examples.jsonl contains 43 segment_type records and 24 event_temporal records, marked synthetic_seed/unreviewed. The modeling project implements FeaturizeText plus SdcaMaximumEntropy classification, grouped evaluation with human_gold/adjudicated-only metrics, and K-Means clustering over FeaturizeText features. No gold corpus is checked into the repo. Sources: README.md, tools/Tym.Modeling/Program.cs, data/seed-examples.jsonl.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synthetic curriculum for TYM's narrative temporal and segment-label tasks. It builds on documented temporal annotation gaps: nominalized events and long-distance links in TIMELINE, and dense event-pair annotation in NarrativeTime. Sources: https://aclanthology.org/2023.emnlp-main.1016/ and https://aclanthology.org/2024.lrec-main.1054/. All generated labels remain candidates until checked against the annotation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controls are hypotheses and protocol design, not implemented data generation. Recent synthetic-data studies report distribution-shift and diversity risks. For example, Kambhatla et al. find that fine-grained persona detail adds little lexical-diversity gain beyond a length cutoff in their setting; Geng et al. show pseudo-label alignment and distribution shift concerns for synthetic QE. Sources: https://aclanthology.org/2025.findings-emnlp.1146/ and https://aclanthology.org/2025.acl-long.373/. These results motivate measurement and human auditing, not direct transfer of their findings to TYM.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ML.NET describes clustering as unsupervised learning. The repository's CLI uses FeaturizeText features with K-Means and emits assignments, distances, Davies-Bouldin index, and exemplars. N-gram clusters are lexical groupings; inspect them and have annotators validate any interpretation. Cluster IDs are not TYM labels. Sources: https://learn.microsoft.com/en-us/dotnet/machine-learning/resources/tasks and https://learn.microsoft.com/en-us/dotnet/machine-learning/resources/metrics.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human-in-the-loop data workflow. The repository supports JSONL provenance fields and parent checks but does not yet implement a dedicated annotation platform or synthetic generator. Cluster assignments should be used for sampling only. Keep licensed or private narrative text outside public commits.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ML.NET evaluator creates or reads chapter/document-level group manifests. Evaluation rows are restricted to source_type=human_gold and review_status=adjudicated. Optional --train-seeds rows enter only the training partition, and provided parent IDs are checked against split membership. For stronger generator generalization claims, keep a generator family out of training and report it separately. See tools/Tym.Modeling/Program.cs and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ratios are a proposed starting grid, not established optimal values. Define the denominator at the example level within each task and report class and phenomenon distributions. Run human-only and augmented conditions on the same train/dev/test document manifest. Keep tuning away from the final held-out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ML.NET's metrics reference documents multiclass classification and clustering metrics. The current CLI reports grouped classification metrics and internal K-Means measures; it does not implement event-span or graph-level evaluation. Annotation agreement and richer TYM metrics are future additions. Source: https://learn.microsoft.com/en-us/dotnet/machine-learning/resources/metrics and repository pocs/model-evaluation/README.md.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path: tools/Tym.Modeling trains ML.NET FeaturizeText + SdcaMaximumEntropy models and writes model manifests. The API accepts saved English artifacts through TYM_MODEL_DIR; absent that configuration, it retains seed classifiers. The UI uses React 18 UMD scripts and calls the API. Sources: repository README.md, Program.cs, tools/Tym.Modeling/Program.cs, ui/Tym.Ui/wwwroot/index.html.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UI features observed in the local browser on 1 October 2026: React workbench, language examples, API URL, diagram width, analysis tab, category/actor/min-confidence filters, event and segment selection, source text jump, evidence details, downloadable SVG/JSON/XML, and dark-mode toggle. This is product functionality, not a user-study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roles are intentionally separate. NarrativeTime provides dense timeline annotations over TimeBank-Dense news and reports two independent expert annotations; its guidelines, tools, and annotations are available under MIT according to the paper. TIMELINE targets exhaustive news relations, including long-distance and nominalized events. CaTeRS annotates 320 five-sentence ROCStories with causal and temporal relations, useful as a short-story diagnostic but not as TYM labels. MEANTIME contains 120 English news articles and translations in Spanish, Italian, and Dutch; its non-English annotations were partly projected from English and should not be treated as independent target-language gold without audit. Confirm underlying source-text and annotation redistribution rights before using or releasing any corpus. Sources: https://aclanthology.org/2024.lrec-main.1054/ ; https://aclanthology.org/2023.emnlp-main.1016/ ; https://aclanthology.org/W16-1007/ ; https://aclanthology.org/L16-1699/.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Conference-specific adaptation is based on the official 2027 calls checked on 1 October 2026. EACL's theme is The Human in Language; a new EACL main ARR submission is no longer possible because its 3 August deadline passed, so this fit applies only to already reviewed ARR work or an eligible separate route. COLING's theme is NLP for Linguistics and explicitly highlights linguistic diversity and under-researched languages. NAACL covers low-resource NLP, generalization, human-centric NLP, resources, evaluation, and semantics; its agentic-communication theme says multiple agents alone are insufficient. ACL's theme is Homogenization and knowledge collapse in LLMs, requiring direct diversity or homogenization analysis for a thematic claim. EMNLP 2027 CFP/theme is not yet published; the empirical-methods framing is provisional. Sources: https://2027.eacl.org/calls/papers/ ; https://2027.coling-iccl.org/calls/main_conference_papers/ ; https://2027.naacl.org/calls/main_conference_papers/ ; https://2027.aclweb.org/calls/main/.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Workback is a proposed plan from the current date, 1 October 2026. Dates are submission gates, not synthetic-data inputs. COLING and NAACL share the 12 October ARR cycle; only one primary venue can receive the paper after review. ACL's ARR deadline is 4 January 2027. EACL main ARR deadline was 3 August 2026 and has passed, unless a reviewed paper is already available to commit. EMNLP dates and 2027 CFP are not yet available. Verify official calls again before submission. Sources: https://2027.coling-iccl.org/calls/main_conference_papers/ ; https://2027.naacl.org/calls/main_conference_papers/ ; https://2027.aclweb.org/calls/main/ ; https://2027.eacl.org/calls/papers/.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decision gates. Do not commit private corpus text to the public repository unless its rights permit it. Synthetic examples can hide template leakage and pseudo-label error; generator holdout and independent human gold address these risks. Clustering introduces its own risk: lexical groups can look coherent without representing the target semantic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sources: NarrativeTime / TimeBankNT, https://aclanthology.org/2024.lrec-main.1054/ ; TIMELINE, https://aclanthology.org/2023.emnlp-main.1016/ ; CaTeRS, https://aclanthology.org/W16-1007/ ; MEANTIME, https://aclanthology.org/L16-1699/ ; user-provided TYM paper PDF. Corpus overlap is task-specific and source text may have separate redistribution conditions. MEANTIME annotations are not all independently human-authored in each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source URLs: https://aclanthology.org/2025.findings-emnlp.1146/ ; https://aclanthology.org/2025.acl-long.373/ ; https://learn.microsoft.com/en-us/dotnet/machine-learning/resources/metrics ; https://learn.microsoft.com/en-us/dotnet/machine-learning/resources/tasks ; EACL theme: https://2027.eacl.org/calls/papers/ ; COLING theme: https://2027.coling-iccl.org/calls/main_conference_papers/ ; NAACL topics/theme: https://2027.naacl.org/calls/main_conference_papers/ ; ACL homogenization theme: https://2027.aclweb.org/calls/main/ ; EMNLP 2027 CFP not yet published. Submission timing: https://2027.eacl.org/calls/papers/ ; https://2027.coling-iccl.org/ ; https://2027.naacl.org/calls/main_conference_papers/ ; https://2027.aclweb.org/calls/main/. React sources: https://react.dev/learn/adding-interactivity and https://react.dev/learn/sharing-state-between-components.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500417fe8344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6d03f70c894232" /><Relationship Type="http://schemas.openxmlformats.org/officeDocument/2006/relationships/slideLayout" Target="/ppt/slideLayouts/slideLayout1.xml" Id="Re06185213b6c40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6185213b6c40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c59cf344fa4a2c" /><Relationship Type="http://schemas.openxmlformats.org/officeDocument/2006/relationships/image" Target="/ppt/media/image.jpeg" Id="R3e2b7a1b414f40e2" /><Relationship Type="http://schemas.openxmlformats.org/officeDocument/2006/relationships/notesSlide" Target="/ppt/notesSlides/notesSlide1.xml" Id="R01a385ce73c64e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cb9cee797b43ba" /><Relationship Type="http://schemas.openxmlformats.org/officeDocument/2006/relationships/notesSlide" Target="/ppt/notesSlides/notesSlide2.xml" Id="R6f81e24b1c514b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200574d1bd481d" /><Relationship Type="http://schemas.openxmlformats.org/officeDocument/2006/relationships/notesSlide" Target="/ppt/notesSlides/notesSlide3.xml" Id="R11d321324daf4d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4f6bb0f768493c" /><Relationship Type="http://schemas.openxmlformats.org/officeDocument/2006/relationships/notesSlide" Target="/ppt/notesSlides/notesSlide4.xml" Id="Re33339ba5cc74f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adcaab6c014e85" /><Relationship Type="http://schemas.openxmlformats.org/officeDocument/2006/relationships/notesSlide" Target="/ppt/notesSlides/notesSlide5.xml" Id="R635f0b9100d240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7397ce6f904afa" /><Relationship Type="http://schemas.openxmlformats.org/officeDocument/2006/relationships/notesSlide" Target="/ppt/notesSlides/notesSlide6.xml" Id="Rcd0d9171f5f040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4e1d862ae74585" /><Relationship Type="http://schemas.openxmlformats.org/officeDocument/2006/relationships/notesSlide" Target="/ppt/notesSlides/notesSlide7.xml" Id="R7e8c584537ef4d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7e4c31dcd24c61" /><Relationship Type="http://schemas.openxmlformats.org/officeDocument/2006/relationships/notesSlide" Target="/ppt/notesSlides/notesSlide8.xml" Id="Rb68eb7b54e314e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284c07ac244a85" /><Relationship Type="http://schemas.openxmlformats.org/officeDocument/2006/relationships/notesSlide" Target="/ppt/notesSlides/notesSlide9.xml" Id="R7f3dd72251324c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b5da1fdb60a49f4" /><Relationship Type="http://schemas.openxmlformats.org/officeDocument/2006/relationships/notesSlide" Target="/ppt/notesSlides/notesSlide10.xml" Id="R840f77cb37994e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e9121048e6441b" /><Relationship Type="http://schemas.openxmlformats.org/officeDocument/2006/relationships/notesSlide" Target="/ppt/notesSlides/notesSlide11.xml" Id="Rfa82a34e77f54e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5a81f6be8094d92" /><Relationship Type="http://schemas.openxmlformats.org/officeDocument/2006/relationships/notesSlide" Target="/ppt/notesSlides/notesSlide12.xml" Id="R679c004807fa41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463375913384477" /><Relationship Type="http://schemas.openxmlformats.org/officeDocument/2006/relationships/notesSlide" Target="/ppt/notesSlides/notesSlide13.xml" Id="Re3cfef2f0ed84f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2f8757e9d8945ea" /><Relationship Type="http://schemas.openxmlformats.org/officeDocument/2006/relationships/notesSlide" Target="/ppt/notesSlides/notesSlide14.xml" Id="R992368d5a8774d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67d5d59dc0847e9" /><Relationship Type="http://schemas.openxmlformats.org/officeDocument/2006/relationships/notesSlide" Target="/ppt/notesSlides/notesSlide15.xml" Id="R64c57cd936bb4c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264b6819854255" /><Relationship Type="http://schemas.openxmlformats.org/officeDocument/2006/relationships/notesSlide" Target="/ppt/notesSlides/notesSlide16.xml" Id="Rbfc477d8b36b4d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ac1ed15737b4b5d" /><Relationship Type="http://schemas.openxmlformats.org/officeDocument/2006/relationships/notesSlide" Target="/ppt/notesSlides/notesSlide17.xml" Id="R4067f121b25443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55236a889a3412e" /><Relationship Type="http://schemas.openxmlformats.org/officeDocument/2006/relationships/notesSlide" Target="/ppt/notesSlides/notesSlide18.xml" Id="R70f7cc869b304c8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c0fd705afa341fb" /><Relationship Type="http://schemas.openxmlformats.org/officeDocument/2006/relationships/notesSlide" Target="/ppt/notesSlides/notesSlide19.xml" Id="R89479db8a28345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150cd0e0819477e" /><Relationship Type="http://schemas.openxmlformats.org/officeDocument/2006/relationships/notesSlide" Target="/ppt/notesSlides/notesSlide20.xml" Id="R9263fc85ccc240af" /></Relationships>
</file>

<file path=ppt/slides/slide1.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e2b7a1b414f40e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oto contrast overlay">
            <a:extLst xmlns:a="http://schemas.openxmlformats.org/drawingml/2006/main">
              <a:ext uri="{FF2B5EF4-FFF2-40B4-BE49-F238E27FC236}">
                <a16:creationId xmlns:a16="http://schemas.microsoft.com/office/drawing/2014/main" id="{5AAC7E68-C65F-4D77-90DE-9BA91EA970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612">
              <a:alpha val="62000"/>
            </a:srgbClr>
          </a:solidFill>
          <a:ln xmlns:a="http://schemas.openxmlformats.org/drawingml/2006/main" w="0">
            <a:noFill/>
          </a:ln>
        </p:spPr>
      </p:sp>
      <p:sp>
        <p:nvSpPr>
          <p:cNvPr id="3" name="Cover eyebrow">
            <a:extLst xmlns:a="http://schemas.openxmlformats.org/drawingml/2006/main">
              <a:ext uri="{FF2B5EF4-FFF2-40B4-BE49-F238E27FC236}">
                <a16:creationId xmlns:a16="http://schemas.microsoft.com/office/drawing/2014/main" id="{1ACFFCFD-2684-4C2B-9502-CF523319D61D}"/>
              </a:ext>
            </a:extLst>
          </p:cNvPr>
          <p:cNvSpPr>
            <a:spLocks xmlns:a="http://schemas.openxmlformats.org/drawingml/2006/main" noGrp="1"/>
          </p:cNvSpPr>
          <p:nvPr/>
        </p:nvSpPr>
        <p:spPr>
          <a:xfrm xmlns:a="http://schemas.openxmlformats.org/drawingml/2006/main">
            <a:off x="685800" y="590550"/>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9AEBCA"/>
                </a:solidFill>
                <a:latin typeface="Arial"/>
                <a:ea typeface="Arial"/>
                <a:cs typeface="Arial"/>
              </a:defRPr>
            </a:pPr>
            <a:r>
              <a:rPr sz="1200" b="1">
                <a:solidFill>
                  <a:srgbClr val="9AEBCA"/>
                </a:solidFill>
                <a:latin typeface="Arial"/>
                <a:ea typeface="Arial"/>
                <a:cs typeface="Arial"/>
              </a:rPr>
              <a:t>TYM  /  RESEARCH ROADMAP</a:t>
            </a:r>
          </a:p>
        </p:txBody>
      </p:sp>
      <p:sp>
        <p:nvSpPr>
          <p:cNvPr id="4" name="Cover title">
            <a:extLst xmlns:a="http://schemas.openxmlformats.org/drawingml/2006/main">
              <a:ext uri="{FF2B5EF4-FFF2-40B4-BE49-F238E27FC236}">
                <a16:creationId xmlns:a16="http://schemas.microsoft.com/office/drawing/2014/main" id="{D425CBDB-F9EF-4192-8345-84AA533E020E}"/>
              </a:ext>
            </a:extLst>
          </p:cNvPr>
          <p:cNvSpPr>
            <a:spLocks xmlns:a="http://schemas.openxmlformats.org/drawingml/2006/main" noGrp="1"/>
          </p:cNvSpPr>
          <p:nvPr/>
        </p:nvSpPr>
        <p:spPr>
          <a:xfrm xmlns:a="http://schemas.openxmlformats.org/drawingml/2006/main">
            <a:off x="685800" y="2400300"/>
            <a:ext cx="781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F3F6F4"/>
                </a:solidFill>
                <a:latin typeface="Arial"/>
                <a:ea typeface="Arial"/>
                <a:cs typeface="Arial"/>
              </a:defRPr>
            </a:pPr>
            <a:r>
              <a:rPr sz="4350" b="1">
                <a:solidFill>
                  <a:srgbClr val="F3F6F4"/>
                </a:solidFill>
                <a:latin typeface="Arial"/>
                <a:ea typeface="Arial"/>
                <a:cs typeface="Arial"/>
              </a:rPr>
              <a:t>Synthetic data for</a:t>
            </a:r>
          </a:p>
          <a:p xmlns:a="http://schemas.openxmlformats.org/drawingml/2006/main">
            <a:pPr algn="l">
              <a:defRPr sz="4350" b="1">
                <a:solidFill>
                  <a:srgbClr val="F3F6F4"/>
                </a:solidFill>
                <a:latin typeface="Arial"/>
                <a:ea typeface="Arial"/>
                <a:cs typeface="Arial"/>
              </a:defRPr>
            </a:pPr>
            <a:r>
              <a:rPr sz="4350" b="1">
                <a:solidFill>
                  <a:srgbClr val="F3F6F4"/>
                </a:solidFill>
                <a:latin typeface="Arial"/>
                <a:ea typeface="Arial"/>
                <a:cs typeface="Arial"/>
              </a:rPr>
              <a:t>narrative time</a:t>
            </a:r>
          </a:p>
        </p:txBody>
      </p:sp>
      <p:sp>
        <p:nvSpPr>
          <p:cNvPr id="5" name="Cover subtitle">
            <a:extLst xmlns:a="http://schemas.openxmlformats.org/drawingml/2006/main">
              <a:ext uri="{FF2B5EF4-FFF2-40B4-BE49-F238E27FC236}">
                <a16:creationId xmlns:a16="http://schemas.microsoft.com/office/drawing/2014/main" id="{297B99C0-B413-4EF0-9796-DCAD8708529C}"/>
              </a:ext>
            </a:extLst>
          </p:cNvPr>
          <p:cNvSpPr>
            <a:spLocks xmlns:a="http://schemas.openxmlformats.org/drawingml/2006/main" noGrp="1"/>
          </p:cNvSpPr>
          <p:nvPr/>
        </p:nvSpPr>
        <p:spPr>
          <a:xfrm xmlns:a="http://schemas.openxmlformats.org/drawingml/2006/main">
            <a:off x="704850" y="4105275"/>
            <a:ext cx="7524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9AEBCA"/>
                </a:solidFill>
                <a:latin typeface="Arial"/>
                <a:ea typeface="Arial"/>
                <a:cs typeface="Arial"/>
              </a:defRPr>
            </a:pPr>
            <a:r>
              <a:rPr sz="1950" b="0">
                <a:solidFill>
                  <a:srgbClr val="9AEBCA"/>
                </a:solidFill>
                <a:latin typeface="Arial"/>
                <a:ea typeface="Arial"/>
                <a:cs typeface="Arial"/>
              </a:rPr>
              <a:t>ML.NET training, unlabeled discovery, and human-gold evaluation</a:t>
            </a:r>
          </a:p>
        </p:txBody>
      </p:sp>
      <p:sp>
        <p:nvSpPr>
          <p:cNvPr id="6" name="Section rule">
            <a:extLst xmlns:a="http://schemas.openxmlformats.org/drawingml/2006/main">
              <a:ext uri="{FF2B5EF4-FFF2-40B4-BE49-F238E27FC236}">
                <a16:creationId xmlns:a16="http://schemas.microsoft.com/office/drawing/2014/main" id="{A74878B5-9F2F-48AE-AD4C-58FA5D6C0D60}"/>
              </a:ext>
            </a:extLst>
          </p:cNvPr>
          <p:cNvSpPr>
            <a:spLocks xmlns:a="http://schemas.openxmlformats.org/drawingml/2006/main" noGrp="1"/>
          </p:cNvSpPr>
          <p:nvPr/>
        </p:nvSpPr>
        <p:spPr>
          <a:xfrm xmlns:a="http://schemas.openxmlformats.org/drawingml/2006/main">
            <a:off x="704850" y="5219700"/>
            <a:ext cx="180975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7" name="Cover scope">
            <a:extLst xmlns:a="http://schemas.openxmlformats.org/drawingml/2006/main">
              <a:ext uri="{FF2B5EF4-FFF2-40B4-BE49-F238E27FC236}">
                <a16:creationId xmlns:a16="http://schemas.microsoft.com/office/drawing/2014/main" id="{394B2055-651F-41E2-A58B-93B8A7C0A188}"/>
              </a:ext>
            </a:extLst>
          </p:cNvPr>
          <p:cNvSpPr>
            <a:spLocks xmlns:a="http://schemas.openxmlformats.org/drawingml/2006/main" noGrp="1"/>
          </p:cNvSpPr>
          <p:nvPr/>
        </p:nvSpPr>
        <p:spPr>
          <a:xfrm xmlns:a="http://schemas.openxmlformats.org/drawingml/2006/main">
            <a:off x="704850" y="546735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A data-centric empirical program for the 2027 NLP conference cycle</a:t>
            </a:r>
          </a:p>
        </p:txBody>
      </p:sp>
      <p:sp>
        <p:nvSpPr>
          <p:cNvPr id="8" name="Cover date">
            <a:extLst xmlns:a="http://schemas.openxmlformats.org/drawingml/2006/main">
              <a:ext uri="{FF2B5EF4-FFF2-40B4-BE49-F238E27FC236}">
                <a16:creationId xmlns:a16="http://schemas.microsoft.com/office/drawing/2014/main" id="{4524F772-8641-461C-91D0-628EBCF81855}"/>
              </a:ext>
            </a:extLst>
          </p:cNvPr>
          <p:cNvSpPr>
            <a:spLocks xmlns:a="http://schemas.openxmlformats.org/drawingml/2006/main" noGrp="1"/>
          </p:cNvSpPr>
          <p:nvPr/>
        </p:nvSpPr>
        <p:spPr>
          <a:xfrm xmlns:a="http://schemas.openxmlformats.org/drawingml/2006/main">
            <a:off x="704850" y="6200775"/>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Conference deadlines checked 1 October 2026</a:t>
            </a:r>
          </a:p>
        </p:txBody>
      </p:sp>
    </p:spTree>
    <p:extLst>
      <p:ext uri="{BB962C8B-B14F-4D97-AF65-F5344CB8AC3E}">
        <p14:creationId xmlns:p14="http://schemas.microsoft.com/office/powerpoint/2010/main" val="158225395"/>
      </p:ext>
    </p:extLst>
  </p:cSld>
</p:sld>
</file>

<file path=ppt/slides/slide2.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30" name="Section label">
            <a:extLst xmlns:a="http://schemas.openxmlformats.org/drawingml/2006/main">
              <a:ext uri="{FF2B5EF4-FFF2-40B4-BE49-F238E27FC236}">
                <a16:creationId xmlns:a16="http://schemas.microsoft.com/office/drawing/2014/main" id="{5161D328-9AAB-43EC-AFE1-3CC81A908B33}"/>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RESEARCH QUESTION</a:t>
            </a:r>
          </a:p>
        </p:txBody>
      </p:sp>
      <p:sp>
        <p:nvSpPr>
          <p:cNvPr id="2" name="Slide title">
            <a:extLst xmlns:a="http://schemas.openxmlformats.org/drawingml/2006/main">
              <a:ext uri="{FF2B5EF4-FFF2-40B4-BE49-F238E27FC236}">
                <a16:creationId xmlns:a16="http://schemas.microsoft.com/office/drawing/2014/main" id="{302A2EC6-2AED-496C-B419-519BED2A2ED9}"/>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Research thesis</a:t>
            </a:r>
          </a:p>
        </p:txBody>
      </p:sp>
      <p:sp>
        <p:nvSpPr>
          <p:cNvPr id="3" name="Section rule">
            <a:extLst xmlns:a="http://schemas.openxmlformats.org/drawingml/2006/main">
              <a:ext uri="{FF2B5EF4-FFF2-40B4-BE49-F238E27FC236}">
                <a16:creationId xmlns:a16="http://schemas.microsoft.com/office/drawing/2014/main" id="{7103C918-D1B0-4384-AC84-C29274B0F77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E8B8F0BC-2416-4DEE-9B0D-75898175A59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44C99AA5-91DA-4B65-9515-7DBF8BAE8EA1}"/>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0C9895BA-87D6-4189-9667-D8542001B925}"/>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02</a:t>
            </a:r>
          </a:p>
        </p:txBody>
      </p:sp>
      <p:sp>
        <p:nvSpPr>
          <p:cNvPr id="7" name="Research question">
            <a:extLst xmlns:a="http://schemas.openxmlformats.org/drawingml/2006/main">
              <a:ext uri="{FF2B5EF4-FFF2-40B4-BE49-F238E27FC236}">
                <a16:creationId xmlns:a16="http://schemas.microsoft.com/office/drawing/2014/main" id="{D7640202-9B79-4588-9B85-5A5CE0E792E3}"/>
              </a:ext>
            </a:extLst>
          </p:cNvPr>
          <p:cNvSpPr>
            <a:spLocks xmlns:a="http://schemas.openxmlformats.org/drawingml/2006/main" noGrp="1"/>
          </p:cNvSpPr>
          <p:nvPr/>
        </p:nvSpPr>
        <p:spPr>
          <a:xfrm xmlns:a="http://schemas.openxmlformats.org/drawingml/2006/main">
            <a:off x="609600" y="15811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88"/>
          </a:bodyPr>
          <a:lstStyle xmlns:a="http://schemas.openxmlformats.org/drawingml/2006/main"/>
          <a:p xmlns:a="http://schemas.openxmlformats.org/drawingml/2006/main">
            <a:pPr algn="l">
              <a:defRPr sz="2550" b="1">
                <a:solidFill>
                  <a:srgbClr val="F3F6F4"/>
                </a:solidFill>
                <a:latin typeface="Arial"/>
                <a:ea typeface="Arial"/>
                <a:cs typeface="Arial"/>
              </a:defRPr>
            </a:pPr>
            <a:r>
              <a:rPr sz="2550" b="1">
                <a:solidFill>
                  <a:srgbClr val="F3F6F4"/>
                </a:solidFill>
                <a:latin typeface="Arial"/>
                <a:ea typeface="Arial"/>
                <a:cs typeface="Arial"/>
              </a:rPr>
              <a:t>Can governed synthetic examples improve temporal-semantic coverage when human labels are scarce?</a:t>
            </a:r>
          </a:p>
        </p:txBody>
      </p:sp>
      <p:sp>
        <p:nvSpPr>
          <p:cNvPr id="8" name="Research framing">
            <a:extLst xmlns:a="http://schemas.openxmlformats.org/drawingml/2006/main">
              <a:ext uri="{FF2B5EF4-FFF2-40B4-BE49-F238E27FC236}">
                <a16:creationId xmlns:a16="http://schemas.microsoft.com/office/drawing/2014/main" id="{B1E7350A-50BE-425A-AACB-FE88BC571F31}"/>
              </a:ext>
            </a:extLst>
          </p:cNvPr>
          <p:cNvSpPr>
            <a:spLocks xmlns:a="http://schemas.openxmlformats.org/drawingml/2006/main" noGrp="1"/>
          </p:cNvSpPr>
          <p:nvPr/>
        </p:nvSpPr>
        <p:spPr>
          <a:xfrm xmlns:a="http://schemas.openxmlformats.org/drawingml/2006/main">
            <a:off x="609600" y="24479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Unlabeled narratives guide what to review. Human adjudication establishes labels. Synthetic descendants expand training coverage.</a:t>
            </a:r>
          </a:p>
        </p:txBody>
      </p:sp>
      <p:sp>
        <p:nvSpPr>
          <p:cNvPr id="9" name="Editable workflow node">
            <a:extLst xmlns:a="http://schemas.openxmlformats.org/drawingml/2006/main">
              <a:ext uri="{FF2B5EF4-FFF2-40B4-BE49-F238E27FC236}">
                <a16:creationId xmlns:a16="http://schemas.microsoft.com/office/drawing/2014/main" id="{01F7FCA7-E9A6-4A73-BC00-BDC469DE892E}"/>
              </a:ext>
            </a:extLst>
          </p:cNvPr>
          <p:cNvSpPr>
            <a:spLocks xmlns:a="http://schemas.openxmlformats.org/drawingml/2006/main" noGrp="1"/>
          </p:cNvSpPr>
          <p:nvPr/>
        </p:nvSpPr>
        <p:spPr>
          <a:xfrm xmlns:a="http://schemas.openxmlformats.org/drawingml/2006/main">
            <a:off x="609600"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10" name="Step number">
            <a:extLst xmlns:a="http://schemas.openxmlformats.org/drawingml/2006/main">
              <a:ext uri="{FF2B5EF4-FFF2-40B4-BE49-F238E27FC236}">
                <a16:creationId xmlns:a16="http://schemas.microsoft.com/office/drawing/2014/main" id="{F59419FD-653B-48FE-9300-ECACABA91C4C}"/>
              </a:ext>
            </a:extLst>
          </p:cNvPr>
          <p:cNvSpPr>
            <a:spLocks xmlns:a="http://schemas.openxmlformats.org/drawingml/2006/main" noGrp="1"/>
          </p:cNvSpPr>
          <p:nvPr/>
        </p:nvSpPr>
        <p:spPr>
          <a:xfrm xmlns:a="http://schemas.openxmlformats.org/drawingml/2006/main">
            <a:off x="762000"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01</a:t>
            </a:r>
          </a:p>
        </p:txBody>
      </p:sp>
      <p:sp>
        <p:nvSpPr>
          <p:cNvPr id="11" name="Step label">
            <a:extLst xmlns:a="http://schemas.openxmlformats.org/drawingml/2006/main">
              <a:ext uri="{FF2B5EF4-FFF2-40B4-BE49-F238E27FC236}">
                <a16:creationId xmlns:a16="http://schemas.microsoft.com/office/drawing/2014/main" id="{3A0E83A1-4498-4152-8F5F-7C107876BFA0}"/>
              </a:ext>
            </a:extLst>
          </p:cNvPr>
          <p:cNvSpPr>
            <a:spLocks xmlns:a="http://schemas.openxmlformats.org/drawingml/2006/main" noGrp="1"/>
          </p:cNvSpPr>
          <p:nvPr/>
        </p:nvSpPr>
        <p:spPr>
          <a:xfrm xmlns:a="http://schemas.openxmlformats.org/drawingml/2006/main">
            <a:off x="762000"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Unlabeled text</a:t>
            </a:r>
          </a:p>
        </p:txBody>
      </p:sp>
      <p:sp>
        <p:nvSpPr>
          <p:cNvPr id="12" name="Step detail">
            <a:extLst xmlns:a="http://schemas.openxmlformats.org/drawingml/2006/main">
              <a:ext uri="{FF2B5EF4-FFF2-40B4-BE49-F238E27FC236}">
                <a16:creationId xmlns:a16="http://schemas.microsoft.com/office/drawing/2014/main" id="{94A6C671-2076-4CC2-9709-AD9CC775DFE0}"/>
              </a:ext>
            </a:extLst>
          </p:cNvPr>
          <p:cNvSpPr>
            <a:spLocks xmlns:a="http://schemas.openxmlformats.org/drawingml/2006/main" noGrp="1"/>
          </p:cNvSpPr>
          <p:nvPr/>
        </p:nvSpPr>
        <p:spPr>
          <a:xfrm xmlns:a="http://schemas.openxmlformats.org/drawingml/2006/main">
            <a:off x="762000"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Narrative pool</a:t>
            </a:r>
          </a:p>
        </p:txBody>
      </p:sp>
      <p:sp>
        <p:nvSpPr>
          <p:cNvPr id="13" name="Editable workflow node">
            <a:extLst xmlns:a="http://schemas.openxmlformats.org/drawingml/2006/main">
              <a:ext uri="{FF2B5EF4-FFF2-40B4-BE49-F238E27FC236}">
                <a16:creationId xmlns:a16="http://schemas.microsoft.com/office/drawing/2014/main" id="{2B350DF4-A086-417C-AD32-027B16F8D7A9}"/>
              </a:ext>
            </a:extLst>
          </p:cNvPr>
          <p:cNvSpPr>
            <a:spLocks xmlns:a="http://schemas.openxmlformats.org/drawingml/2006/main" noGrp="1"/>
          </p:cNvSpPr>
          <p:nvPr/>
        </p:nvSpPr>
        <p:spPr>
          <a:xfrm xmlns:a="http://schemas.openxmlformats.org/drawingml/2006/main">
            <a:off x="3438525"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14" name="Step number">
            <a:extLst xmlns:a="http://schemas.openxmlformats.org/drawingml/2006/main">
              <a:ext uri="{FF2B5EF4-FFF2-40B4-BE49-F238E27FC236}">
                <a16:creationId xmlns:a16="http://schemas.microsoft.com/office/drawing/2014/main" id="{A8BE7EED-0D24-44CE-BFD8-B3FADEDD72AB}"/>
              </a:ext>
            </a:extLst>
          </p:cNvPr>
          <p:cNvSpPr>
            <a:spLocks xmlns:a="http://schemas.openxmlformats.org/drawingml/2006/main" noGrp="1"/>
          </p:cNvSpPr>
          <p:nvPr/>
        </p:nvSpPr>
        <p:spPr>
          <a:xfrm xmlns:a="http://schemas.openxmlformats.org/drawingml/2006/main">
            <a:off x="3590925"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02</a:t>
            </a:r>
          </a:p>
        </p:txBody>
      </p:sp>
      <p:sp>
        <p:nvSpPr>
          <p:cNvPr id="15" name="Step label">
            <a:extLst xmlns:a="http://schemas.openxmlformats.org/drawingml/2006/main">
              <a:ext uri="{FF2B5EF4-FFF2-40B4-BE49-F238E27FC236}">
                <a16:creationId xmlns:a16="http://schemas.microsoft.com/office/drawing/2014/main" id="{05759ECA-F3C0-4ADD-AFE9-F222F0E8A066}"/>
              </a:ext>
            </a:extLst>
          </p:cNvPr>
          <p:cNvSpPr>
            <a:spLocks xmlns:a="http://schemas.openxmlformats.org/drawingml/2006/main" noGrp="1"/>
          </p:cNvSpPr>
          <p:nvPr/>
        </p:nvSpPr>
        <p:spPr>
          <a:xfrm xmlns:a="http://schemas.openxmlformats.org/drawingml/2006/main">
            <a:off x="3590925"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Discovery strata</a:t>
            </a:r>
          </a:p>
        </p:txBody>
      </p:sp>
      <p:sp>
        <p:nvSpPr>
          <p:cNvPr id="16" name="Step detail">
            <a:extLst xmlns:a="http://schemas.openxmlformats.org/drawingml/2006/main">
              <a:ext uri="{FF2B5EF4-FFF2-40B4-BE49-F238E27FC236}">
                <a16:creationId xmlns:a16="http://schemas.microsoft.com/office/drawing/2014/main" id="{23093C47-B113-4137-91F6-D0F4BF8A0CE6}"/>
              </a:ext>
            </a:extLst>
          </p:cNvPr>
          <p:cNvSpPr>
            <a:spLocks xmlns:a="http://schemas.openxmlformats.org/drawingml/2006/main" noGrp="1"/>
          </p:cNvSpPr>
          <p:nvPr/>
        </p:nvSpPr>
        <p:spPr>
          <a:xfrm xmlns:a="http://schemas.openxmlformats.org/drawingml/2006/main">
            <a:off x="3590925"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Clusters and outliers</a:t>
            </a:r>
          </a:p>
        </p:txBody>
      </p:sp>
      <p:sp>
        <p:nvSpPr>
          <p:cNvPr id="17" name="Editable workflow node">
            <a:extLst xmlns:a="http://schemas.openxmlformats.org/drawingml/2006/main">
              <a:ext uri="{FF2B5EF4-FFF2-40B4-BE49-F238E27FC236}">
                <a16:creationId xmlns:a16="http://schemas.microsoft.com/office/drawing/2014/main" id="{C8FFB97B-0C38-41C5-B48F-061D4F8349E8}"/>
              </a:ext>
            </a:extLst>
          </p:cNvPr>
          <p:cNvSpPr>
            <a:spLocks xmlns:a="http://schemas.openxmlformats.org/drawingml/2006/main" noGrp="1"/>
          </p:cNvSpPr>
          <p:nvPr/>
        </p:nvSpPr>
        <p:spPr>
          <a:xfrm xmlns:a="http://schemas.openxmlformats.org/drawingml/2006/main">
            <a:off x="6267450"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18" name="Step number">
            <a:extLst xmlns:a="http://schemas.openxmlformats.org/drawingml/2006/main">
              <a:ext uri="{FF2B5EF4-FFF2-40B4-BE49-F238E27FC236}">
                <a16:creationId xmlns:a16="http://schemas.microsoft.com/office/drawing/2014/main" id="{891D1D66-4FDB-4426-95F2-E2E1D0E63D6A}"/>
              </a:ext>
            </a:extLst>
          </p:cNvPr>
          <p:cNvSpPr>
            <a:spLocks xmlns:a="http://schemas.openxmlformats.org/drawingml/2006/main" noGrp="1"/>
          </p:cNvSpPr>
          <p:nvPr/>
        </p:nvSpPr>
        <p:spPr>
          <a:xfrm xmlns:a="http://schemas.openxmlformats.org/drawingml/2006/main">
            <a:off x="6419850"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03</a:t>
            </a:r>
          </a:p>
        </p:txBody>
      </p:sp>
      <p:sp>
        <p:nvSpPr>
          <p:cNvPr id="19" name="Step label">
            <a:extLst xmlns:a="http://schemas.openxmlformats.org/drawingml/2006/main">
              <a:ext uri="{FF2B5EF4-FFF2-40B4-BE49-F238E27FC236}">
                <a16:creationId xmlns:a16="http://schemas.microsoft.com/office/drawing/2014/main" id="{C6099AD6-9E89-4934-8A4F-71CFD68203CB}"/>
              </a:ext>
            </a:extLst>
          </p:cNvPr>
          <p:cNvSpPr>
            <a:spLocks xmlns:a="http://schemas.openxmlformats.org/drawingml/2006/main" noGrp="1"/>
          </p:cNvSpPr>
          <p:nvPr/>
        </p:nvSpPr>
        <p:spPr>
          <a:xfrm xmlns:a="http://schemas.openxmlformats.org/drawingml/2006/main">
            <a:off x="6419850"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Human review</a:t>
            </a:r>
          </a:p>
        </p:txBody>
      </p:sp>
      <p:sp>
        <p:nvSpPr>
          <p:cNvPr id="20" name="Step detail">
            <a:extLst xmlns:a="http://schemas.openxmlformats.org/drawingml/2006/main">
              <a:ext uri="{FF2B5EF4-FFF2-40B4-BE49-F238E27FC236}">
                <a16:creationId xmlns:a16="http://schemas.microsoft.com/office/drawing/2014/main" id="{BE6996CC-985E-4D86-87F9-05B30834B8F0}"/>
              </a:ext>
            </a:extLst>
          </p:cNvPr>
          <p:cNvSpPr>
            <a:spLocks xmlns:a="http://schemas.openxmlformats.org/drawingml/2006/main" noGrp="1"/>
          </p:cNvSpPr>
          <p:nvPr/>
        </p:nvSpPr>
        <p:spPr>
          <a:xfrm xmlns:a="http://schemas.openxmlformats.org/drawingml/2006/main">
            <a:off x="6419850"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Adjudicated examples</a:t>
            </a:r>
          </a:p>
        </p:txBody>
      </p:sp>
      <p:sp>
        <p:nvSpPr>
          <p:cNvPr id="21" name="Editable workflow node">
            <a:extLst xmlns:a="http://schemas.openxmlformats.org/drawingml/2006/main">
              <a:ext uri="{FF2B5EF4-FFF2-40B4-BE49-F238E27FC236}">
                <a16:creationId xmlns:a16="http://schemas.microsoft.com/office/drawing/2014/main" id="{26BAD5A9-59AF-4942-B3B6-705595180499}"/>
              </a:ext>
            </a:extLst>
          </p:cNvPr>
          <p:cNvSpPr>
            <a:spLocks xmlns:a="http://schemas.openxmlformats.org/drawingml/2006/main" noGrp="1"/>
          </p:cNvSpPr>
          <p:nvPr/>
        </p:nvSpPr>
        <p:spPr>
          <a:xfrm xmlns:a="http://schemas.openxmlformats.org/drawingml/2006/main">
            <a:off x="9096375" y="3543300"/>
            <a:ext cx="2333625" cy="1200150"/>
          </a:xfrm>
          <a:prstGeom xmlns:a="http://schemas.openxmlformats.org/drawingml/2006/main" prst="roundRect">
            <a:avLst>
              <a:gd name="adj" fmla="val 6349"/>
            </a:avLst>
          </a:prstGeom>
          <a:solidFill xmlns:a="http://schemas.openxmlformats.org/drawingml/2006/main">
            <a:srgbClr val="272D29"/>
          </a:solidFill>
          <a:ln xmlns:a="http://schemas.openxmlformats.org/drawingml/2006/main" w="9525">
            <a:solidFill>
              <a:srgbClr val="47534B"/>
            </a:solidFill>
          </a:ln>
        </p:spPr>
      </p:sp>
      <p:sp>
        <p:nvSpPr>
          <p:cNvPr id="22" name="Step number">
            <a:extLst xmlns:a="http://schemas.openxmlformats.org/drawingml/2006/main">
              <a:ext uri="{FF2B5EF4-FFF2-40B4-BE49-F238E27FC236}">
                <a16:creationId xmlns:a16="http://schemas.microsoft.com/office/drawing/2014/main" id="{76439CDE-D425-4BD9-AAC8-8BA1FDA9D8CD}"/>
              </a:ext>
            </a:extLst>
          </p:cNvPr>
          <p:cNvSpPr>
            <a:spLocks xmlns:a="http://schemas.openxmlformats.org/drawingml/2006/main" noGrp="1"/>
          </p:cNvSpPr>
          <p:nvPr/>
        </p:nvSpPr>
        <p:spPr>
          <a:xfrm xmlns:a="http://schemas.openxmlformats.org/drawingml/2006/main">
            <a:off x="9248775" y="368617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04</a:t>
            </a:r>
          </a:p>
        </p:txBody>
      </p:sp>
      <p:sp>
        <p:nvSpPr>
          <p:cNvPr id="23" name="Step label">
            <a:extLst xmlns:a="http://schemas.openxmlformats.org/drawingml/2006/main">
              <a:ext uri="{FF2B5EF4-FFF2-40B4-BE49-F238E27FC236}">
                <a16:creationId xmlns:a16="http://schemas.microsoft.com/office/drawing/2014/main" id="{2CE4D8B6-C649-44E5-B720-2752435BFED6}"/>
              </a:ext>
            </a:extLst>
          </p:cNvPr>
          <p:cNvSpPr>
            <a:spLocks xmlns:a="http://schemas.openxmlformats.org/drawingml/2006/main" noGrp="1"/>
          </p:cNvSpPr>
          <p:nvPr/>
        </p:nvSpPr>
        <p:spPr>
          <a:xfrm xmlns:a="http://schemas.openxmlformats.org/drawingml/2006/main">
            <a:off x="9248775" y="39433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Synthetic training</a:t>
            </a:r>
          </a:p>
        </p:txBody>
      </p:sp>
      <p:sp>
        <p:nvSpPr>
          <p:cNvPr id="24" name="Step detail">
            <a:extLst xmlns:a="http://schemas.openxmlformats.org/drawingml/2006/main">
              <a:ext uri="{FF2B5EF4-FFF2-40B4-BE49-F238E27FC236}">
                <a16:creationId xmlns:a16="http://schemas.microsoft.com/office/drawing/2014/main" id="{CCF05E6D-0B79-4BE8-8914-0BD1DB1FAD50}"/>
              </a:ext>
            </a:extLst>
          </p:cNvPr>
          <p:cNvSpPr>
            <a:spLocks xmlns:a="http://schemas.openxmlformats.org/drawingml/2006/main" noGrp="1"/>
          </p:cNvSpPr>
          <p:nvPr/>
        </p:nvSpPr>
        <p:spPr>
          <a:xfrm xmlns:a="http://schemas.openxmlformats.org/drawingml/2006/main">
            <a:off x="9248775" y="427672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Controlled descendants</a:t>
            </a:r>
          </a:p>
        </p:txBody>
      </p:sp>
      <p:sp>
        <p:nvSpPr>
          <p:cNvPr id="25" name="Diagram connector">
            <a:extLst xmlns:a="http://schemas.openxmlformats.org/drawingml/2006/main">
              <a:ext uri="{FF2B5EF4-FFF2-40B4-BE49-F238E27FC236}">
                <a16:creationId xmlns:a16="http://schemas.microsoft.com/office/drawing/2014/main" id="{5252AC3F-4E03-4C12-BCA5-6B1F7BFD48E7}"/>
              </a:ext>
            </a:extLst>
          </p:cNvPr>
          <p:cNvSpPr>
            <a:spLocks xmlns:a="http://schemas.openxmlformats.org/drawingml/2006/main" noGrp="1"/>
          </p:cNvSpPr>
          <p:nvPr/>
        </p:nvSpPr>
        <p:spPr>
          <a:xfrm xmlns:a="http://schemas.openxmlformats.org/drawingml/2006/main">
            <a:off x="2981325" y="4133850"/>
            <a:ext cx="4095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6" name="Diagram connector">
            <a:extLst xmlns:a="http://schemas.openxmlformats.org/drawingml/2006/main">
              <a:ext uri="{FF2B5EF4-FFF2-40B4-BE49-F238E27FC236}">
                <a16:creationId xmlns:a16="http://schemas.microsoft.com/office/drawing/2014/main" id="{3C516F07-0E15-42E4-8D33-AF8AB63ACA68}"/>
              </a:ext>
            </a:extLst>
          </p:cNvPr>
          <p:cNvSpPr>
            <a:spLocks xmlns:a="http://schemas.openxmlformats.org/drawingml/2006/main" noGrp="1"/>
          </p:cNvSpPr>
          <p:nvPr/>
        </p:nvSpPr>
        <p:spPr>
          <a:xfrm xmlns:a="http://schemas.openxmlformats.org/drawingml/2006/main">
            <a:off x="5810250" y="4133850"/>
            <a:ext cx="4095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7" name="Diagram connector">
            <a:extLst xmlns:a="http://schemas.openxmlformats.org/drawingml/2006/main">
              <a:ext uri="{FF2B5EF4-FFF2-40B4-BE49-F238E27FC236}">
                <a16:creationId xmlns:a16="http://schemas.microsoft.com/office/drawing/2014/main" id="{D8E707AA-5B1B-4299-A6DC-4BA2AB06A2B6}"/>
              </a:ext>
            </a:extLst>
          </p:cNvPr>
          <p:cNvSpPr>
            <a:spLocks xmlns:a="http://schemas.openxmlformats.org/drawingml/2006/main" noGrp="1"/>
          </p:cNvSpPr>
          <p:nvPr/>
        </p:nvSpPr>
        <p:spPr>
          <a:xfrm xmlns:a="http://schemas.openxmlformats.org/drawingml/2006/main">
            <a:off x="8639175" y="4133850"/>
            <a:ext cx="4095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8" name="Claim label">
            <a:extLst xmlns:a="http://schemas.openxmlformats.org/drawingml/2006/main">
              <a:ext uri="{FF2B5EF4-FFF2-40B4-BE49-F238E27FC236}">
                <a16:creationId xmlns:a16="http://schemas.microsoft.com/office/drawing/2014/main" id="{E5D5A631-4AAE-422D-B6AD-541396A58AFF}"/>
              </a:ext>
            </a:extLst>
          </p:cNvPr>
          <p:cNvSpPr>
            <a:spLocks xmlns:a="http://schemas.openxmlformats.org/drawingml/2006/main" noGrp="1"/>
          </p:cNvSpPr>
          <p:nvPr/>
        </p:nvSpPr>
        <p:spPr>
          <a:xfrm xmlns:a="http://schemas.openxmlformats.org/drawingml/2006/main">
            <a:off x="609600" y="52006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Testable claim</a:t>
            </a:r>
          </a:p>
        </p:txBody>
      </p:sp>
      <p:sp>
        <p:nvSpPr>
          <p:cNvPr id="29" name="Testable claim">
            <a:extLst xmlns:a="http://schemas.openxmlformats.org/drawingml/2006/main">
              <a:ext uri="{FF2B5EF4-FFF2-40B4-BE49-F238E27FC236}">
                <a16:creationId xmlns:a16="http://schemas.microsoft.com/office/drawing/2014/main" id="{D6821501-6F36-4D00-A96B-6DFF0397AAD0}"/>
              </a:ext>
            </a:extLst>
          </p:cNvPr>
          <p:cNvSpPr>
            <a:spLocks xmlns:a="http://schemas.openxmlformats.org/drawingml/2006/main" noGrp="1"/>
          </p:cNvSpPr>
          <p:nvPr/>
        </p:nvSpPr>
        <p:spPr>
          <a:xfrm xmlns:a="http://schemas.openxmlformats.org/drawingml/2006/main">
            <a:off x="2809875" y="514350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Synthetic gains should survive held-out chapters and unseen generator patterns, with the same human-gold test set.</a:t>
            </a:r>
          </a:p>
        </p:txBody>
      </p:sp>
    </p:spTree>
    <p:extLst>
      <p:ext uri="{BB962C8B-B14F-4D97-AF65-F5344CB8AC3E}">
        <p14:creationId xmlns:p14="http://schemas.microsoft.com/office/powerpoint/2010/main" val="291015090"/>
      </p:ext>
    </p:extLst>
  </p:cSld>
</p:sld>
</file>

<file path=ppt/slides/slide3.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9" name="Section label">
            <a:extLst xmlns:a="http://schemas.openxmlformats.org/drawingml/2006/main">
              <a:ext uri="{FF2B5EF4-FFF2-40B4-BE49-F238E27FC236}">
                <a16:creationId xmlns:a16="http://schemas.microsoft.com/office/drawing/2014/main" id="{FC948AEE-2DEF-4F29-A087-80A8D171C924}"/>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TASK DEFINITION</a:t>
            </a:r>
          </a:p>
        </p:txBody>
      </p:sp>
      <p:sp>
        <p:nvSpPr>
          <p:cNvPr id="2" name="Slide title">
            <a:extLst xmlns:a="http://schemas.openxmlformats.org/drawingml/2006/main">
              <a:ext uri="{FF2B5EF4-FFF2-40B4-BE49-F238E27FC236}">
                <a16:creationId xmlns:a16="http://schemas.microsoft.com/office/drawing/2014/main" id="{BEB6FB4C-FA4A-4F60-B9D3-B75F11CC04D3}"/>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What the model must recover</a:t>
            </a:r>
          </a:p>
        </p:txBody>
      </p:sp>
      <p:sp>
        <p:nvSpPr>
          <p:cNvPr id="3" name="Section rule">
            <a:extLst xmlns:a="http://schemas.openxmlformats.org/drawingml/2006/main">
              <a:ext uri="{FF2B5EF4-FFF2-40B4-BE49-F238E27FC236}">
                <a16:creationId xmlns:a16="http://schemas.microsoft.com/office/drawing/2014/main" id="{244044E2-8032-4541-A444-01397511DEA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EEA9C5B0-5F2C-4467-A5B4-D4B1A82C4A6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D7485313-93F1-4C07-B2B3-7BCAB6C79231}"/>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5C983D07-F4E1-414B-B4CE-600BF3C1B703}"/>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03</a:t>
            </a:r>
          </a:p>
        </p:txBody>
      </p:sp>
      <p:sp>
        <p:nvSpPr>
          <p:cNvPr id="7" name="Text">
            <a:extLst xmlns:a="http://schemas.openxmlformats.org/drawingml/2006/main">
              <a:ext uri="{FF2B5EF4-FFF2-40B4-BE49-F238E27FC236}">
                <a16:creationId xmlns:a16="http://schemas.microsoft.com/office/drawing/2014/main" id="{D0716006-4051-497D-B15E-B03226889D1C}"/>
              </a:ext>
            </a:extLst>
          </p:cNvPr>
          <p:cNvSpPr>
            <a:spLocks xmlns:a="http://schemas.openxmlformats.org/drawingml/2006/main" noGrp="1"/>
          </p:cNvSpPr>
          <p:nvPr/>
        </p:nvSpPr>
        <p:spPr>
          <a:xfrm xmlns:a="http://schemas.openxmlformats.org/drawingml/2006/main">
            <a:off x="609600" y="15716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Narrative order and story time can diverge. TYM represents both the text sequence and the temporal structure inferred from it.</a:t>
            </a:r>
          </a:p>
        </p:txBody>
      </p:sp>
      <p:sp>
        <p:nvSpPr>
          <p:cNvPr id="8" name="Text">
            <a:extLst xmlns:a="http://schemas.openxmlformats.org/drawingml/2006/main">
              <a:ext uri="{FF2B5EF4-FFF2-40B4-BE49-F238E27FC236}">
                <a16:creationId xmlns:a16="http://schemas.microsoft.com/office/drawing/2014/main" id="{F216BCF5-ED12-4D30-88A3-3C3909600B4A}"/>
              </a:ext>
            </a:extLst>
          </p:cNvPr>
          <p:cNvSpPr>
            <a:spLocks xmlns:a="http://schemas.openxmlformats.org/drawingml/2006/main" noGrp="1"/>
          </p:cNvSpPr>
          <p:nvPr/>
        </p:nvSpPr>
        <p:spPr>
          <a:xfrm xmlns:a="http://schemas.openxmlformats.org/drawingml/2006/main">
            <a:off x="609600" y="25431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EVENTS IN TEXT</a:t>
            </a:r>
          </a:p>
        </p:txBody>
      </p:sp>
      <p:sp>
        <p:nvSpPr>
          <p:cNvPr id="9" name="Text">
            <a:extLst xmlns:a="http://schemas.openxmlformats.org/drawingml/2006/main">
              <a:ext uri="{FF2B5EF4-FFF2-40B4-BE49-F238E27FC236}">
                <a16:creationId xmlns:a16="http://schemas.microsoft.com/office/drawing/2014/main" id="{B371BA95-ECD2-42E9-A99D-39CA6EF33577}"/>
              </a:ext>
            </a:extLst>
          </p:cNvPr>
          <p:cNvSpPr>
            <a:spLocks xmlns:a="http://schemas.openxmlformats.org/drawingml/2006/main" noGrp="1"/>
          </p:cNvSpPr>
          <p:nvPr/>
        </p:nvSpPr>
        <p:spPr>
          <a:xfrm xmlns:a="http://schemas.openxmlformats.org/drawingml/2006/main">
            <a:off x="609600" y="2943225"/>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EV1  “grew up”</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EV2  “remembered”</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EV3  “found”</a:t>
            </a:r>
          </a:p>
        </p:txBody>
      </p:sp>
      <p:sp>
        <p:nvSpPr>
          <p:cNvPr id="10" name="Diagram shape">
            <a:extLst xmlns:a="http://schemas.openxmlformats.org/drawingml/2006/main">
              <a:ext uri="{FF2B5EF4-FFF2-40B4-BE49-F238E27FC236}">
                <a16:creationId xmlns:a16="http://schemas.microsoft.com/office/drawing/2014/main" id="{DE3C8500-E925-453D-8667-D8BA6C8E8EEA}"/>
              </a:ext>
            </a:extLst>
          </p:cNvPr>
          <p:cNvSpPr>
            <a:spLocks xmlns:a="http://schemas.openxmlformats.org/drawingml/2006/main" noGrp="1"/>
          </p:cNvSpPr>
          <p:nvPr/>
        </p:nvSpPr>
        <p:spPr>
          <a:xfrm xmlns:a="http://schemas.openxmlformats.org/drawingml/2006/main">
            <a:off x="4038600" y="2505075"/>
            <a:ext cx="9525" cy="1857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510328D-E216-439C-B47C-9CE00590F3EE}"/>
              </a:ext>
            </a:extLst>
          </p:cNvPr>
          <p:cNvSpPr>
            <a:spLocks xmlns:a="http://schemas.openxmlformats.org/drawingml/2006/main" noGrp="1"/>
          </p:cNvSpPr>
          <p:nvPr/>
        </p:nvSpPr>
        <p:spPr>
          <a:xfrm xmlns:a="http://schemas.openxmlformats.org/drawingml/2006/main">
            <a:off x="4267200" y="25431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TIME SEGMENTS</a:t>
            </a:r>
          </a:p>
        </p:txBody>
      </p:sp>
      <p:sp>
        <p:nvSpPr>
          <p:cNvPr id="12" name="Text">
            <a:extLst xmlns:a="http://schemas.openxmlformats.org/drawingml/2006/main">
              <a:ext uri="{FF2B5EF4-FFF2-40B4-BE49-F238E27FC236}">
                <a16:creationId xmlns:a16="http://schemas.microsoft.com/office/drawing/2014/main" id="{C5B34A25-DD3E-42D1-85B5-9A8C684ABEC2}"/>
              </a:ext>
            </a:extLst>
          </p:cNvPr>
          <p:cNvSpPr>
            <a:spLocks xmlns:a="http://schemas.openxmlformats.org/drawingml/2006/main" noGrp="1"/>
          </p:cNvSpPr>
          <p:nvPr/>
        </p:nvSpPr>
        <p:spPr>
          <a:xfrm xmlns:a="http://schemas.openxmlformats.org/drawingml/2006/main">
            <a:off x="4267200" y="2943225"/>
            <a:ext cx="323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TS labels:</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NAR  /  REM  /  SUP</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GEN  /  FIC</a:t>
            </a:r>
          </a:p>
        </p:txBody>
      </p:sp>
      <p:sp>
        <p:nvSpPr>
          <p:cNvPr id="13" name="Diagram shape">
            <a:extLst xmlns:a="http://schemas.openxmlformats.org/drawingml/2006/main">
              <a:ext uri="{FF2B5EF4-FFF2-40B4-BE49-F238E27FC236}">
                <a16:creationId xmlns:a16="http://schemas.microsoft.com/office/drawing/2014/main" id="{7E790237-59F1-4825-9B6C-8506723412B7}"/>
              </a:ext>
            </a:extLst>
          </p:cNvPr>
          <p:cNvSpPr>
            <a:spLocks xmlns:a="http://schemas.openxmlformats.org/drawingml/2006/main" noGrp="1"/>
          </p:cNvSpPr>
          <p:nvPr/>
        </p:nvSpPr>
        <p:spPr>
          <a:xfrm xmlns:a="http://schemas.openxmlformats.org/drawingml/2006/main">
            <a:off x="7696200" y="2505075"/>
            <a:ext cx="9525" cy="1857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7AB6C31-FFC6-4B91-A09A-701E13E27B1E}"/>
              </a:ext>
            </a:extLst>
          </p:cNvPr>
          <p:cNvSpPr>
            <a:spLocks xmlns:a="http://schemas.openxmlformats.org/drawingml/2006/main" noGrp="1"/>
          </p:cNvSpPr>
          <p:nvPr/>
        </p:nvSpPr>
        <p:spPr>
          <a:xfrm xmlns:a="http://schemas.openxmlformats.org/drawingml/2006/main">
            <a:off x="7924800" y="2543175"/>
            <a:ext cx="365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TEMPORAL LINKS</a:t>
            </a:r>
          </a:p>
        </p:txBody>
      </p:sp>
      <p:sp>
        <p:nvSpPr>
          <p:cNvPr id="15" name="Text">
            <a:extLst xmlns:a="http://schemas.openxmlformats.org/drawingml/2006/main">
              <a:ext uri="{FF2B5EF4-FFF2-40B4-BE49-F238E27FC236}">
                <a16:creationId xmlns:a16="http://schemas.microsoft.com/office/drawing/2014/main" id="{C5D4BA91-C295-49D6-A15C-4DBD06D8FE2A}"/>
              </a:ext>
            </a:extLst>
          </p:cNvPr>
          <p:cNvSpPr>
            <a:spLocks xmlns:a="http://schemas.openxmlformats.org/drawingml/2006/main" noGrp="1"/>
          </p:cNvSpPr>
          <p:nvPr/>
        </p:nvSpPr>
        <p:spPr>
          <a:xfrm xmlns:a="http://schemas.openxmlformats.org/drawingml/2006/main">
            <a:off x="7924800" y="2943225"/>
            <a:ext cx="3657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EV2 BEFORE EV3</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TS2 BEFORE TS3</a:t>
            </a:r>
          </a:p>
          <a:p xmlns:a="http://schemas.openxmlformats.org/drawingml/2006/main">
            <a:pPr algn="l">
              <a:defRPr sz="1950" b="0">
                <a:solidFill>
                  <a:srgbClr val="F3F6F4"/>
                </a:solidFill>
                <a:latin typeface="Arial"/>
                <a:ea typeface="Arial"/>
                <a:cs typeface="Arial"/>
              </a:defRPr>
            </a:pPr>
            <a:r>
              <a:rPr sz="1950" b="0">
                <a:solidFill>
                  <a:srgbClr val="F3F6F4"/>
                </a:solidFill>
                <a:latin typeface="Arial"/>
                <a:ea typeface="Arial"/>
                <a:cs typeface="Arial"/>
              </a:rPr>
              <a:t>TIMEX3 anchors where explicit</a:t>
            </a:r>
          </a:p>
        </p:txBody>
      </p:sp>
      <p:sp>
        <p:nvSpPr>
          <p:cNvPr id="16" name="Section rule">
            <a:extLst xmlns:a="http://schemas.openxmlformats.org/drawingml/2006/main">
              <a:ext uri="{FF2B5EF4-FFF2-40B4-BE49-F238E27FC236}">
                <a16:creationId xmlns:a16="http://schemas.microsoft.com/office/drawing/2014/main" id="{BC15FA86-DEEE-4EEF-A113-6FFBFE473763}"/>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D52884CC-240D-43B1-8008-1D90FBF026EC}"/>
              </a:ext>
            </a:extLst>
          </p:cNvPr>
          <p:cNvSpPr>
            <a:spLocks xmlns:a="http://schemas.openxmlformats.org/drawingml/2006/main" noGrp="1"/>
          </p:cNvSpPr>
          <p:nvPr/>
        </p:nvSpPr>
        <p:spPr>
          <a:xfrm xmlns:a="http://schemas.openxmlformats.org/drawingml/2006/main">
            <a:off x="609600" y="49530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Output layers</a:t>
            </a:r>
          </a:p>
        </p:txBody>
      </p:sp>
      <p:sp>
        <p:nvSpPr>
          <p:cNvPr id="18" name="Text">
            <a:extLst xmlns:a="http://schemas.openxmlformats.org/drawingml/2006/main">
              <a:ext uri="{FF2B5EF4-FFF2-40B4-BE49-F238E27FC236}">
                <a16:creationId xmlns:a16="http://schemas.microsoft.com/office/drawing/2014/main" id="{965D7638-ECB9-4AC4-BED0-E99D30437E46}"/>
              </a:ext>
            </a:extLst>
          </p:cNvPr>
          <p:cNvSpPr>
            <a:spLocks xmlns:a="http://schemas.openxmlformats.org/drawingml/2006/main" noGrp="1"/>
          </p:cNvSpPr>
          <p:nvPr/>
        </p:nvSpPr>
        <p:spPr>
          <a:xfrm xmlns:a="http://schemas.openxmlformats.org/drawingml/2006/main">
            <a:off x="2571750" y="4895850"/>
            <a:ext cx="833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The API emits TYM tracks, segments, endpoints, and relations alongside TimeML-style EVENT, TIMEX3, SIGNAL, MAKEINSTANCE, and TLINK annotations.</a:t>
            </a:r>
          </a:p>
        </p:txBody>
      </p:sp>
    </p:spTree>
    <p:extLst>
      <p:ext uri="{BB962C8B-B14F-4D97-AF65-F5344CB8AC3E}">
        <p14:creationId xmlns:p14="http://schemas.microsoft.com/office/powerpoint/2010/main" val="1845899499"/>
      </p:ext>
    </p:extLst>
  </p:cSld>
</p:sld>
</file>

<file path=ppt/slides/slide4.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8" name="Section label">
            <a:extLst xmlns:a="http://schemas.openxmlformats.org/drawingml/2006/main">
              <a:ext uri="{FF2B5EF4-FFF2-40B4-BE49-F238E27FC236}">
                <a16:creationId xmlns:a16="http://schemas.microsoft.com/office/drawing/2014/main" id="{DEA4D922-D399-4EB7-B46E-926B981F632A}"/>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EVIDENCE</a:t>
            </a:r>
          </a:p>
        </p:txBody>
      </p:sp>
      <p:sp>
        <p:nvSpPr>
          <p:cNvPr id="2" name="Slide title">
            <a:extLst xmlns:a="http://schemas.openxmlformats.org/drawingml/2006/main">
              <a:ext uri="{FF2B5EF4-FFF2-40B4-BE49-F238E27FC236}">
                <a16:creationId xmlns:a16="http://schemas.microsoft.com/office/drawing/2014/main" id="{5D94AA9F-0599-4D31-938C-41CD924830ED}"/>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Paper baseline and measurement caveat</a:t>
            </a:r>
          </a:p>
        </p:txBody>
      </p:sp>
      <p:sp>
        <p:nvSpPr>
          <p:cNvPr id="3" name="Section rule">
            <a:extLst xmlns:a="http://schemas.openxmlformats.org/drawingml/2006/main">
              <a:ext uri="{FF2B5EF4-FFF2-40B4-BE49-F238E27FC236}">
                <a16:creationId xmlns:a16="http://schemas.microsoft.com/office/drawing/2014/main" id="{EC2E9C6C-46BB-4B82-8C7C-B77697D1FE27}"/>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EA925CE0-AA01-4497-BA81-64D45BD127B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6BF61687-F417-49C3-B554-B6372CEF4D8D}"/>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2D692D22-FAD9-470E-A758-6B1E8044DBEC}"/>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04</a:t>
            </a:r>
          </a:p>
        </p:txBody>
      </p:sp>
      <p:sp>
        <p:nvSpPr>
          <p:cNvPr id="7" name="Text">
            <a:extLst xmlns:a="http://schemas.openxmlformats.org/drawingml/2006/main">
              <a:ext uri="{FF2B5EF4-FFF2-40B4-BE49-F238E27FC236}">
                <a16:creationId xmlns:a16="http://schemas.microsoft.com/office/drawing/2014/main" id="{5BB8C306-461E-4BBA-B4F9-1AD836BFF5C7}"/>
              </a:ext>
            </a:extLst>
          </p:cNvPr>
          <p:cNvSpPr>
            <a:spLocks xmlns:a="http://schemas.openxmlformats.org/drawingml/2006/main" noGrp="1"/>
          </p:cNvSpPr>
          <p:nvPr/>
        </p:nvSpPr>
        <p:spPr>
          <a:xfrm xmlns:a="http://schemas.openxmlformats.org/drawingml/2006/main">
            <a:off x="609600" y="1819275"/>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a:solidFill>
                  <a:srgbClr val="62DDA8"/>
                </a:solidFill>
                <a:latin typeface="Arial"/>
                <a:ea typeface="Arial"/>
                <a:cs typeface="Arial"/>
              </a:defRPr>
            </a:pPr>
            <a:r>
              <a:rPr sz="5100" b="1">
                <a:solidFill>
                  <a:srgbClr val="62DDA8"/>
                </a:solidFill>
                <a:latin typeface="Arial"/>
                <a:ea typeface="Arial"/>
                <a:cs typeface="Arial"/>
              </a:rPr>
              <a:t>58.9%</a:t>
            </a:r>
          </a:p>
        </p:txBody>
      </p:sp>
      <p:sp>
        <p:nvSpPr>
          <p:cNvPr id="8" name="Text">
            <a:extLst xmlns:a="http://schemas.openxmlformats.org/drawingml/2006/main">
              <a:ext uri="{FF2B5EF4-FFF2-40B4-BE49-F238E27FC236}">
                <a16:creationId xmlns:a16="http://schemas.microsoft.com/office/drawing/2014/main" id="{CF5E67A0-72EF-4EEB-B662-6CBB4AE257A1}"/>
              </a:ext>
            </a:extLst>
          </p:cNvPr>
          <p:cNvSpPr>
            <a:spLocks xmlns:a="http://schemas.openxmlformats.org/drawingml/2006/main" noGrp="1"/>
          </p:cNvSpPr>
          <p:nvPr/>
        </p:nvSpPr>
        <p:spPr>
          <a:xfrm xmlns:a="http://schemas.openxmlformats.org/drawingml/2006/main">
            <a:off x="609600" y="2705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3F6F4"/>
                </a:solidFill>
                <a:latin typeface="Arial"/>
                <a:ea typeface="Arial"/>
                <a:cs typeface="Arial"/>
              </a:defRPr>
            </a:pPr>
            <a:r>
              <a:rPr sz="1800" b="0">
                <a:solidFill>
                  <a:srgbClr val="F3F6F4"/>
                </a:solidFill>
                <a:latin typeface="Arial"/>
                <a:ea typeface="Arial"/>
                <a:cs typeface="Arial"/>
              </a:rPr>
              <a:t>accuracy</a:t>
            </a:r>
          </a:p>
        </p:txBody>
      </p:sp>
      <p:sp>
        <p:nvSpPr>
          <p:cNvPr id="9" name="Text">
            <a:extLst xmlns:a="http://schemas.openxmlformats.org/drawingml/2006/main">
              <a:ext uri="{FF2B5EF4-FFF2-40B4-BE49-F238E27FC236}">
                <a16:creationId xmlns:a16="http://schemas.microsoft.com/office/drawing/2014/main" id="{A1107B26-4663-4D6D-AB8F-A7B82217D766}"/>
              </a:ext>
            </a:extLst>
          </p:cNvPr>
          <p:cNvSpPr>
            <a:spLocks xmlns:a="http://schemas.openxmlformats.org/drawingml/2006/main" noGrp="1"/>
          </p:cNvSpPr>
          <p:nvPr/>
        </p:nvSpPr>
        <p:spPr>
          <a:xfrm xmlns:a="http://schemas.openxmlformats.org/drawingml/2006/main">
            <a:off x="4314825" y="1819275"/>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a:solidFill>
                  <a:srgbClr val="62DDA8"/>
                </a:solidFill>
                <a:latin typeface="Arial"/>
                <a:ea typeface="Arial"/>
                <a:cs typeface="Arial"/>
              </a:defRPr>
            </a:pPr>
            <a:r>
              <a:rPr sz="5100" b="1">
                <a:solidFill>
                  <a:srgbClr val="62DDA8"/>
                </a:solidFill>
                <a:latin typeface="Arial"/>
                <a:ea typeface="Arial"/>
                <a:cs typeface="Arial"/>
              </a:rPr>
              <a:t>58.7%</a:t>
            </a:r>
          </a:p>
        </p:txBody>
      </p:sp>
      <p:sp>
        <p:nvSpPr>
          <p:cNvPr id="10" name="Text">
            <a:extLst xmlns:a="http://schemas.openxmlformats.org/drawingml/2006/main">
              <a:ext uri="{FF2B5EF4-FFF2-40B4-BE49-F238E27FC236}">
                <a16:creationId xmlns:a16="http://schemas.microsoft.com/office/drawing/2014/main" id="{BBE2599F-2DB9-4A68-AE8E-18B69D524AC5}"/>
              </a:ext>
            </a:extLst>
          </p:cNvPr>
          <p:cNvSpPr>
            <a:spLocks xmlns:a="http://schemas.openxmlformats.org/drawingml/2006/main" noGrp="1"/>
          </p:cNvSpPr>
          <p:nvPr/>
        </p:nvSpPr>
        <p:spPr>
          <a:xfrm xmlns:a="http://schemas.openxmlformats.org/drawingml/2006/main">
            <a:off x="4314825" y="2705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3F6F4"/>
                </a:solidFill>
                <a:latin typeface="Arial"/>
                <a:ea typeface="Arial"/>
                <a:cs typeface="Arial"/>
              </a:defRPr>
            </a:pPr>
            <a:r>
              <a:rPr sz="1800" b="0">
                <a:solidFill>
                  <a:srgbClr val="F3F6F4"/>
                </a:solidFill>
                <a:latin typeface="Arial"/>
                <a:ea typeface="Arial"/>
                <a:cs typeface="Arial"/>
              </a:rPr>
              <a:t>macro F1</a:t>
            </a:r>
          </a:p>
        </p:txBody>
      </p:sp>
      <p:sp>
        <p:nvSpPr>
          <p:cNvPr id="11" name="Text">
            <a:extLst xmlns:a="http://schemas.openxmlformats.org/drawingml/2006/main">
              <a:ext uri="{FF2B5EF4-FFF2-40B4-BE49-F238E27FC236}">
                <a16:creationId xmlns:a16="http://schemas.microsoft.com/office/drawing/2014/main" id="{35C55729-165A-4468-8C2D-D3812595D4B7}"/>
              </a:ext>
            </a:extLst>
          </p:cNvPr>
          <p:cNvSpPr>
            <a:spLocks xmlns:a="http://schemas.openxmlformats.org/drawingml/2006/main" noGrp="1"/>
          </p:cNvSpPr>
          <p:nvPr/>
        </p:nvSpPr>
        <p:spPr>
          <a:xfrm xmlns:a="http://schemas.openxmlformats.org/drawingml/2006/main">
            <a:off x="8020050" y="1819275"/>
            <a:ext cx="314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a:solidFill>
                  <a:srgbClr val="62DDA8"/>
                </a:solidFill>
                <a:latin typeface="Arial"/>
                <a:ea typeface="Arial"/>
                <a:cs typeface="Arial"/>
              </a:defRPr>
            </a:pPr>
            <a:r>
              <a:rPr sz="5100" b="1">
                <a:solidFill>
                  <a:srgbClr val="62DDA8"/>
                </a:solidFill>
                <a:latin typeface="Arial"/>
                <a:ea typeface="Arial"/>
                <a:cs typeface="Arial"/>
              </a:rPr>
              <a:t>93</a:t>
            </a:r>
          </a:p>
        </p:txBody>
      </p:sp>
      <p:sp>
        <p:nvSpPr>
          <p:cNvPr id="12" name="Text">
            <a:extLst xmlns:a="http://schemas.openxmlformats.org/drawingml/2006/main">
              <a:ext uri="{FF2B5EF4-FFF2-40B4-BE49-F238E27FC236}">
                <a16:creationId xmlns:a16="http://schemas.microsoft.com/office/drawing/2014/main" id="{39DCA267-312F-4D6D-8F7D-FACA1A368632}"/>
              </a:ext>
            </a:extLst>
          </p:cNvPr>
          <p:cNvSpPr>
            <a:spLocks xmlns:a="http://schemas.openxmlformats.org/drawingml/2006/main" noGrp="1"/>
          </p:cNvSpPr>
          <p:nvPr/>
        </p:nvSpPr>
        <p:spPr>
          <a:xfrm xmlns:a="http://schemas.openxmlformats.org/drawingml/2006/main">
            <a:off x="8020050" y="2705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3F6F4"/>
                </a:solidFill>
                <a:latin typeface="Arial"/>
                <a:ea typeface="Arial"/>
                <a:cs typeface="Arial"/>
              </a:defRPr>
            </a:pPr>
            <a:r>
              <a:rPr sz="1800" b="0">
                <a:solidFill>
                  <a:srgbClr val="F3F6F4"/>
                </a:solidFill>
                <a:latin typeface="Arial"/>
                <a:ea typeface="Arial"/>
                <a:cs typeface="Arial"/>
              </a:rPr>
              <a:t>time segments produced</a:t>
            </a:r>
          </a:p>
        </p:txBody>
      </p:sp>
      <p:sp>
        <p:nvSpPr>
          <p:cNvPr id="13" name="Text">
            <a:extLst xmlns:a="http://schemas.openxmlformats.org/drawingml/2006/main">
              <a:ext uri="{FF2B5EF4-FFF2-40B4-BE49-F238E27FC236}">
                <a16:creationId xmlns:a16="http://schemas.microsoft.com/office/drawing/2014/main" id="{B0A24E64-4A2F-4981-ABFB-BF63435B7ED1}"/>
              </a:ext>
            </a:extLst>
          </p:cNvPr>
          <p:cNvSpPr>
            <a:spLocks xmlns:a="http://schemas.openxmlformats.org/drawingml/2006/main" noGrp="1"/>
          </p:cNvSpPr>
          <p:nvPr/>
        </p:nvSpPr>
        <p:spPr>
          <a:xfrm xmlns:a="http://schemas.openxmlformats.org/drawingml/2006/main">
            <a:off x="609600" y="37147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Reference evaluation: 2,000 event instances</a:t>
            </a:r>
          </a:p>
        </p:txBody>
      </p:sp>
      <p:sp>
        <p:nvSpPr>
          <p:cNvPr id="14" name="Section rule">
            <a:extLst xmlns:a="http://schemas.openxmlformats.org/drawingml/2006/main">
              <a:ext uri="{FF2B5EF4-FFF2-40B4-BE49-F238E27FC236}">
                <a16:creationId xmlns:a16="http://schemas.microsoft.com/office/drawing/2014/main" id="{93E935A7-E9D9-4194-8EF7-CC5DBB3BBA25}"/>
              </a:ext>
            </a:extLst>
          </p:cNvPr>
          <p:cNvSpPr>
            <a:spLocks xmlns:a="http://schemas.openxmlformats.org/drawingml/2006/main" noGrp="1"/>
          </p:cNvSpPr>
          <p:nvPr/>
        </p:nvSpPr>
        <p:spPr>
          <a:xfrm xmlns:a="http://schemas.openxmlformats.org/drawingml/2006/main">
            <a:off x="609600" y="42862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BAD1097-0415-4C3F-9E69-17B7AB32D7D9}"/>
              </a:ext>
            </a:extLst>
          </p:cNvPr>
          <p:cNvSpPr>
            <a:spLocks xmlns:a="http://schemas.openxmlformats.org/drawingml/2006/main" noGrp="1"/>
          </p:cNvSpPr>
          <p:nvPr/>
        </p:nvSpPr>
        <p:spPr>
          <a:xfrm xmlns:a="http://schemas.openxmlformats.org/drawingml/2006/main">
            <a:off x="609600" y="4591050"/>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Interpretation</a:t>
            </a:r>
          </a:p>
        </p:txBody>
      </p:sp>
      <p:sp>
        <p:nvSpPr>
          <p:cNvPr id="16" name="Text">
            <a:extLst xmlns:a="http://schemas.openxmlformats.org/drawingml/2006/main">
              <a:ext uri="{FF2B5EF4-FFF2-40B4-BE49-F238E27FC236}">
                <a16:creationId xmlns:a16="http://schemas.microsoft.com/office/drawing/2014/main" id="{7CB0778C-4830-4DD2-85D6-2B939FF2E8FE}"/>
              </a:ext>
            </a:extLst>
          </p:cNvPr>
          <p:cNvSpPr>
            <a:spLocks xmlns:a="http://schemas.openxmlformats.org/drawingml/2006/main" noGrp="1"/>
          </p:cNvSpPr>
          <p:nvPr/>
        </p:nvSpPr>
        <p:spPr>
          <a:xfrm xmlns:a="http://schemas.openxmlformats.org/drawingml/2006/main">
            <a:off x="2571750" y="4514850"/>
            <a:ext cx="8458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The paper reports these results. The repository has no measured performance yet. The PDF reports corpus-level totals separately; their relation to the 2,000-event evaluation remains unclear in the reported sections.</a:t>
            </a:r>
          </a:p>
        </p:txBody>
      </p:sp>
      <p:sp>
        <p:nvSpPr>
          <p:cNvPr id="17" name="Text">
            <a:extLst xmlns:a="http://schemas.openxmlformats.org/drawingml/2006/main">
              <a:ext uri="{FF2B5EF4-FFF2-40B4-BE49-F238E27FC236}">
                <a16:creationId xmlns:a16="http://schemas.microsoft.com/office/drawing/2014/main" id="{5A900E29-2B27-4D74-AC0F-A3077FE1E576}"/>
              </a:ext>
            </a:extLst>
          </p:cNvPr>
          <p:cNvSpPr>
            <a:spLocks xmlns:a="http://schemas.openxmlformats.org/drawingml/2006/main" noGrp="1"/>
          </p:cNvSpPr>
          <p:nvPr/>
        </p:nvSpPr>
        <p:spPr>
          <a:xfrm xmlns:a="http://schemas.openxmlformats.org/drawingml/2006/main">
            <a:off x="609600" y="5753100"/>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Keep the paper score separate from the API baseline.</a:t>
            </a:r>
          </a:p>
        </p:txBody>
      </p:sp>
    </p:spTree>
    <p:extLst>
      <p:ext uri="{BB962C8B-B14F-4D97-AF65-F5344CB8AC3E}">
        <p14:creationId xmlns:p14="http://schemas.microsoft.com/office/powerpoint/2010/main" val="1887858974"/>
      </p:ext>
    </p:extLst>
  </p:cSld>
</p:sld>
</file>

<file path=ppt/slides/slide5.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8" name="Section label">
            <a:extLst xmlns:a="http://schemas.openxmlformats.org/drawingml/2006/main">
              <a:ext uri="{FF2B5EF4-FFF2-40B4-BE49-F238E27FC236}">
                <a16:creationId xmlns:a16="http://schemas.microsoft.com/office/drawing/2014/main" id="{5DAF3729-4ADC-4F1D-8FE5-C6740C3A51DB}"/>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IMPLEMENTATION BASELINE</a:t>
            </a:r>
          </a:p>
        </p:txBody>
      </p:sp>
      <p:sp>
        <p:nvSpPr>
          <p:cNvPr id="2" name="Slide title">
            <a:extLst xmlns:a="http://schemas.openxmlformats.org/drawingml/2006/main">
              <a:ext uri="{FF2B5EF4-FFF2-40B4-BE49-F238E27FC236}">
                <a16:creationId xmlns:a16="http://schemas.microsoft.com/office/drawing/2014/main" id="{6D86C8B0-48D6-401C-8D71-3A0002D68C3F}"/>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What the repository can currently prove</a:t>
            </a:r>
          </a:p>
        </p:txBody>
      </p:sp>
      <p:sp>
        <p:nvSpPr>
          <p:cNvPr id="3" name="Section rule">
            <a:extLst xmlns:a="http://schemas.openxmlformats.org/drawingml/2006/main">
              <a:ext uri="{FF2B5EF4-FFF2-40B4-BE49-F238E27FC236}">
                <a16:creationId xmlns:a16="http://schemas.microsoft.com/office/drawing/2014/main" id="{B11A7D51-730D-4F32-90D5-0B259BF2D51F}"/>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671EECAB-2DE6-4583-AC07-E024E0117EE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9283C640-4976-4A0E-B388-E5D46A7AB72D}"/>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7F4D2722-C78C-41C7-95B0-461DB77E8B8A}"/>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05</a:t>
            </a:r>
          </a:p>
        </p:txBody>
      </p:sp>
      <p:sp>
        <p:nvSpPr>
          <p:cNvPr id="7" name="Text">
            <a:extLst xmlns:a="http://schemas.openxmlformats.org/drawingml/2006/main">
              <a:ext uri="{FF2B5EF4-FFF2-40B4-BE49-F238E27FC236}">
                <a16:creationId xmlns:a16="http://schemas.microsoft.com/office/drawing/2014/main" id="{92448255-FCDF-4571-BB52-FCCFA1451DDC}"/>
              </a:ext>
            </a:extLst>
          </p:cNvPr>
          <p:cNvSpPr>
            <a:spLocks xmlns:a="http://schemas.openxmlformats.org/drawingml/2006/main" noGrp="1"/>
          </p:cNvSpPr>
          <p:nvPr/>
        </p:nvSpPr>
        <p:spPr>
          <a:xfrm xmlns:a="http://schemas.openxmlformats.org/drawingml/2006/main">
            <a:off x="609600" y="1743075"/>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5250" b="1">
                <a:solidFill>
                  <a:srgbClr val="62DDA8"/>
                </a:solidFill>
                <a:latin typeface="Arial"/>
                <a:ea typeface="Arial"/>
                <a:cs typeface="Arial"/>
              </a:defRPr>
            </a:pPr>
            <a:r>
              <a:rPr sz="5250" b="1">
                <a:solidFill>
                  <a:srgbClr val="62DDA8"/>
                </a:solidFill>
                <a:latin typeface="Arial"/>
                <a:ea typeface="Arial"/>
                <a:cs typeface="Arial"/>
              </a:rPr>
              <a:t>67</a:t>
            </a:r>
          </a:p>
        </p:txBody>
      </p:sp>
      <p:sp>
        <p:nvSpPr>
          <p:cNvPr id="8" name="Text">
            <a:extLst xmlns:a="http://schemas.openxmlformats.org/drawingml/2006/main">
              <a:ext uri="{FF2B5EF4-FFF2-40B4-BE49-F238E27FC236}">
                <a16:creationId xmlns:a16="http://schemas.microsoft.com/office/drawing/2014/main" id="{05A89006-BE09-4E7F-BE59-C0DF906B3AEF}"/>
              </a:ext>
            </a:extLst>
          </p:cNvPr>
          <p:cNvSpPr>
            <a:spLocks xmlns:a="http://schemas.openxmlformats.org/drawingml/2006/main" noGrp="1"/>
          </p:cNvSpPr>
          <p:nvPr/>
        </p:nvSpPr>
        <p:spPr>
          <a:xfrm xmlns:a="http://schemas.openxmlformats.org/drawingml/2006/main">
            <a:off x="628650" y="25717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synthetic demo rows checked in</a:t>
            </a:r>
          </a:p>
        </p:txBody>
      </p:sp>
      <p:sp>
        <p:nvSpPr>
          <p:cNvPr id="9" name="Text">
            <a:extLst xmlns:a="http://schemas.openxmlformats.org/drawingml/2006/main">
              <a:ext uri="{FF2B5EF4-FFF2-40B4-BE49-F238E27FC236}">
                <a16:creationId xmlns:a16="http://schemas.microsoft.com/office/drawing/2014/main" id="{F94AD784-F509-4B84-81A7-B99426BE6F54}"/>
              </a:ext>
            </a:extLst>
          </p:cNvPr>
          <p:cNvSpPr>
            <a:spLocks xmlns:a="http://schemas.openxmlformats.org/drawingml/2006/main" noGrp="1"/>
          </p:cNvSpPr>
          <p:nvPr/>
        </p:nvSpPr>
        <p:spPr>
          <a:xfrm xmlns:a="http://schemas.openxmlformats.org/drawingml/2006/main">
            <a:off x="628650" y="2962275"/>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43 segment-type rows   /   24 event-temporal rows</a:t>
            </a:r>
          </a:p>
        </p:txBody>
      </p:sp>
      <p:sp>
        <p:nvSpPr>
          <p:cNvPr id="10" name="Section rule">
            <a:extLst xmlns:a="http://schemas.openxmlformats.org/drawingml/2006/main">
              <a:ext uri="{FF2B5EF4-FFF2-40B4-BE49-F238E27FC236}">
                <a16:creationId xmlns:a16="http://schemas.microsoft.com/office/drawing/2014/main" id="{CD34FAF2-4CD6-4D95-8508-28AEC72AD732}"/>
              </a:ext>
            </a:extLst>
          </p:cNvPr>
          <p:cNvSpPr>
            <a:spLocks xmlns:a="http://schemas.openxmlformats.org/drawingml/2006/main" noGrp="1"/>
          </p:cNvSpPr>
          <p:nvPr/>
        </p:nvSpPr>
        <p:spPr>
          <a:xfrm xmlns:a="http://schemas.openxmlformats.org/drawingml/2006/main">
            <a:off x="5657850" y="1743075"/>
            <a:ext cx="9525" cy="342900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BBF7DA2-3407-4535-8041-88B3F84F2D7F}"/>
              </a:ext>
            </a:extLst>
          </p:cNvPr>
          <p:cNvSpPr>
            <a:spLocks xmlns:a="http://schemas.openxmlformats.org/drawingml/2006/main" noGrp="1"/>
          </p:cNvSpPr>
          <p:nvPr/>
        </p:nvSpPr>
        <p:spPr>
          <a:xfrm xmlns:a="http://schemas.openxmlformats.org/drawingml/2006/main">
            <a:off x="6115050" y="172402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Supervised path</a:t>
            </a:r>
          </a:p>
        </p:txBody>
      </p:sp>
      <p:sp>
        <p:nvSpPr>
          <p:cNvPr id="12" name="Text">
            <a:extLst xmlns:a="http://schemas.openxmlformats.org/drawingml/2006/main">
              <a:ext uri="{FF2B5EF4-FFF2-40B4-BE49-F238E27FC236}">
                <a16:creationId xmlns:a16="http://schemas.microsoft.com/office/drawing/2014/main" id="{1D48D793-96F4-4352-AF51-3AB3A76F65B3}"/>
              </a:ext>
            </a:extLst>
          </p:cNvPr>
          <p:cNvSpPr>
            <a:spLocks xmlns:a="http://schemas.openxmlformats.org/drawingml/2006/main" noGrp="1"/>
          </p:cNvSpPr>
          <p:nvPr/>
        </p:nvSpPr>
        <p:spPr>
          <a:xfrm xmlns:a="http://schemas.openxmlformats.org/drawingml/2006/main">
            <a:off x="6115050" y="2114550"/>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ML.NET FeaturizeText + SDCA maximum-entropy.</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Grouped chapter/document evaluation accepts only adjudicated human gold. Synthetic rows can enter training only.</a:t>
            </a:r>
          </a:p>
        </p:txBody>
      </p:sp>
      <p:sp>
        <p:nvSpPr>
          <p:cNvPr id="13" name="Text">
            <a:extLst xmlns:a="http://schemas.openxmlformats.org/drawingml/2006/main">
              <a:ext uri="{FF2B5EF4-FFF2-40B4-BE49-F238E27FC236}">
                <a16:creationId xmlns:a16="http://schemas.microsoft.com/office/drawing/2014/main" id="{4B6BBE95-B7C3-40CD-90BD-F9707080558A}"/>
              </a:ext>
            </a:extLst>
          </p:cNvPr>
          <p:cNvSpPr>
            <a:spLocks xmlns:a="http://schemas.openxmlformats.org/drawingml/2006/main" noGrp="1"/>
          </p:cNvSpPr>
          <p:nvPr/>
        </p:nvSpPr>
        <p:spPr>
          <a:xfrm xmlns:a="http://schemas.openxmlformats.org/drawingml/2006/main">
            <a:off x="6115050" y="3581400"/>
            <a:ext cx="276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Unsupervised path</a:t>
            </a:r>
          </a:p>
        </p:txBody>
      </p:sp>
      <p:sp>
        <p:nvSpPr>
          <p:cNvPr id="14" name="Text">
            <a:extLst xmlns:a="http://schemas.openxmlformats.org/drawingml/2006/main">
              <a:ext uri="{FF2B5EF4-FFF2-40B4-BE49-F238E27FC236}">
                <a16:creationId xmlns:a16="http://schemas.microsoft.com/office/drawing/2014/main" id="{A35CC6B7-149F-4EBE-A86A-4F45E0DBD004}"/>
              </a:ext>
            </a:extLst>
          </p:cNvPr>
          <p:cNvSpPr>
            <a:spLocks xmlns:a="http://schemas.openxmlformats.org/drawingml/2006/main" noGrp="1"/>
          </p:cNvSpPr>
          <p:nvPr/>
        </p:nvSpPr>
        <p:spPr>
          <a:xfrm xmlns:a="http://schemas.openxmlformats.org/drawingml/2006/main">
            <a:off x="6115050" y="3943350"/>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ML.NET text n-grams + K-Means. The command reports lexical clusters, distances, and exemplars. Measure TYM performance on human-held-out gold.</a:t>
            </a:r>
          </a:p>
        </p:txBody>
      </p:sp>
      <p:sp>
        <p:nvSpPr>
          <p:cNvPr id="15" name="Section rule">
            <a:extLst xmlns:a="http://schemas.openxmlformats.org/drawingml/2006/main">
              <a:ext uri="{FF2B5EF4-FFF2-40B4-BE49-F238E27FC236}">
                <a16:creationId xmlns:a16="http://schemas.microsoft.com/office/drawing/2014/main" id="{D5C956F1-8EBC-4FDA-9E4B-6C0496143565}"/>
              </a:ext>
            </a:extLst>
          </p:cNvPr>
          <p:cNvSpPr>
            <a:spLocks xmlns:a="http://schemas.openxmlformats.org/drawingml/2006/main" noGrp="1"/>
          </p:cNvSpPr>
          <p:nvPr/>
        </p:nvSpPr>
        <p:spPr>
          <a:xfrm xmlns:a="http://schemas.openxmlformats.org/drawingml/2006/main">
            <a:off x="609600" y="52863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FFBDE8F2-7CC7-48CA-8819-6386E056E2FF}"/>
              </a:ext>
            </a:extLst>
          </p:cNvPr>
          <p:cNvSpPr>
            <a:spLocks xmlns:a="http://schemas.openxmlformats.org/drawingml/2006/main" noGrp="1"/>
          </p:cNvSpPr>
          <p:nvPr/>
        </p:nvSpPr>
        <p:spPr>
          <a:xfrm xmlns:a="http://schemas.openxmlformats.org/drawingml/2006/main">
            <a:off x="609600" y="55149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Evidence boundary</a:t>
            </a:r>
          </a:p>
        </p:txBody>
      </p:sp>
      <p:sp>
        <p:nvSpPr>
          <p:cNvPr id="17" name="Text">
            <a:extLst xmlns:a="http://schemas.openxmlformats.org/drawingml/2006/main">
              <a:ext uri="{FF2B5EF4-FFF2-40B4-BE49-F238E27FC236}">
                <a16:creationId xmlns:a16="http://schemas.microsoft.com/office/drawing/2014/main" id="{72FD13A3-AF34-47D3-B8AF-5CA6E445A981}"/>
              </a:ext>
            </a:extLst>
          </p:cNvPr>
          <p:cNvSpPr>
            <a:spLocks xmlns:a="http://schemas.openxmlformats.org/drawingml/2006/main" noGrp="1"/>
          </p:cNvSpPr>
          <p:nvPr/>
        </p:nvSpPr>
        <p:spPr>
          <a:xfrm xmlns:a="http://schemas.openxmlformats.org/drawingml/2006/main">
            <a:off x="2571750" y="5457825"/>
            <a:ext cx="838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No adjudicated TYM corpus is checked into this repository. Current seed-trained artifacts are pipeline demos, not research baselines.</a:t>
            </a:r>
          </a:p>
        </p:txBody>
      </p:sp>
    </p:spTree>
    <p:extLst>
      <p:ext uri="{BB962C8B-B14F-4D97-AF65-F5344CB8AC3E}">
        <p14:creationId xmlns:p14="http://schemas.microsoft.com/office/powerpoint/2010/main" val="28990014"/>
      </p:ext>
    </p:extLst>
  </p:cSld>
</p:sld>
</file>

<file path=ppt/slides/slide6.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3" name="Section label">
            <a:extLst xmlns:a="http://schemas.openxmlformats.org/drawingml/2006/main">
              <a:ext uri="{FF2B5EF4-FFF2-40B4-BE49-F238E27FC236}">
                <a16:creationId xmlns:a16="http://schemas.microsoft.com/office/drawing/2014/main" id="{2C2D79B3-FBB4-4CA0-AAE0-55FA6D5F37BC}"/>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SYNTHETIC-DATA DESIGN</a:t>
            </a:r>
          </a:p>
        </p:txBody>
      </p:sp>
      <p:sp>
        <p:nvSpPr>
          <p:cNvPr id="2" name="Slide title">
            <a:extLst xmlns:a="http://schemas.openxmlformats.org/drawingml/2006/main">
              <a:ext uri="{FF2B5EF4-FFF2-40B4-BE49-F238E27FC236}">
                <a16:creationId xmlns:a16="http://schemas.microsoft.com/office/drawing/2014/main" id="{18F8FD64-09D3-405F-9399-7B6BF2169BA8}"/>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Synthetic examples should target contrastive coverage</a:t>
            </a:r>
          </a:p>
        </p:txBody>
      </p:sp>
      <p:sp>
        <p:nvSpPr>
          <p:cNvPr id="3" name="Section rule">
            <a:extLst xmlns:a="http://schemas.openxmlformats.org/drawingml/2006/main">
              <a:ext uri="{FF2B5EF4-FFF2-40B4-BE49-F238E27FC236}">
                <a16:creationId xmlns:a16="http://schemas.microsoft.com/office/drawing/2014/main" id="{DCC9C552-7932-438A-B3E0-EEFB39E3C2D6}"/>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C6380F5F-79B4-4FC0-8C0C-1E86F59EBB4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ED8B6CE2-83E9-40AB-8AF4-50E284428233}"/>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F919663B-A90E-4CC2-97EF-9933918570D9}"/>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06</a:t>
            </a:r>
          </a:p>
        </p:txBody>
      </p:sp>
      <p:sp>
        <p:nvSpPr>
          <p:cNvPr id="7" name="Text">
            <a:extLst xmlns:a="http://schemas.openxmlformats.org/drawingml/2006/main">
              <a:ext uri="{FF2B5EF4-FFF2-40B4-BE49-F238E27FC236}">
                <a16:creationId xmlns:a16="http://schemas.microsoft.com/office/drawing/2014/main" id="{70CD3EE2-9277-4245-B806-776F431287AE}"/>
              </a:ext>
            </a:extLst>
          </p:cNvPr>
          <p:cNvSpPr>
            <a:spLocks xmlns:a="http://schemas.openxmlformats.org/drawingml/2006/main" noGrp="1"/>
          </p:cNvSpPr>
          <p:nvPr/>
        </p:nvSpPr>
        <p:spPr>
          <a:xfrm xmlns:a="http://schemas.openxmlformats.org/drawingml/2006/main">
            <a:off x="609600" y="15335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Generate examples around a labeled distinction, then change the surface form independently.</a:t>
            </a:r>
          </a:p>
        </p:txBody>
      </p:sp>
      <p:sp>
        <p:nvSpPr>
          <p:cNvPr id="8" name="Text">
            <a:extLst xmlns:a="http://schemas.openxmlformats.org/drawingml/2006/main">
              <a:ext uri="{FF2B5EF4-FFF2-40B4-BE49-F238E27FC236}">
                <a16:creationId xmlns:a16="http://schemas.microsoft.com/office/drawing/2014/main" id="{0F5D4633-8663-4130-AA26-9CD4041FA054}"/>
              </a:ext>
            </a:extLst>
          </p:cNvPr>
          <p:cNvSpPr>
            <a:spLocks xmlns:a="http://schemas.openxmlformats.org/drawingml/2006/main" noGrp="1"/>
          </p:cNvSpPr>
          <p:nvPr/>
        </p:nvSpPr>
        <p:spPr>
          <a:xfrm xmlns:a="http://schemas.openxmlformats.org/drawingml/2006/main">
            <a:off x="609600" y="20955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NARRATIVE FRAME</a:t>
            </a:r>
          </a:p>
        </p:txBody>
      </p:sp>
      <p:sp>
        <p:nvSpPr>
          <p:cNvPr id="9" name="Text">
            <a:extLst xmlns:a="http://schemas.openxmlformats.org/drawingml/2006/main">
              <a:ext uri="{FF2B5EF4-FFF2-40B4-BE49-F238E27FC236}">
                <a16:creationId xmlns:a16="http://schemas.microsoft.com/office/drawing/2014/main" id="{10789656-35B3-4DFF-811B-79CE92287157}"/>
              </a:ext>
            </a:extLst>
          </p:cNvPr>
          <p:cNvSpPr>
            <a:spLocks xmlns:a="http://schemas.openxmlformats.org/drawingml/2006/main" noGrp="1"/>
          </p:cNvSpPr>
          <p:nvPr/>
        </p:nvSpPr>
        <p:spPr>
          <a:xfrm xmlns:a="http://schemas.openxmlformats.org/drawingml/2006/main">
            <a:off x="3429000" y="206692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Contrast narration with remembered, anticipated, imagined, or habitual event framing.</a:t>
            </a:r>
          </a:p>
        </p:txBody>
      </p:sp>
      <p:sp>
        <p:nvSpPr>
          <p:cNvPr id="10" name="Section rule">
            <a:extLst xmlns:a="http://schemas.openxmlformats.org/drawingml/2006/main">
              <a:ext uri="{FF2B5EF4-FFF2-40B4-BE49-F238E27FC236}">
                <a16:creationId xmlns:a16="http://schemas.microsoft.com/office/drawing/2014/main" id="{6908CD30-EE34-409E-ABA3-0BD05578EE45}"/>
              </a:ext>
            </a:extLst>
          </p:cNvPr>
          <p:cNvSpPr>
            <a:spLocks xmlns:a="http://schemas.openxmlformats.org/drawingml/2006/main" noGrp="1"/>
          </p:cNvSpPr>
          <p:nvPr/>
        </p:nvSpPr>
        <p:spPr>
          <a:xfrm xmlns:a="http://schemas.openxmlformats.org/drawingml/2006/main">
            <a:off x="609600" y="27051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0B98BBF-8313-4E1F-88F7-7E0A32E7689E}"/>
              </a:ext>
            </a:extLst>
          </p:cNvPr>
          <p:cNvSpPr>
            <a:spLocks xmlns:a="http://schemas.openxmlformats.org/drawingml/2006/main" noGrp="1"/>
          </p:cNvSpPr>
          <p:nvPr/>
        </p:nvSpPr>
        <p:spPr>
          <a:xfrm xmlns:a="http://schemas.openxmlformats.org/drawingml/2006/main">
            <a:off x="609600" y="287655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TENSE AND ANCHOR</a:t>
            </a:r>
          </a:p>
        </p:txBody>
      </p:sp>
      <p:sp>
        <p:nvSpPr>
          <p:cNvPr id="12" name="Text">
            <a:extLst xmlns:a="http://schemas.openxmlformats.org/drawingml/2006/main">
              <a:ext uri="{FF2B5EF4-FFF2-40B4-BE49-F238E27FC236}">
                <a16:creationId xmlns:a16="http://schemas.microsoft.com/office/drawing/2014/main" id="{BC5D1F0A-AAFA-4C45-B421-273553ACBAA1}"/>
              </a:ext>
            </a:extLst>
          </p:cNvPr>
          <p:cNvSpPr>
            <a:spLocks xmlns:a="http://schemas.openxmlformats.org/drawingml/2006/main" noGrp="1"/>
          </p:cNvSpPr>
          <p:nvPr/>
        </p:nvSpPr>
        <p:spPr>
          <a:xfrm xmlns:a="http://schemas.openxmlformats.org/drawingml/2006/main">
            <a:off x="3429000" y="284797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Vary tense, aspect, temporal adverbials, and reference time without making one cue identify the label.</a:t>
            </a:r>
          </a:p>
        </p:txBody>
      </p:sp>
      <p:sp>
        <p:nvSpPr>
          <p:cNvPr id="13" name="Section rule">
            <a:extLst xmlns:a="http://schemas.openxmlformats.org/drawingml/2006/main">
              <a:ext uri="{FF2B5EF4-FFF2-40B4-BE49-F238E27FC236}">
                <a16:creationId xmlns:a16="http://schemas.microsoft.com/office/drawing/2014/main" id="{89B93736-24DB-48B8-B3BE-5E6D47432AB6}"/>
              </a:ext>
            </a:extLst>
          </p:cNvPr>
          <p:cNvSpPr>
            <a:spLocks xmlns:a="http://schemas.openxmlformats.org/drawingml/2006/main" noGrp="1"/>
          </p:cNvSpPr>
          <p:nvPr/>
        </p:nvSpPr>
        <p:spPr>
          <a:xfrm xmlns:a="http://schemas.openxmlformats.org/drawingml/2006/main">
            <a:off x="609600" y="34861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638F59E1-C567-4D60-B44F-00720448609A}"/>
              </a:ext>
            </a:extLst>
          </p:cNvPr>
          <p:cNvSpPr>
            <a:spLocks xmlns:a="http://schemas.openxmlformats.org/drawingml/2006/main" noGrp="1"/>
          </p:cNvSpPr>
          <p:nvPr/>
        </p:nvSpPr>
        <p:spPr>
          <a:xfrm xmlns:a="http://schemas.openxmlformats.org/drawingml/2006/main">
            <a:off x="609600" y="36576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EVENT EXPRESSION</a:t>
            </a:r>
          </a:p>
        </p:txBody>
      </p:sp>
      <p:sp>
        <p:nvSpPr>
          <p:cNvPr id="15" name="Text">
            <a:extLst xmlns:a="http://schemas.openxmlformats.org/drawingml/2006/main">
              <a:ext uri="{FF2B5EF4-FFF2-40B4-BE49-F238E27FC236}">
                <a16:creationId xmlns:a16="http://schemas.microsoft.com/office/drawing/2014/main" id="{BC5879A8-2C5B-418E-B7EB-238CD18BECAA}"/>
              </a:ext>
            </a:extLst>
          </p:cNvPr>
          <p:cNvSpPr>
            <a:spLocks xmlns:a="http://schemas.openxmlformats.org/drawingml/2006/main" noGrp="1"/>
          </p:cNvSpPr>
          <p:nvPr/>
        </p:nvSpPr>
        <p:spPr>
          <a:xfrm xmlns:a="http://schemas.openxmlformats.org/drawingml/2006/main">
            <a:off x="3429000" y="362902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Include verbal events and nominalized events such as arrival, departure, or discovery.</a:t>
            </a:r>
          </a:p>
        </p:txBody>
      </p:sp>
      <p:sp>
        <p:nvSpPr>
          <p:cNvPr id="16" name="Section rule">
            <a:extLst xmlns:a="http://schemas.openxmlformats.org/drawingml/2006/main">
              <a:ext uri="{FF2B5EF4-FFF2-40B4-BE49-F238E27FC236}">
                <a16:creationId xmlns:a16="http://schemas.microsoft.com/office/drawing/2014/main" id="{6CF59452-FF4A-40EE-AE7E-9EBC888D39B9}"/>
              </a:ext>
            </a:extLst>
          </p:cNvPr>
          <p:cNvSpPr>
            <a:spLocks xmlns:a="http://schemas.openxmlformats.org/drawingml/2006/main" noGrp="1"/>
          </p:cNvSpPr>
          <p:nvPr/>
        </p:nvSpPr>
        <p:spPr>
          <a:xfrm xmlns:a="http://schemas.openxmlformats.org/drawingml/2006/main">
            <a:off x="609600" y="42672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0C44589F-73B3-4A99-8673-A89CE01DEB31}"/>
              </a:ext>
            </a:extLst>
          </p:cNvPr>
          <p:cNvSpPr>
            <a:spLocks xmlns:a="http://schemas.openxmlformats.org/drawingml/2006/main" noGrp="1"/>
          </p:cNvSpPr>
          <p:nvPr/>
        </p:nvSpPr>
        <p:spPr>
          <a:xfrm xmlns:a="http://schemas.openxmlformats.org/drawingml/2006/main">
            <a:off x="609600" y="443865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RELATION DISTANCE</a:t>
            </a:r>
          </a:p>
        </p:txBody>
      </p:sp>
      <p:sp>
        <p:nvSpPr>
          <p:cNvPr id="18" name="Text">
            <a:extLst xmlns:a="http://schemas.openxmlformats.org/drawingml/2006/main">
              <a:ext uri="{FF2B5EF4-FFF2-40B4-BE49-F238E27FC236}">
                <a16:creationId xmlns:a16="http://schemas.microsoft.com/office/drawing/2014/main" id="{0F807E4B-B69B-48AD-8F64-DDDDA1EEA5E5}"/>
              </a:ext>
            </a:extLst>
          </p:cNvPr>
          <p:cNvSpPr>
            <a:spLocks xmlns:a="http://schemas.openxmlformats.org/drawingml/2006/main" noGrp="1"/>
          </p:cNvSpPr>
          <p:nvPr/>
        </p:nvSpPr>
        <p:spPr>
          <a:xfrm xmlns:a="http://schemas.openxmlformats.org/drawingml/2006/main">
            <a:off x="3429000" y="441007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Place linked events in separate sentences or paragraphs; vary relation direction and cue placement.</a:t>
            </a:r>
          </a:p>
        </p:txBody>
      </p:sp>
      <p:sp>
        <p:nvSpPr>
          <p:cNvPr id="19" name="Section rule">
            <a:extLst xmlns:a="http://schemas.openxmlformats.org/drawingml/2006/main">
              <a:ext uri="{FF2B5EF4-FFF2-40B4-BE49-F238E27FC236}">
                <a16:creationId xmlns:a16="http://schemas.microsoft.com/office/drawing/2014/main" id="{C3D2E03F-C556-4730-B1A9-4F97D7B263E8}"/>
              </a:ext>
            </a:extLst>
          </p:cNvPr>
          <p:cNvSpPr>
            <a:spLocks xmlns:a="http://schemas.openxmlformats.org/drawingml/2006/main" noGrp="1"/>
          </p:cNvSpPr>
          <p:nvPr/>
        </p:nvSpPr>
        <p:spPr>
          <a:xfrm xmlns:a="http://schemas.openxmlformats.org/drawingml/2006/main">
            <a:off x="609600" y="50482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29A6C508-CE8D-4031-80AD-02A47D77703B}"/>
              </a:ext>
            </a:extLst>
          </p:cNvPr>
          <p:cNvSpPr>
            <a:spLocks xmlns:a="http://schemas.openxmlformats.org/drawingml/2006/main" noGrp="1"/>
          </p:cNvSpPr>
          <p:nvPr/>
        </p:nvSpPr>
        <p:spPr>
          <a:xfrm xmlns:a="http://schemas.openxmlformats.org/drawingml/2006/main">
            <a:off x="609600" y="52197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BOUNDARY AMBIGUITY</a:t>
            </a:r>
          </a:p>
        </p:txBody>
      </p:sp>
      <p:sp>
        <p:nvSpPr>
          <p:cNvPr id="21" name="Text">
            <a:extLst xmlns:a="http://schemas.openxmlformats.org/drawingml/2006/main">
              <a:ext uri="{FF2B5EF4-FFF2-40B4-BE49-F238E27FC236}">
                <a16:creationId xmlns:a16="http://schemas.microsoft.com/office/drawing/2014/main" id="{AEE503DA-F016-47AE-A91F-B4212809DEE6}"/>
              </a:ext>
            </a:extLst>
          </p:cNvPr>
          <p:cNvSpPr>
            <a:spLocks xmlns:a="http://schemas.openxmlformats.org/drawingml/2006/main" noGrp="1"/>
          </p:cNvSpPr>
          <p:nvPr/>
        </p:nvSpPr>
        <p:spPr>
          <a:xfrm xmlns:a="http://schemas.openxmlformats.org/drawingml/2006/main">
            <a:off x="3429000" y="519112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Include missing, conflicting, or weak cues and mark them for uncertainty or human review.</a:t>
            </a:r>
          </a:p>
        </p:txBody>
      </p:sp>
      <p:sp>
        <p:nvSpPr>
          <p:cNvPr id="22" name="Section rule">
            <a:extLst xmlns:a="http://schemas.openxmlformats.org/drawingml/2006/main">
              <a:ext uri="{FF2B5EF4-FFF2-40B4-BE49-F238E27FC236}">
                <a16:creationId xmlns:a16="http://schemas.microsoft.com/office/drawing/2014/main" id="{53C7C1AD-6018-4426-8CA3-A6A4F138AF5A}"/>
              </a:ext>
            </a:extLst>
          </p:cNvPr>
          <p:cNvSpPr>
            <a:spLocks xmlns:a="http://schemas.openxmlformats.org/drawingml/2006/main" noGrp="1"/>
          </p:cNvSpPr>
          <p:nvPr/>
        </p:nvSpPr>
        <p:spPr>
          <a:xfrm xmlns:a="http://schemas.openxmlformats.org/drawingml/2006/main">
            <a:off x="609600" y="58293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1262457971"/>
      </p:ext>
    </p:extLst>
  </p:cSld>
</p:sld>
</file>

<file path=ppt/slides/slide7.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2" name="Section label">
            <a:extLst xmlns:a="http://schemas.openxmlformats.org/drawingml/2006/main">
              <a:ext uri="{FF2B5EF4-FFF2-40B4-BE49-F238E27FC236}">
                <a16:creationId xmlns:a16="http://schemas.microsoft.com/office/drawing/2014/main" id="{EE0F3BCB-16E3-429E-93E3-741C74895BEB}"/>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SYNTHETIC-DATA DESIGN</a:t>
            </a:r>
          </a:p>
        </p:txBody>
      </p:sp>
      <p:sp>
        <p:nvSpPr>
          <p:cNvPr id="2" name="Slide title">
            <a:extLst xmlns:a="http://schemas.openxmlformats.org/drawingml/2006/main">
              <a:ext uri="{FF2B5EF4-FFF2-40B4-BE49-F238E27FC236}">
                <a16:creationId xmlns:a16="http://schemas.microsoft.com/office/drawing/2014/main" id="{E1665CB0-6160-40C6-9B0D-554A0CE3F57E}"/>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Generation controls reduce label shortcuts</a:t>
            </a:r>
          </a:p>
        </p:txBody>
      </p:sp>
      <p:sp>
        <p:nvSpPr>
          <p:cNvPr id="3" name="Section rule">
            <a:extLst xmlns:a="http://schemas.openxmlformats.org/drawingml/2006/main">
              <a:ext uri="{FF2B5EF4-FFF2-40B4-BE49-F238E27FC236}">
                <a16:creationId xmlns:a16="http://schemas.microsoft.com/office/drawing/2014/main" id="{113D09F6-AD84-4DB8-A46A-00464627CCDC}"/>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AB2DA125-B2BD-43E8-8380-6C8767C163D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48AEDCE2-4002-4D5E-B917-0F9EBA44A028}"/>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F4BC55F8-C7CB-4C83-ABFB-91E5BEB5B634}"/>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07</a:t>
            </a:r>
          </a:p>
        </p:txBody>
      </p:sp>
      <p:sp>
        <p:nvSpPr>
          <p:cNvPr id="7" name="Text">
            <a:extLst xmlns:a="http://schemas.openxmlformats.org/drawingml/2006/main">
              <a:ext uri="{FF2B5EF4-FFF2-40B4-BE49-F238E27FC236}">
                <a16:creationId xmlns:a16="http://schemas.microsoft.com/office/drawing/2014/main" id="{44CADC06-D3A1-4EB5-AD8F-8DF2B9A87893}"/>
              </a:ext>
            </a:extLst>
          </p:cNvPr>
          <p:cNvSpPr>
            <a:spLocks xmlns:a="http://schemas.openxmlformats.org/drawingml/2006/main" noGrp="1"/>
          </p:cNvSpPr>
          <p:nvPr/>
        </p:nvSpPr>
        <p:spPr>
          <a:xfrm xmlns:a="http://schemas.openxmlformats.org/drawingml/2006/main">
            <a:off x="609600" y="18859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01</a:t>
            </a:r>
          </a:p>
        </p:txBody>
      </p:sp>
      <p:sp>
        <p:nvSpPr>
          <p:cNvPr id="8" name="Text">
            <a:extLst xmlns:a="http://schemas.openxmlformats.org/drawingml/2006/main">
              <a:ext uri="{FF2B5EF4-FFF2-40B4-BE49-F238E27FC236}">
                <a16:creationId xmlns:a16="http://schemas.microsoft.com/office/drawing/2014/main" id="{27D10EDE-2009-453E-B95A-A687A158FAE5}"/>
              </a:ext>
            </a:extLst>
          </p:cNvPr>
          <p:cNvSpPr>
            <a:spLocks xmlns:a="http://schemas.openxmlformats.org/drawingml/2006/main" noGrp="1"/>
          </p:cNvSpPr>
          <p:nvPr/>
        </p:nvSpPr>
        <p:spPr>
          <a:xfrm xmlns:a="http://schemas.openxmlformats.org/drawingml/2006/main">
            <a:off x="1181100" y="1866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Minimal contrasts</a:t>
            </a:r>
          </a:p>
        </p:txBody>
      </p:sp>
      <p:sp>
        <p:nvSpPr>
          <p:cNvPr id="9" name="Text">
            <a:extLst xmlns:a="http://schemas.openxmlformats.org/drawingml/2006/main">
              <a:ext uri="{FF2B5EF4-FFF2-40B4-BE49-F238E27FC236}">
                <a16:creationId xmlns:a16="http://schemas.microsoft.com/office/drawing/2014/main" id="{F1228BFD-888C-4F1D-A509-7BC191BE6931}"/>
              </a:ext>
            </a:extLst>
          </p:cNvPr>
          <p:cNvSpPr>
            <a:spLocks xmlns:a="http://schemas.openxmlformats.org/drawingml/2006/main" noGrp="1"/>
          </p:cNvSpPr>
          <p:nvPr/>
        </p:nvSpPr>
        <p:spPr>
          <a:xfrm xmlns:a="http://schemas.openxmlformats.org/drawingml/2006/main">
            <a:off x="1181100" y="2295525"/>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Keep the event content stable while changing one temporal or narrative cue.</a:t>
            </a:r>
          </a:p>
        </p:txBody>
      </p:sp>
      <p:sp>
        <p:nvSpPr>
          <p:cNvPr id="10" name="Section rule">
            <a:extLst xmlns:a="http://schemas.openxmlformats.org/drawingml/2006/main">
              <a:ext uri="{FF2B5EF4-FFF2-40B4-BE49-F238E27FC236}">
                <a16:creationId xmlns:a16="http://schemas.microsoft.com/office/drawing/2014/main" id="{A1E019DD-BA63-468C-965A-0C5DB9399045}"/>
              </a:ext>
            </a:extLst>
          </p:cNvPr>
          <p:cNvSpPr>
            <a:spLocks xmlns:a="http://schemas.openxmlformats.org/drawingml/2006/main" noGrp="1"/>
          </p:cNvSpPr>
          <p:nvPr/>
        </p:nvSpPr>
        <p:spPr>
          <a:xfrm xmlns:a="http://schemas.openxmlformats.org/drawingml/2006/main">
            <a:off x="609600" y="3286125"/>
            <a:ext cx="47625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48E1189-623E-4B93-8753-2CB71082C938}"/>
              </a:ext>
            </a:extLst>
          </p:cNvPr>
          <p:cNvSpPr>
            <a:spLocks xmlns:a="http://schemas.openxmlformats.org/drawingml/2006/main" noGrp="1"/>
          </p:cNvSpPr>
          <p:nvPr/>
        </p:nvSpPr>
        <p:spPr>
          <a:xfrm xmlns:a="http://schemas.openxmlformats.org/drawingml/2006/main">
            <a:off x="6410325" y="18859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02</a:t>
            </a:r>
          </a:p>
        </p:txBody>
      </p:sp>
      <p:sp>
        <p:nvSpPr>
          <p:cNvPr id="12" name="Text">
            <a:extLst xmlns:a="http://schemas.openxmlformats.org/drawingml/2006/main">
              <a:ext uri="{FF2B5EF4-FFF2-40B4-BE49-F238E27FC236}">
                <a16:creationId xmlns:a16="http://schemas.microsoft.com/office/drawing/2014/main" id="{5A987795-2081-48E3-BE81-54E56B663B59}"/>
              </a:ext>
            </a:extLst>
          </p:cNvPr>
          <p:cNvSpPr>
            <a:spLocks xmlns:a="http://schemas.openxmlformats.org/drawingml/2006/main" noGrp="1"/>
          </p:cNvSpPr>
          <p:nvPr/>
        </p:nvSpPr>
        <p:spPr>
          <a:xfrm xmlns:a="http://schemas.openxmlformats.org/drawingml/2006/main">
            <a:off x="6981825" y="1866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Surface variation</a:t>
            </a:r>
          </a:p>
        </p:txBody>
      </p:sp>
      <p:sp>
        <p:nvSpPr>
          <p:cNvPr id="13" name="Text">
            <a:extLst xmlns:a="http://schemas.openxmlformats.org/drawingml/2006/main">
              <a:ext uri="{FF2B5EF4-FFF2-40B4-BE49-F238E27FC236}">
                <a16:creationId xmlns:a16="http://schemas.microsoft.com/office/drawing/2014/main" id="{ABEB35EA-4AEE-40D4-879F-7DEF571B8ACB}"/>
              </a:ext>
            </a:extLst>
          </p:cNvPr>
          <p:cNvSpPr>
            <a:spLocks xmlns:a="http://schemas.openxmlformats.org/drawingml/2006/main" noGrp="1"/>
          </p:cNvSpPr>
          <p:nvPr/>
        </p:nvSpPr>
        <p:spPr>
          <a:xfrm xmlns:a="http://schemas.openxmlformats.org/drawingml/2006/main">
            <a:off x="6981825" y="2295525"/>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Change syntax, names, verbs, cue location, and context without changing the intended phenomenon.</a:t>
            </a:r>
          </a:p>
        </p:txBody>
      </p:sp>
      <p:sp>
        <p:nvSpPr>
          <p:cNvPr id="14" name="Section rule">
            <a:extLst xmlns:a="http://schemas.openxmlformats.org/drawingml/2006/main">
              <a:ext uri="{FF2B5EF4-FFF2-40B4-BE49-F238E27FC236}">
                <a16:creationId xmlns:a16="http://schemas.microsoft.com/office/drawing/2014/main" id="{843CDF82-CAAC-4A86-8D48-05814AFA99C7}"/>
              </a:ext>
            </a:extLst>
          </p:cNvPr>
          <p:cNvSpPr>
            <a:spLocks xmlns:a="http://schemas.openxmlformats.org/drawingml/2006/main" noGrp="1"/>
          </p:cNvSpPr>
          <p:nvPr/>
        </p:nvSpPr>
        <p:spPr>
          <a:xfrm xmlns:a="http://schemas.openxmlformats.org/drawingml/2006/main">
            <a:off x="6410325" y="3286125"/>
            <a:ext cx="47625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11472051-F160-428A-B53F-876F5F000280}"/>
              </a:ext>
            </a:extLst>
          </p:cNvPr>
          <p:cNvSpPr>
            <a:spLocks xmlns:a="http://schemas.openxmlformats.org/drawingml/2006/main" noGrp="1"/>
          </p:cNvSpPr>
          <p:nvPr/>
        </p:nvSpPr>
        <p:spPr>
          <a:xfrm xmlns:a="http://schemas.openxmlformats.org/drawingml/2006/main">
            <a:off x="609600" y="37242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03</a:t>
            </a:r>
          </a:p>
        </p:txBody>
      </p:sp>
      <p:sp>
        <p:nvSpPr>
          <p:cNvPr id="16" name="Text">
            <a:extLst xmlns:a="http://schemas.openxmlformats.org/drawingml/2006/main">
              <a:ext uri="{FF2B5EF4-FFF2-40B4-BE49-F238E27FC236}">
                <a16:creationId xmlns:a16="http://schemas.microsoft.com/office/drawing/2014/main" id="{714E4F8C-4C15-4853-9AF6-9C61B83C832F}"/>
              </a:ext>
            </a:extLst>
          </p:cNvPr>
          <p:cNvSpPr>
            <a:spLocks xmlns:a="http://schemas.openxmlformats.org/drawingml/2006/main" noGrp="1"/>
          </p:cNvSpPr>
          <p:nvPr/>
        </p:nvSpPr>
        <p:spPr>
          <a:xfrm xmlns:a="http://schemas.openxmlformats.org/drawingml/2006/main">
            <a:off x="1181100" y="3705225"/>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Lineage</a:t>
            </a:r>
          </a:p>
        </p:txBody>
      </p:sp>
      <p:sp>
        <p:nvSpPr>
          <p:cNvPr id="17" name="Text">
            <a:extLst xmlns:a="http://schemas.openxmlformats.org/drawingml/2006/main">
              <a:ext uri="{FF2B5EF4-FFF2-40B4-BE49-F238E27FC236}">
                <a16:creationId xmlns:a16="http://schemas.microsoft.com/office/drawing/2014/main" id="{4812CD42-EC00-4571-A101-F3843BFF6585}"/>
              </a:ext>
            </a:extLst>
          </p:cNvPr>
          <p:cNvSpPr>
            <a:spLocks xmlns:a="http://schemas.openxmlformats.org/drawingml/2006/main" noGrp="1"/>
          </p:cNvSpPr>
          <p:nvPr/>
        </p:nvSpPr>
        <p:spPr>
          <a:xfrm xmlns:a="http://schemas.openxmlformats.org/drawingml/2006/main">
            <a:off x="1181100" y="4133850"/>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Record parent, phenomenon, transformation, generator version, and review state for every row.</a:t>
            </a:r>
          </a:p>
        </p:txBody>
      </p:sp>
      <p:sp>
        <p:nvSpPr>
          <p:cNvPr id="18" name="Text">
            <a:extLst xmlns:a="http://schemas.openxmlformats.org/drawingml/2006/main">
              <a:ext uri="{FF2B5EF4-FFF2-40B4-BE49-F238E27FC236}">
                <a16:creationId xmlns:a16="http://schemas.microsoft.com/office/drawing/2014/main" id="{A516C4B6-5564-4CE2-B83A-D0A12AA07A06}"/>
              </a:ext>
            </a:extLst>
          </p:cNvPr>
          <p:cNvSpPr>
            <a:spLocks xmlns:a="http://schemas.openxmlformats.org/drawingml/2006/main" noGrp="1"/>
          </p:cNvSpPr>
          <p:nvPr/>
        </p:nvSpPr>
        <p:spPr>
          <a:xfrm xmlns:a="http://schemas.openxmlformats.org/drawingml/2006/main">
            <a:off x="6410325" y="37242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04</a:t>
            </a:r>
          </a:p>
        </p:txBody>
      </p:sp>
      <p:sp>
        <p:nvSpPr>
          <p:cNvPr id="19" name="Text">
            <a:extLst xmlns:a="http://schemas.openxmlformats.org/drawingml/2006/main">
              <a:ext uri="{FF2B5EF4-FFF2-40B4-BE49-F238E27FC236}">
                <a16:creationId xmlns:a16="http://schemas.microsoft.com/office/drawing/2014/main" id="{09D43C29-9957-4D41-85B3-2D04D3122B15}"/>
              </a:ext>
            </a:extLst>
          </p:cNvPr>
          <p:cNvSpPr>
            <a:spLocks xmlns:a="http://schemas.openxmlformats.org/drawingml/2006/main" noGrp="1"/>
          </p:cNvSpPr>
          <p:nvPr/>
        </p:nvSpPr>
        <p:spPr>
          <a:xfrm xmlns:a="http://schemas.openxmlformats.org/drawingml/2006/main">
            <a:off x="6981825" y="3705225"/>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Human audit</a:t>
            </a:r>
          </a:p>
        </p:txBody>
      </p:sp>
      <p:sp>
        <p:nvSpPr>
          <p:cNvPr id="20" name="Text">
            <a:extLst xmlns:a="http://schemas.openxmlformats.org/drawingml/2006/main">
              <a:ext uri="{FF2B5EF4-FFF2-40B4-BE49-F238E27FC236}">
                <a16:creationId xmlns:a16="http://schemas.microsoft.com/office/drawing/2014/main" id="{22501226-1BE7-4397-8A95-6A359C2C318C}"/>
              </a:ext>
            </a:extLst>
          </p:cNvPr>
          <p:cNvSpPr>
            <a:spLocks xmlns:a="http://schemas.openxmlformats.org/drawingml/2006/main" noGrp="1"/>
          </p:cNvSpPr>
          <p:nvPr/>
        </p:nvSpPr>
        <p:spPr>
          <a:xfrm xmlns:a="http://schemas.openxmlformats.org/drawingml/2006/main">
            <a:off x="6981825" y="4133850"/>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Check labels and span boundaries on a sampled batch before adding a generator family to training.</a:t>
            </a:r>
          </a:p>
        </p:txBody>
      </p:sp>
      <p:sp>
        <p:nvSpPr>
          <p:cNvPr id="21" name="Text">
            <a:extLst xmlns:a="http://schemas.openxmlformats.org/drawingml/2006/main">
              <a:ext uri="{FF2B5EF4-FFF2-40B4-BE49-F238E27FC236}">
                <a16:creationId xmlns:a16="http://schemas.microsoft.com/office/drawing/2014/main" id="{48F1E552-5A70-4D0F-BFF9-4912C21757E3}"/>
              </a:ext>
            </a:extLst>
          </p:cNvPr>
          <p:cNvSpPr>
            <a:spLocks xmlns:a="http://schemas.openxmlformats.org/drawingml/2006/main" noGrp="1"/>
          </p:cNvSpPr>
          <p:nvPr/>
        </p:nvSpPr>
        <p:spPr>
          <a:xfrm xmlns:a="http://schemas.openxmlformats.org/drawingml/2006/main">
            <a:off x="609600" y="57816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C36A"/>
                </a:solidFill>
                <a:latin typeface="Arial"/>
                <a:ea typeface="Arial"/>
                <a:cs typeface="Arial"/>
              </a:defRPr>
            </a:pPr>
            <a:r>
              <a:rPr sz="1500" b="1">
                <a:solidFill>
                  <a:srgbClr val="F0C36A"/>
                </a:solidFill>
                <a:latin typeface="Arial"/>
                <a:ea typeface="Arial"/>
                <a:cs typeface="Arial"/>
              </a:rPr>
              <a:t>A generator label is provenance, not a quality guarantee.</a:t>
            </a:r>
          </a:p>
        </p:txBody>
      </p:sp>
    </p:spTree>
    <p:extLst>
      <p:ext uri="{BB962C8B-B14F-4D97-AF65-F5344CB8AC3E}">
        <p14:creationId xmlns:p14="http://schemas.microsoft.com/office/powerpoint/2010/main" val="1691044955"/>
      </p:ext>
    </p:extLst>
  </p:cSld>
</p:sld>
</file>

<file path=ppt/slides/slide8.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0" name="Section label">
            <a:extLst xmlns:a="http://schemas.openxmlformats.org/drawingml/2006/main">
              <a:ext uri="{FF2B5EF4-FFF2-40B4-BE49-F238E27FC236}">
                <a16:creationId xmlns:a16="http://schemas.microsoft.com/office/drawing/2014/main" id="{37D69D6C-51C7-4214-ABFD-5F65EE735C49}"/>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UNSUPERVISED LEARNING</a:t>
            </a:r>
          </a:p>
        </p:txBody>
      </p:sp>
      <p:sp>
        <p:nvSpPr>
          <p:cNvPr id="2" name="Slide title">
            <a:extLst xmlns:a="http://schemas.openxmlformats.org/drawingml/2006/main">
              <a:ext uri="{FF2B5EF4-FFF2-40B4-BE49-F238E27FC236}">
                <a16:creationId xmlns:a16="http://schemas.microsoft.com/office/drawing/2014/main" id="{5DD07B8F-E095-4470-AC50-3988DD369BB5}"/>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Unlabeled discovery prioritizes annotation</a:t>
            </a:r>
          </a:p>
        </p:txBody>
      </p:sp>
      <p:sp>
        <p:nvSpPr>
          <p:cNvPr id="3" name="Section rule">
            <a:extLst xmlns:a="http://schemas.openxmlformats.org/drawingml/2006/main">
              <a:ext uri="{FF2B5EF4-FFF2-40B4-BE49-F238E27FC236}">
                <a16:creationId xmlns:a16="http://schemas.microsoft.com/office/drawing/2014/main" id="{3234EF34-E0B8-4F86-8A0D-9330ED642445}"/>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1254434B-43BB-4939-B149-81EA2637C33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B6EA32D4-B4C8-42D3-82A9-1BCED56F4D71}"/>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7D3064E7-CBE9-4ED7-A20B-6624ADE0FF7D}"/>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08</a:t>
            </a:r>
          </a:p>
        </p:txBody>
      </p:sp>
      <p:sp>
        <p:nvSpPr>
          <p:cNvPr id="7" name="Text">
            <a:extLst xmlns:a="http://schemas.openxmlformats.org/drawingml/2006/main">
              <a:ext uri="{FF2B5EF4-FFF2-40B4-BE49-F238E27FC236}">
                <a16:creationId xmlns:a16="http://schemas.microsoft.com/office/drawing/2014/main" id="{003D66F2-94C4-412A-ABF6-A8149828A994}"/>
              </a:ext>
            </a:extLst>
          </p:cNvPr>
          <p:cNvSpPr>
            <a:spLocks xmlns:a="http://schemas.openxmlformats.org/drawingml/2006/main" noGrp="1"/>
          </p:cNvSpPr>
          <p:nvPr/>
        </p:nvSpPr>
        <p:spPr>
          <a:xfrm xmlns:a="http://schemas.openxmlformats.org/drawingml/2006/main">
            <a:off x="609600" y="1695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Current method</a:t>
            </a:r>
          </a:p>
        </p:txBody>
      </p:sp>
      <p:sp>
        <p:nvSpPr>
          <p:cNvPr id="8" name="Text">
            <a:extLst xmlns:a="http://schemas.openxmlformats.org/drawingml/2006/main">
              <a:ext uri="{FF2B5EF4-FFF2-40B4-BE49-F238E27FC236}">
                <a16:creationId xmlns:a16="http://schemas.microsoft.com/office/drawing/2014/main" id="{1C9EE902-80E1-4018-A58B-43EEB649A4B0}"/>
              </a:ext>
            </a:extLst>
          </p:cNvPr>
          <p:cNvSpPr>
            <a:spLocks xmlns:a="http://schemas.openxmlformats.org/drawingml/2006/main" noGrp="1"/>
          </p:cNvSpPr>
          <p:nvPr/>
        </p:nvSpPr>
        <p:spPr>
          <a:xfrm xmlns:a="http://schemas.openxmlformats.org/drawingml/2006/main">
            <a:off x="609600" y="22288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3F6F4"/>
                </a:solidFill>
                <a:latin typeface="Arial"/>
                <a:ea typeface="Arial"/>
                <a:cs typeface="Arial"/>
              </a:defRPr>
            </a:pPr>
            <a:r>
              <a:rPr sz="1875" b="1">
                <a:solidFill>
                  <a:srgbClr val="F3F6F4"/>
                </a:solidFill>
                <a:latin typeface="Arial"/>
                <a:ea typeface="Arial"/>
                <a:cs typeface="Arial"/>
              </a:rPr>
              <a:t>Narrative text</a:t>
            </a:r>
          </a:p>
        </p:txBody>
      </p:sp>
      <p:sp>
        <p:nvSpPr>
          <p:cNvPr id="9" name="Section rule">
            <a:extLst xmlns:a="http://schemas.openxmlformats.org/drawingml/2006/main">
              <a:ext uri="{FF2B5EF4-FFF2-40B4-BE49-F238E27FC236}">
                <a16:creationId xmlns:a16="http://schemas.microsoft.com/office/drawing/2014/main" id="{5616D9DC-1A48-4EAA-BAF7-5ABCBA38BA89}"/>
              </a:ext>
            </a:extLst>
          </p:cNvPr>
          <p:cNvSpPr>
            <a:spLocks xmlns:a="http://schemas.openxmlformats.org/drawingml/2006/main" noGrp="1"/>
          </p:cNvSpPr>
          <p:nvPr/>
        </p:nvSpPr>
        <p:spPr>
          <a:xfrm xmlns:a="http://schemas.openxmlformats.org/drawingml/2006/main">
            <a:off x="609600" y="2743200"/>
            <a:ext cx="26193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12D39043-7957-43A8-96AF-A67126308A46}"/>
              </a:ext>
            </a:extLst>
          </p:cNvPr>
          <p:cNvSpPr>
            <a:spLocks xmlns:a="http://schemas.openxmlformats.org/drawingml/2006/main" noGrp="1"/>
          </p:cNvSpPr>
          <p:nvPr/>
        </p:nvSpPr>
        <p:spPr>
          <a:xfrm xmlns:a="http://schemas.openxmlformats.org/drawingml/2006/main">
            <a:off x="609600" y="297180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FeaturizeText</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word and character n-grams</a:t>
            </a:r>
          </a:p>
        </p:txBody>
      </p:sp>
      <p:sp>
        <p:nvSpPr>
          <p:cNvPr id="11" name="Section rule">
            <a:extLst xmlns:a="http://schemas.openxmlformats.org/drawingml/2006/main">
              <a:ext uri="{FF2B5EF4-FFF2-40B4-BE49-F238E27FC236}">
                <a16:creationId xmlns:a16="http://schemas.microsoft.com/office/drawing/2014/main" id="{16812428-4EA0-4CA6-85FA-838B6B6C6B5D}"/>
              </a:ext>
            </a:extLst>
          </p:cNvPr>
          <p:cNvSpPr>
            <a:spLocks xmlns:a="http://schemas.openxmlformats.org/drawingml/2006/main" noGrp="1"/>
          </p:cNvSpPr>
          <p:nvPr/>
        </p:nvSpPr>
        <p:spPr>
          <a:xfrm xmlns:a="http://schemas.openxmlformats.org/drawingml/2006/main">
            <a:off x="609600" y="3800475"/>
            <a:ext cx="26193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E3285B2-CE14-43BF-93B7-80AD0FFE4FA0}"/>
              </a:ext>
            </a:extLst>
          </p:cNvPr>
          <p:cNvSpPr>
            <a:spLocks xmlns:a="http://schemas.openxmlformats.org/drawingml/2006/main" noGrp="1"/>
          </p:cNvSpPr>
          <p:nvPr/>
        </p:nvSpPr>
        <p:spPr>
          <a:xfrm xmlns:a="http://schemas.openxmlformats.org/drawingml/2006/main">
            <a:off x="609600" y="40481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K-Means</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exploratory groupings</a:t>
            </a:r>
          </a:p>
        </p:txBody>
      </p:sp>
      <p:sp>
        <p:nvSpPr>
          <p:cNvPr id="13" name="Section rule">
            <a:extLst xmlns:a="http://schemas.openxmlformats.org/drawingml/2006/main">
              <a:ext uri="{FF2B5EF4-FFF2-40B4-BE49-F238E27FC236}">
                <a16:creationId xmlns:a16="http://schemas.microsoft.com/office/drawing/2014/main" id="{D4586672-0A6F-474D-9464-4B21C69D769D}"/>
              </a:ext>
            </a:extLst>
          </p:cNvPr>
          <p:cNvSpPr>
            <a:spLocks xmlns:a="http://schemas.openxmlformats.org/drawingml/2006/main" noGrp="1"/>
          </p:cNvSpPr>
          <p:nvPr/>
        </p:nvSpPr>
        <p:spPr>
          <a:xfrm xmlns:a="http://schemas.openxmlformats.org/drawingml/2006/main">
            <a:off x="609600" y="4867275"/>
            <a:ext cx="2619375"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89DA1F6-77A6-4CB7-90ED-7446603B5610}"/>
              </a:ext>
            </a:extLst>
          </p:cNvPr>
          <p:cNvSpPr>
            <a:spLocks xmlns:a="http://schemas.openxmlformats.org/drawingml/2006/main" noGrp="1"/>
          </p:cNvSpPr>
          <p:nvPr/>
        </p:nvSpPr>
        <p:spPr>
          <a:xfrm xmlns:a="http://schemas.openxmlformats.org/drawingml/2006/main">
            <a:off x="609600" y="512445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Inspect exemplars,</a:t>
            </a:r>
          </a:p>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rare groups, and outliers</a:t>
            </a:r>
          </a:p>
        </p:txBody>
      </p:sp>
      <p:sp>
        <p:nvSpPr>
          <p:cNvPr id="15" name="Diagram shape">
            <a:extLst xmlns:a="http://schemas.openxmlformats.org/drawingml/2006/main">
              <a:ext uri="{FF2B5EF4-FFF2-40B4-BE49-F238E27FC236}">
                <a16:creationId xmlns:a16="http://schemas.microsoft.com/office/drawing/2014/main" id="{21B08EFB-AF1E-4FB3-AC49-AB4DF783119E}"/>
              </a:ext>
            </a:extLst>
          </p:cNvPr>
          <p:cNvSpPr>
            <a:spLocks xmlns:a="http://schemas.openxmlformats.org/drawingml/2006/main" noGrp="1"/>
          </p:cNvSpPr>
          <p:nvPr/>
        </p:nvSpPr>
        <p:spPr>
          <a:xfrm xmlns:a="http://schemas.openxmlformats.org/drawingml/2006/main">
            <a:off x="4429125" y="1743075"/>
            <a:ext cx="9525" cy="409575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6B35FEDD-7436-41BC-8A9C-EEEB789F2C14}"/>
              </a:ext>
            </a:extLst>
          </p:cNvPr>
          <p:cNvSpPr>
            <a:spLocks xmlns:a="http://schemas.openxmlformats.org/drawingml/2006/main" noGrp="1"/>
          </p:cNvSpPr>
          <p:nvPr/>
        </p:nvSpPr>
        <p:spPr>
          <a:xfrm xmlns:a="http://schemas.openxmlformats.org/drawingml/2006/main">
            <a:off x="5000625" y="17430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Use clusters to</a:t>
            </a:r>
          </a:p>
        </p:txBody>
      </p:sp>
      <p:sp>
        <p:nvSpPr>
          <p:cNvPr id="17" name="Text">
            <a:extLst xmlns:a="http://schemas.openxmlformats.org/drawingml/2006/main">
              <a:ext uri="{FF2B5EF4-FFF2-40B4-BE49-F238E27FC236}">
                <a16:creationId xmlns:a16="http://schemas.microsoft.com/office/drawing/2014/main" id="{297DD3D7-BEC5-4220-8E38-89A616D03E75}"/>
              </a:ext>
            </a:extLst>
          </p:cNvPr>
          <p:cNvSpPr>
            <a:spLocks xmlns:a="http://schemas.openxmlformats.org/drawingml/2006/main" noGrp="1"/>
          </p:cNvSpPr>
          <p:nvPr/>
        </p:nvSpPr>
        <p:spPr>
          <a:xfrm xmlns:a="http://schemas.openxmlformats.org/drawingml/2006/main">
            <a:off x="5000625" y="2143125"/>
            <a:ext cx="590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Find lexical modes missing from the gold set.</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Sample annotation batches by cluster and outlier status.</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Choose phenomena for the next synthetic contrast set.</a:t>
            </a:r>
          </a:p>
        </p:txBody>
      </p:sp>
      <p:sp>
        <p:nvSpPr>
          <p:cNvPr id="18" name="Text">
            <a:extLst xmlns:a="http://schemas.openxmlformats.org/drawingml/2006/main">
              <a:ext uri="{FF2B5EF4-FFF2-40B4-BE49-F238E27FC236}">
                <a16:creationId xmlns:a16="http://schemas.microsoft.com/office/drawing/2014/main" id="{855BF357-20B3-4B5B-87F3-F9ED154FBFFA}"/>
              </a:ext>
            </a:extLst>
          </p:cNvPr>
          <p:cNvSpPr>
            <a:spLocks xmlns:a="http://schemas.openxmlformats.org/drawingml/2006/main" noGrp="1"/>
          </p:cNvSpPr>
          <p:nvPr/>
        </p:nvSpPr>
        <p:spPr>
          <a:xfrm xmlns:a="http://schemas.openxmlformats.org/drawingml/2006/main">
            <a:off x="5000625" y="3905250"/>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Human interpretation</a:t>
            </a:r>
          </a:p>
        </p:txBody>
      </p:sp>
      <p:sp>
        <p:nvSpPr>
          <p:cNvPr id="19" name="Text">
            <a:extLst xmlns:a="http://schemas.openxmlformats.org/drawingml/2006/main">
              <a:ext uri="{FF2B5EF4-FFF2-40B4-BE49-F238E27FC236}">
                <a16:creationId xmlns:a16="http://schemas.microsoft.com/office/drawing/2014/main" id="{0BA7D007-1ED8-464B-8CA4-702B6161F0B4}"/>
              </a:ext>
            </a:extLst>
          </p:cNvPr>
          <p:cNvSpPr>
            <a:spLocks xmlns:a="http://schemas.openxmlformats.org/drawingml/2006/main" noGrp="1"/>
          </p:cNvSpPr>
          <p:nvPr/>
        </p:nvSpPr>
        <p:spPr>
          <a:xfrm xmlns:a="http://schemas.openxmlformats.org/drawingml/2006/main">
            <a:off x="5000625" y="4286250"/>
            <a:ext cx="5905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Use cluster IDs as lexical strata for review. Annotators decide whether a group captures a TYM phenomenon. Evaluate model quality against held-out human labels.</a:t>
            </a:r>
          </a:p>
        </p:txBody>
      </p:sp>
    </p:spTree>
    <p:extLst>
      <p:ext uri="{BB962C8B-B14F-4D97-AF65-F5344CB8AC3E}">
        <p14:creationId xmlns:p14="http://schemas.microsoft.com/office/powerpoint/2010/main" val="814519358"/>
      </p:ext>
    </p:extLst>
  </p:cSld>
</p:sld>
</file>

<file path=ppt/slides/slide9.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9" name="Section label">
            <a:extLst xmlns:a="http://schemas.openxmlformats.org/drawingml/2006/main">
              <a:ext uri="{FF2B5EF4-FFF2-40B4-BE49-F238E27FC236}">
                <a16:creationId xmlns:a16="http://schemas.microsoft.com/office/drawing/2014/main" id="{B543C37D-BA0C-4339-987E-3CD54D435607}"/>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UNSUPERVISED LEARNING</a:t>
            </a:r>
          </a:p>
        </p:txBody>
      </p:sp>
      <p:sp>
        <p:nvSpPr>
          <p:cNvPr id="2" name="Slide title">
            <a:extLst xmlns:a="http://schemas.openxmlformats.org/drawingml/2006/main">
              <a:ext uri="{FF2B5EF4-FFF2-40B4-BE49-F238E27FC236}">
                <a16:creationId xmlns:a16="http://schemas.microsoft.com/office/drawing/2014/main" id="{E5ED91DF-BEEA-4DF8-BCCA-64AE506DA64B}"/>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Unlabeled text becomes an annotation sampling frame</a:t>
            </a:r>
          </a:p>
        </p:txBody>
      </p:sp>
      <p:sp>
        <p:nvSpPr>
          <p:cNvPr id="3" name="Section rule">
            <a:extLst xmlns:a="http://schemas.openxmlformats.org/drawingml/2006/main">
              <a:ext uri="{FF2B5EF4-FFF2-40B4-BE49-F238E27FC236}">
                <a16:creationId xmlns:a16="http://schemas.microsoft.com/office/drawing/2014/main" id="{38B7119E-E2B5-4AB7-9AE3-291D92F62B7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FFED8AAD-B174-45F4-9A5D-01754450A04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D6F599B5-2135-44DF-8F64-B01B6A558373}"/>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6047DC74-B133-4077-9501-F42FD20C0B7E}"/>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09</a:t>
            </a:r>
          </a:p>
        </p:txBody>
      </p:sp>
      <p:sp>
        <p:nvSpPr>
          <p:cNvPr id="7" name="Editable workflow node">
            <a:extLst xmlns:a="http://schemas.openxmlformats.org/drawingml/2006/main">
              <a:ext uri="{FF2B5EF4-FFF2-40B4-BE49-F238E27FC236}">
                <a16:creationId xmlns:a16="http://schemas.microsoft.com/office/drawing/2014/main" id="{4BB44A69-D57B-441B-B3EB-0B2569973588}"/>
              </a:ext>
            </a:extLst>
          </p:cNvPr>
          <p:cNvSpPr>
            <a:spLocks xmlns:a="http://schemas.openxmlformats.org/drawingml/2006/main" noGrp="1"/>
          </p:cNvSpPr>
          <p:nvPr/>
        </p:nvSpPr>
        <p:spPr>
          <a:xfrm xmlns:a="http://schemas.openxmlformats.org/drawingml/2006/main">
            <a:off x="60960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8" name="Step number">
            <a:extLst xmlns:a="http://schemas.openxmlformats.org/drawingml/2006/main">
              <a:ext uri="{FF2B5EF4-FFF2-40B4-BE49-F238E27FC236}">
                <a16:creationId xmlns:a16="http://schemas.microsoft.com/office/drawing/2014/main" id="{73B0BFA6-7957-422E-9862-2217CEB3E9AE}"/>
              </a:ext>
            </a:extLst>
          </p:cNvPr>
          <p:cNvSpPr>
            <a:spLocks xmlns:a="http://schemas.openxmlformats.org/drawingml/2006/main" noGrp="1"/>
          </p:cNvSpPr>
          <p:nvPr/>
        </p:nvSpPr>
        <p:spPr>
          <a:xfrm xmlns:a="http://schemas.openxmlformats.org/drawingml/2006/main">
            <a:off x="76200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01</a:t>
            </a:r>
          </a:p>
        </p:txBody>
      </p:sp>
      <p:sp>
        <p:nvSpPr>
          <p:cNvPr id="9" name="Step label">
            <a:extLst xmlns:a="http://schemas.openxmlformats.org/drawingml/2006/main">
              <a:ext uri="{FF2B5EF4-FFF2-40B4-BE49-F238E27FC236}">
                <a16:creationId xmlns:a16="http://schemas.microsoft.com/office/drawing/2014/main" id="{DE500590-7933-4574-AB1A-417B2986746A}"/>
              </a:ext>
            </a:extLst>
          </p:cNvPr>
          <p:cNvSpPr>
            <a:spLocks xmlns:a="http://schemas.openxmlformats.org/drawingml/2006/main" noGrp="1"/>
          </p:cNvSpPr>
          <p:nvPr/>
        </p:nvSpPr>
        <p:spPr>
          <a:xfrm xmlns:a="http://schemas.openxmlformats.org/drawingml/2006/main">
            <a:off x="76200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Narrative pool</a:t>
            </a:r>
          </a:p>
        </p:txBody>
      </p:sp>
      <p:sp>
        <p:nvSpPr>
          <p:cNvPr id="10" name="Step detail">
            <a:extLst xmlns:a="http://schemas.openxmlformats.org/drawingml/2006/main">
              <a:ext uri="{FF2B5EF4-FFF2-40B4-BE49-F238E27FC236}">
                <a16:creationId xmlns:a16="http://schemas.microsoft.com/office/drawing/2014/main" id="{34B3D333-87F3-46D4-9EE2-FAE0EC238A9A}"/>
              </a:ext>
            </a:extLst>
          </p:cNvPr>
          <p:cNvSpPr>
            <a:spLocks xmlns:a="http://schemas.openxmlformats.org/drawingml/2006/main" noGrp="1"/>
          </p:cNvSpPr>
          <p:nvPr/>
        </p:nvSpPr>
        <p:spPr>
          <a:xfrm xmlns:a="http://schemas.openxmlformats.org/drawingml/2006/main">
            <a:off x="76200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Collect unlabeled text under clear rights and privacy rules.</a:t>
            </a:r>
          </a:p>
        </p:txBody>
      </p:sp>
      <p:sp>
        <p:nvSpPr>
          <p:cNvPr id="11" name="Editable workflow node">
            <a:extLst xmlns:a="http://schemas.openxmlformats.org/drawingml/2006/main">
              <a:ext uri="{FF2B5EF4-FFF2-40B4-BE49-F238E27FC236}">
                <a16:creationId xmlns:a16="http://schemas.microsoft.com/office/drawing/2014/main" id="{C4663191-E3FB-4EB2-A586-65083D16B382}"/>
              </a:ext>
            </a:extLst>
          </p:cNvPr>
          <p:cNvSpPr>
            <a:spLocks xmlns:a="http://schemas.openxmlformats.org/drawingml/2006/main" noGrp="1"/>
          </p:cNvSpPr>
          <p:nvPr/>
        </p:nvSpPr>
        <p:spPr>
          <a:xfrm xmlns:a="http://schemas.openxmlformats.org/drawingml/2006/main">
            <a:off x="340995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12" name="Step number">
            <a:extLst xmlns:a="http://schemas.openxmlformats.org/drawingml/2006/main">
              <a:ext uri="{FF2B5EF4-FFF2-40B4-BE49-F238E27FC236}">
                <a16:creationId xmlns:a16="http://schemas.microsoft.com/office/drawing/2014/main" id="{3FE73607-6B21-48D6-9AF5-6A70F7AB9D93}"/>
              </a:ext>
            </a:extLst>
          </p:cNvPr>
          <p:cNvSpPr>
            <a:spLocks xmlns:a="http://schemas.openxmlformats.org/drawingml/2006/main" noGrp="1"/>
          </p:cNvSpPr>
          <p:nvPr/>
        </p:nvSpPr>
        <p:spPr>
          <a:xfrm xmlns:a="http://schemas.openxmlformats.org/drawingml/2006/main">
            <a:off x="356235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02</a:t>
            </a:r>
          </a:p>
        </p:txBody>
      </p:sp>
      <p:sp>
        <p:nvSpPr>
          <p:cNvPr id="13" name="Step label">
            <a:extLst xmlns:a="http://schemas.openxmlformats.org/drawingml/2006/main">
              <a:ext uri="{FF2B5EF4-FFF2-40B4-BE49-F238E27FC236}">
                <a16:creationId xmlns:a16="http://schemas.microsoft.com/office/drawing/2014/main" id="{443147D0-5058-4519-BE56-FFF3CB6A2E2D}"/>
              </a:ext>
            </a:extLst>
          </p:cNvPr>
          <p:cNvSpPr>
            <a:spLocks xmlns:a="http://schemas.openxmlformats.org/drawingml/2006/main" noGrp="1"/>
          </p:cNvSpPr>
          <p:nvPr/>
        </p:nvSpPr>
        <p:spPr>
          <a:xfrm xmlns:a="http://schemas.openxmlformats.org/drawingml/2006/main">
            <a:off x="356235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Cluster review</a:t>
            </a:r>
          </a:p>
        </p:txBody>
      </p:sp>
      <p:sp>
        <p:nvSpPr>
          <p:cNvPr id="14" name="Step detail">
            <a:extLst xmlns:a="http://schemas.openxmlformats.org/drawingml/2006/main">
              <a:ext uri="{FF2B5EF4-FFF2-40B4-BE49-F238E27FC236}">
                <a16:creationId xmlns:a16="http://schemas.microsoft.com/office/drawing/2014/main" id="{3037F9DF-BB50-4A8C-ADC7-2B1D68271234}"/>
              </a:ext>
            </a:extLst>
          </p:cNvPr>
          <p:cNvSpPr>
            <a:spLocks xmlns:a="http://schemas.openxmlformats.org/drawingml/2006/main" noGrp="1"/>
          </p:cNvSpPr>
          <p:nvPr/>
        </p:nvSpPr>
        <p:spPr>
          <a:xfrm xmlns:a="http://schemas.openxmlformats.org/drawingml/2006/main">
            <a:off x="356235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Inspect representative and outlier examples; name candidate strata.</a:t>
            </a:r>
          </a:p>
        </p:txBody>
      </p:sp>
      <p:sp>
        <p:nvSpPr>
          <p:cNvPr id="15" name="Editable workflow node">
            <a:extLst xmlns:a="http://schemas.openxmlformats.org/drawingml/2006/main">
              <a:ext uri="{FF2B5EF4-FFF2-40B4-BE49-F238E27FC236}">
                <a16:creationId xmlns:a16="http://schemas.microsoft.com/office/drawing/2014/main" id="{C6AC7E1D-4EEE-42CF-BA70-1CA1A7AAECBC}"/>
              </a:ext>
            </a:extLst>
          </p:cNvPr>
          <p:cNvSpPr>
            <a:spLocks xmlns:a="http://schemas.openxmlformats.org/drawingml/2006/main" noGrp="1"/>
          </p:cNvSpPr>
          <p:nvPr/>
        </p:nvSpPr>
        <p:spPr>
          <a:xfrm xmlns:a="http://schemas.openxmlformats.org/drawingml/2006/main">
            <a:off x="621030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16" name="Step number">
            <a:extLst xmlns:a="http://schemas.openxmlformats.org/drawingml/2006/main">
              <a:ext uri="{FF2B5EF4-FFF2-40B4-BE49-F238E27FC236}">
                <a16:creationId xmlns:a16="http://schemas.microsoft.com/office/drawing/2014/main" id="{B64F5E89-EEFC-469B-B440-9B30E3FA98A6}"/>
              </a:ext>
            </a:extLst>
          </p:cNvPr>
          <p:cNvSpPr>
            <a:spLocks xmlns:a="http://schemas.openxmlformats.org/drawingml/2006/main" noGrp="1"/>
          </p:cNvSpPr>
          <p:nvPr/>
        </p:nvSpPr>
        <p:spPr>
          <a:xfrm xmlns:a="http://schemas.openxmlformats.org/drawingml/2006/main">
            <a:off x="636270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03</a:t>
            </a:r>
          </a:p>
        </p:txBody>
      </p:sp>
      <p:sp>
        <p:nvSpPr>
          <p:cNvPr id="17" name="Step label">
            <a:extLst xmlns:a="http://schemas.openxmlformats.org/drawingml/2006/main">
              <a:ext uri="{FF2B5EF4-FFF2-40B4-BE49-F238E27FC236}">
                <a16:creationId xmlns:a16="http://schemas.microsoft.com/office/drawing/2014/main" id="{1059FD82-722A-4D6E-BEC3-6EB7D6D7B9CC}"/>
              </a:ext>
            </a:extLst>
          </p:cNvPr>
          <p:cNvSpPr>
            <a:spLocks xmlns:a="http://schemas.openxmlformats.org/drawingml/2006/main" noGrp="1"/>
          </p:cNvSpPr>
          <p:nvPr/>
        </p:nvSpPr>
        <p:spPr>
          <a:xfrm xmlns:a="http://schemas.openxmlformats.org/drawingml/2006/main">
            <a:off x="636270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Human annotation</a:t>
            </a:r>
          </a:p>
        </p:txBody>
      </p:sp>
      <p:sp>
        <p:nvSpPr>
          <p:cNvPr id="18" name="Step detail">
            <a:extLst xmlns:a="http://schemas.openxmlformats.org/drawingml/2006/main">
              <a:ext uri="{FF2B5EF4-FFF2-40B4-BE49-F238E27FC236}">
                <a16:creationId xmlns:a16="http://schemas.microsoft.com/office/drawing/2014/main" id="{110C3EE8-D271-43F1-B98D-77AF490E15A2}"/>
              </a:ext>
            </a:extLst>
          </p:cNvPr>
          <p:cNvSpPr>
            <a:spLocks xmlns:a="http://schemas.openxmlformats.org/drawingml/2006/main" noGrp="1"/>
          </p:cNvSpPr>
          <p:nvPr/>
        </p:nvSpPr>
        <p:spPr>
          <a:xfrm xmlns:a="http://schemas.openxmlformats.org/drawingml/2006/main">
            <a:off x="636270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Apply written TYM guidelines and adjudicate disagreement.</a:t>
            </a:r>
          </a:p>
        </p:txBody>
      </p:sp>
      <p:sp>
        <p:nvSpPr>
          <p:cNvPr id="19" name="Editable workflow node">
            <a:extLst xmlns:a="http://schemas.openxmlformats.org/drawingml/2006/main">
              <a:ext uri="{FF2B5EF4-FFF2-40B4-BE49-F238E27FC236}">
                <a16:creationId xmlns:a16="http://schemas.microsoft.com/office/drawing/2014/main" id="{23B673F8-6417-47A4-A7A8-94DC0141D36C}"/>
              </a:ext>
            </a:extLst>
          </p:cNvPr>
          <p:cNvSpPr>
            <a:spLocks xmlns:a="http://schemas.openxmlformats.org/drawingml/2006/main" noGrp="1"/>
          </p:cNvSpPr>
          <p:nvPr/>
        </p:nvSpPr>
        <p:spPr>
          <a:xfrm xmlns:a="http://schemas.openxmlformats.org/drawingml/2006/main">
            <a:off x="9010650" y="2190750"/>
            <a:ext cx="2324100" cy="1524000"/>
          </a:xfrm>
          <a:prstGeom xmlns:a="http://schemas.openxmlformats.org/drawingml/2006/main" prst="roundRect">
            <a:avLst>
              <a:gd name="adj" fmla="val 5000"/>
            </a:avLst>
          </a:prstGeom>
          <a:solidFill xmlns:a="http://schemas.openxmlformats.org/drawingml/2006/main">
            <a:srgbClr val="272D29"/>
          </a:solidFill>
          <a:ln xmlns:a="http://schemas.openxmlformats.org/drawingml/2006/main" w="9525">
            <a:solidFill>
              <a:srgbClr val="47534B"/>
            </a:solidFill>
          </a:ln>
        </p:spPr>
      </p:sp>
      <p:sp>
        <p:nvSpPr>
          <p:cNvPr id="20" name="Step number">
            <a:extLst xmlns:a="http://schemas.openxmlformats.org/drawingml/2006/main">
              <a:ext uri="{FF2B5EF4-FFF2-40B4-BE49-F238E27FC236}">
                <a16:creationId xmlns:a16="http://schemas.microsoft.com/office/drawing/2014/main" id="{5607241A-D8C2-4DA0-B019-B0C13DDC000E}"/>
              </a:ext>
            </a:extLst>
          </p:cNvPr>
          <p:cNvSpPr>
            <a:spLocks xmlns:a="http://schemas.openxmlformats.org/drawingml/2006/main" noGrp="1"/>
          </p:cNvSpPr>
          <p:nvPr/>
        </p:nvSpPr>
        <p:spPr>
          <a:xfrm xmlns:a="http://schemas.openxmlformats.org/drawingml/2006/main">
            <a:off x="9163050" y="23336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04</a:t>
            </a:r>
          </a:p>
        </p:txBody>
      </p:sp>
      <p:sp>
        <p:nvSpPr>
          <p:cNvPr id="21" name="Step label">
            <a:extLst xmlns:a="http://schemas.openxmlformats.org/drawingml/2006/main">
              <a:ext uri="{FF2B5EF4-FFF2-40B4-BE49-F238E27FC236}">
                <a16:creationId xmlns:a16="http://schemas.microsoft.com/office/drawing/2014/main" id="{3F607A61-A97C-4620-8E2D-F60B6C674352}"/>
              </a:ext>
            </a:extLst>
          </p:cNvPr>
          <p:cNvSpPr>
            <a:spLocks xmlns:a="http://schemas.openxmlformats.org/drawingml/2006/main" noGrp="1"/>
          </p:cNvSpPr>
          <p:nvPr/>
        </p:nvSpPr>
        <p:spPr>
          <a:xfrm xmlns:a="http://schemas.openxmlformats.org/drawingml/2006/main">
            <a:off x="9163050" y="25908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Training candidates</a:t>
            </a:r>
          </a:p>
        </p:txBody>
      </p:sp>
      <p:sp>
        <p:nvSpPr>
          <p:cNvPr id="22" name="Step detail">
            <a:extLst xmlns:a="http://schemas.openxmlformats.org/drawingml/2006/main">
              <a:ext uri="{FF2B5EF4-FFF2-40B4-BE49-F238E27FC236}">
                <a16:creationId xmlns:a16="http://schemas.microsoft.com/office/drawing/2014/main" id="{EF79EC84-DE9B-44AC-89FB-3BCC70D847E5}"/>
              </a:ext>
            </a:extLst>
          </p:cNvPr>
          <p:cNvSpPr>
            <a:spLocks xmlns:a="http://schemas.openxmlformats.org/drawingml/2006/main" noGrp="1"/>
          </p:cNvSpPr>
          <p:nvPr/>
        </p:nvSpPr>
        <p:spPr>
          <a:xfrm xmlns:a="http://schemas.openxmlformats.org/drawingml/2006/main">
            <a:off x="9163050" y="2924175"/>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AB8B0"/>
                </a:solidFill>
                <a:latin typeface="Arial"/>
                <a:ea typeface="Arial"/>
                <a:cs typeface="Arial"/>
              </a:defRPr>
            </a:pPr>
            <a:r>
              <a:rPr sz="1350" b="0">
                <a:solidFill>
                  <a:srgbClr val="AAB8B0"/>
                </a:solidFill>
                <a:latin typeface="Arial"/>
                <a:ea typeface="Arial"/>
                <a:cs typeface="Arial"/>
              </a:rPr>
              <a:t>Generate targeted descendants from train-split parents only.</a:t>
            </a:r>
          </a:p>
        </p:txBody>
      </p:sp>
      <p:sp>
        <p:nvSpPr>
          <p:cNvPr id="23" name="Diagram connector">
            <a:extLst xmlns:a="http://schemas.openxmlformats.org/drawingml/2006/main">
              <a:ext uri="{FF2B5EF4-FFF2-40B4-BE49-F238E27FC236}">
                <a16:creationId xmlns:a16="http://schemas.microsoft.com/office/drawing/2014/main" id="{1F440984-F59C-402A-8EFF-18994C68C017}"/>
              </a:ext>
            </a:extLst>
          </p:cNvPr>
          <p:cNvSpPr>
            <a:spLocks xmlns:a="http://schemas.openxmlformats.org/drawingml/2006/main" noGrp="1"/>
          </p:cNvSpPr>
          <p:nvPr/>
        </p:nvSpPr>
        <p:spPr>
          <a:xfrm xmlns:a="http://schemas.openxmlformats.org/drawingml/2006/main">
            <a:off x="2971800" y="2943225"/>
            <a:ext cx="400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4" name="Diagram connector">
            <a:extLst xmlns:a="http://schemas.openxmlformats.org/drawingml/2006/main">
              <a:ext uri="{FF2B5EF4-FFF2-40B4-BE49-F238E27FC236}">
                <a16:creationId xmlns:a16="http://schemas.microsoft.com/office/drawing/2014/main" id="{1492FF95-05B6-40D8-B07B-C13189BAEF44}"/>
              </a:ext>
            </a:extLst>
          </p:cNvPr>
          <p:cNvSpPr>
            <a:spLocks xmlns:a="http://schemas.openxmlformats.org/drawingml/2006/main" noGrp="1"/>
          </p:cNvSpPr>
          <p:nvPr/>
        </p:nvSpPr>
        <p:spPr>
          <a:xfrm xmlns:a="http://schemas.openxmlformats.org/drawingml/2006/main">
            <a:off x="5772150" y="2943225"/>
            <a:ext cx="400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5" name="Diagram connector">
            <a:extLst xmlns:a="http://schemas.openxmlformats.org/drawingml/2006/main">
              <a:ext uri="{FF2B5EF4-FFF2-40B4-BE49-F238E27FC236}">
                <a16:creationId xmlns:a16="http://schemas.microsoft.com/office/drawing/2014/main" id="{90E8CA65-4495-4640-A31A-E2715972DF1C}"/>
              </a:ext>
            </a:extLst>
          </p:cNvPr>
          <p:cNvSpPr>
            <a:spLocks xmlns:a="http://schemas.openxmlformats.org/drawingml/2006/main" noGrp="1"/>
          </p:cNvSpPr>
          <p:nvPr/>
        </p:nvSpPr>
        <p:spPr>
          <a:xfrm xmlns:a="http://schemas.openxmlformats.org/drawingml/2006/main">
            <a:off x="8572500" y="2943225"/>
            <a:ext cx="400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6" name="Section rule">
            <a:extLst xmlns:a="http://schemas.openxmlformats.org/drawingml/2006/main">
              <a:ext uri="{FF2B5EF4-FFF2-40B4-BE49-F238E27FC236}">
                <a16:creationId xmlns:a16="http://schemas.microsoft.com/office/drawing/2014/main" id="{D851AB81-8BDD-4B26-A5A7-A03CA625D4C3}"/>
              </a:ext>
            </a:extLst>
          </p:cNvPr>
          <p:cNvSpPr>
            <a:spLocks xmlns:a="http://schemas.openxmlformats.org/drawingml/2006/main" noGrp="1"/>
          </p:cNvSpPr>
          <p:nvPr/>
        </p:nvSpPr>
        <p:spPr>
          <a:xfrm xmlns:a="http://schemas.openxmlformats.org/drawingml/2006/main">
            <a:off x="609600" y="43434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23002BC8-DBE4-447E-8DF9-0A6E4753BD7C}"/>
              </a:ext>
            </a:extLst>
          </p:cNvPr>
          <p:cNvSpPr>
            <a:spLocks xmlns:a="http://schemas.openxmlformats.org/drawingml/2006/main" noGrp="1"/>
          </p:cNvSpPr>
          <p:nvPr/>
        </p:nvSpPr>
        <p:spPr>
          <a:xfrm xmlns:a="http://schemas.openxmlformats.org/drawingml/2006/main">
            <a:off x="609600" y="4600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Keep two ledgers</a:t>
            </a:r>
          </a:p>
        </p:txBody>
      </p:sp>
      <p:sp>
        <p:nvSpPr>
          <p:cNvPr id="28" name="Text">
            <a:extLst xmlns:a="http://schemas.openxmlformats.org/drawingml/2006/main">
              <a:ext uri="{FF2B5EF4-FFF2-40B4-BE49-F238E27FC236}">
                <a16:creationId xmlns:a16="http://schemas.microsoft.com/office/drawing/2014/main" id="{C5793702-E3C6-44BF-B43F-78BE5D5E89CE}"/>
              </a:ext>
            </a:extLst>
          </p:cNvPr>
          <p:cNvSpPr>
            <a:spLocks xmlns:a="http://schemas.openxmlformats.org/drawingml/2006/main" noGrp="1"/>
          </p:cNvSpPr>
          <p:nvPr/>
        </p:nvSpPr>
        <p:spPr>
          <a:xfrm xmlns:a="http://schemas.openxmlformats.org/drawingml/2006/main">
            <a:off x="609600" y="5019675"/>
            <a:ext cx="10401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Annotation ledger: source, annotator, guideline version, adjudication, and document split.</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Generation ledger: parent, phenomenon, transformation, generator version, and review status.</a:t>
            </a:r>
          </a:p>
        </p:txBody>
      </p:sp>
    </p:spTree>
    <p:extLst>
      <p:ext uri="{BB962C8B-B14F-4D97-AF65-F5344CB8AC3E}">
        <p14:creationId xmlns:p14="http://schemas.microsoft.com/office/powerpoint/2010/main" val="1585032979"/>
      </p:ext>
    </p:extLst>
  </p:cSld>
</p:sld>
</file>

<file path=ppt/slides/slide10.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9" name="Section label">
            <a:extLst xmlns:a="http://schemas.openxmlformats.org/drawingml/2006/main">
              <a:ext uri="{FF2B5EF4-FFF2-40B4-BE49-F238E27FC236}">
                <a16:creationId xmlns:a16="http://schemas.microsoft.com/office/drawing/2014/main" id="{BDFE6EF8-E7A4-4A42-9CBD-E1B6A6283ACC}"/>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EVALUATION DESIGN</a:t>
            </a:r>
          </a:p>
        </p:txBody>
      </p:sp>
      <p:sp>
        <p:nvSpPr>
          <p:cNvPr id="2" name="Slide title">
            <a:extLst xmlns:a="http://schemas.openxmlformats.org/drawingml/2006/main">
              <a:ext uri="{FF2B5EF4-FFF2-40B4-BE49-F238E27FC236}">
                <a16:creationId xmlns:a16="http://schemas.microsoft.com/office/drawing/2014/main" id="{9EEECB16-AD43-4646-A4E8-596F660FC415}"/>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Split human gold before generating descendants</a:t>
            </a:r>
          </a:p>
        </p:txBody>
      </p:sp>
      <p:sp>
        <p:nvSpPr>
          <p:cNvPr id="3" name="Section rule">
            <a:extLst xmlns:a="http://schemas.openxmlformats.org/drawingml/2006/main">
              <a:ext uri="{FF2B5EF4-FFF2-40B4-BE49-F238E27FC236}">
                <a16:creationId xmlns:a16="http://schemas.microsoft.com/office/drawing/2014/main" id="{58387B62-53E9-471C-8356-3299036BBA4C}"/>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090702D3-5F3B-483A-BE61-494349E9A4B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3F933824-A02B-45D1-868A-35BC4AF06BE5}"/>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329E793E-950D-4CC8-B3F9-24E811C58287}"/>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10</a:t>
            </a:r>
          </a:p>
        </p:txBody>
      </p:sp>
      <p:sp>
        <p:nvSpPr>
          <p:cNvPr id="7" name="Text">
            <a:extLst xmlns:a="http://schemas.openxmlformats.org/drawingml/2006/main">
              <a:ext uri="{FF2B5EF4-FFF2-40B4-BE49-F238E27FC236}">
                <a16:creationId xmlns:a16="http://schemas.microsoft.com/office/drawing/2014/main" id="{97038FA4-ED75-46BE-9DE3-8EED034A83A5}"/>
              </a:ext>
            </a:extLst>
          </p:cNvPr>
          <p:cNvSpPr>
            <a:spLocks xmlns:a="http://schemas.openxmlformats.org/drawingml/2006/main" noGrp="1"/>
          </p:cNvSpPr>
          <p:nvPr/>
        </p:nvSpPr>
        <p:spPr>
          <a:xfrm xmlns:a="http://schemas.openxmlformats.org/drawingml/2006/main">
            <a:off x="609600" y="1628775"/>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3F6F4"/>
                </a:solidFill>
                <a:latin typeface="Arial"/>
                <a:ea typeface="Arial"/>
                <a:cs typeface="Arial"/>
              </a:defRPr>
            </a:pPr>
            <a:r>
              <a:rPr sz="2025" b="1">
                <a:solidFill>
                  <a:srgbClr val="F3F6F4"/>
                </a:solidFill>
                <a:latin typeface="Arial"/>
                <a:ea typeface="Arial"/>
                <a:cs typeface="Arial"/>
              </a:rPr>
              <a:t>Partition documents or chapters first.</a:t>
            </a:r>
          </a:p>
        </p:txBody>
      </p:sp>
      <p:sp>
        <p:nvSpPr>
          <p:cNvPr id="8" name="Text">
            <a:extLst xmlns:a="http://schemas.openxmlformats.org/drawingml/2006/main">
              <a:ext uri="{FF2B5EF4-FFF2-40B4-BE49-F238E27FC236}">
                <a16:creationId xmlns:a16="http://schemas.microsoft.com/office/drawing/2014/main" id="{C14A4BB1-8DC2-4DA9-9432-B1E8E9063F08}"/>
              </a:ext>
            </a:extLst>
          </p:cNvPr>
          <p:cNvSpPr>
            <a:spLocks xmlns:a="http://schemas.openxmlformats.org/drawingml/2006/main" noGrp="1"/>
          </p:cNvSpPr>
          <p:nvPr/>
        </p:nvSpPr>
        <p:spPr>
          <a:xfrm xmlns:a="http://schemas.openxmlformats.org/drawingml/2006/main">
            <a:off x="609600" y="2076450"/>
            <a:ext cx="876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AAB8B0"/>
                </a:solidFill>
                <a:latin typeface="Arial"/>
                <a:ea typeface="Arial"/>
                <a:cs typeface="Arial"/>
              </a:defRPr>
            </a:pPr>
            <a:r>
              <a:rPr sz="1575" b="0">
                <a:solidFill>
                  <a:srgbClr val="AAB8B0"/>
                </a:solidFill>
                <a:latin typeface="Arial"/>
                <a:ea typeface="Arial"/>
                <a:cs typeface="Arial"/>
              </a:rPr>
              <a:t>All synthetic descendants inherit the parent group and stay in train.</a:t>
            </a:r>
          </a:p>
        </p:txBody>
      </p:sp>
      <p:sp>
        <p:nvSpPr>
          <p:cNvPr id="9" name="Evaluation partition">
            <a:extLst xmlns:a="http://schemas.openxmlformats.org/drawingml/2006/main">
              <a:ext uri="{FF2B5EF4-FFF2-40B4-BE49-F238E27FC236}">
                <a16:creationId xmlns:a16="http://schemas.microsoft.com/office/drawing/2014/main" id="{E03784A5-8DE2-44A6-A68C-CCD867BED2E5}"/>
              </a:ext>
            </a:extLst>
          </p:cNvPr>
          <p:cNvSpPr>
            <a:spLocks xmlns:a="http://schemas.openxmlformats.org/drawingml/2006/main" noGrp="1"/>
          </p:cNvSpPr>
          <p:nvPr/>
        </p:nvSpPr>
        <p:spPr>
          <a:xfrm xmlns:a="http://schemas.openxmlformats.org/drawingml/2006/main">
            <a:off x="609600" y="2981325"/>
            <a:ext cx="3286125" cy="1962150"/>
          </a:xfrm>
          <a:prstGeom xmlns:a="http://schemas.openxmlformats.org/drawingml/2006/main" prst="rect">
            <a:avLst/>
          </a:prstGeom>
          <a:solidFill xmlns:a="http://schemas.openxmlformats.org/drawingml/2006/main">
            <a:srgbClr val="272D29"/>
          </a:solidFill>
          <a:ln xmlns:a="http://schemas.openxmlformats.org/drawingml/2006/main" w="19050">
            <a:solidFill>
              <a:srgbClr val="62DDA8"/>
            </a:solidFill>
          </a:ln>
        </p:spPr>
      </p:sp>
      <p:sp>
        <p:nvSpPr>
          <p:cNvPr id="10" name="Text">
            <a:extLst xmlns:a="http://schemas.openxmlformats.org/drawingml/2006/main">
              <a:ext uri="{FF2B5EF4-FFF2-40B4-BE49-F238E27FC236}">
                <a16:creationId xmlns:a16="http://schemas.microsoft.com/office/drawing/2014/main" id="{7663F9B7-2043-46F1-8941-5463256B795A}"/>
              </a:ext>
            </a:extLst>
          </p:cNvPr>
          <p:cNvSpPr>
            <a:spLocks xmlns:a="http://schemas.openxmlformats.org/drawingml/2006/main" noGrp="1"/>
          </p:cNvSpPr>
          <p:nvPr/>
        </p:nvSpPr>
        <p:spPr>
          <a:xfrm xmlns:a="http://schemas.openxmlformats.org/drawingml/2006/main">
            <a:off x="800100" y="3171825"/>
            <a:ext cx="276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TRAIN</a:t>
            </a:r>
          </a:p>
        </p:txBody>
      </p:sp>
      <p:sp>
        <p:nvSpPr>
          <p:cNvPr id="11" name="Text">
            <a:extLst xmlns:a="http://schemas.openxmlformats.org/drawingml/2006/main">
              <a:ext uri="{FF2B5EF4-FFF2-40B4-BE49-F238E27FC236}">
                <a16:creationId xmlns:a16="http://schemas.microsoft.com/office/drawing/2014/main" id="{93547961-7231-4C29-A096-8E2FF1AE7832}"/>
              </a:ext>
            </a:extLst>
          </p:cNvPr>
          <p:cNvSpPr>
            <a:spLocks xmlns:a="http://schemas.openxmlformats.org/drawingml/2006/main" noGrp="1"/>
          </p:cNvSpPr>
          <p:nvPr/>
        </p:nvSpPr>
        <p:spPr>
          <a:xfrm xmlns:a="http://schemas.openxmlformats.org/drawingml/2006/main">
            <a:off x="800100" y="3657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Adjudicated human train</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 synthetic descendants</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 allowed seed demos</a:t>
            </a:r>
          </a:p>
        </p:txBody>
      </p:sp>
      <p:sp>
        <p:nvSpPr>
          <p:cNvPr id="12" name="Evaluation partition">
            <a:extLst xmlns:a="http://schemas.openxmlformats.org/drawingml/2006/main">
              <a:ext uri="{FF2B5EF4-FFF2-40B4-BE49-F238E27FC236}">
                <a16:creationId xmlns:a16="http://schemas.microsoft.com/office/drawing/2014/main" id="{E356561E-8111-4362-8469-C9DBF4226D36}"/>
              </a:ext>
            </a:extLst>
          </p:cNvPr>
          <p:cNvSpPr>
            <a:spLocks xmlns:a="http://schemas.openxmlformats.org/drawingml/2006/main" noGrp="1"/>
          </p:cNvSpPr>
          <p:nvPr/>
        </p:nvSpPr>
        <p:spPr>
          <a:xfrm xmlns:a="http://schemas.openxmlformats.org/drawingml/2006/main">
            <a:off x="4343400" y="2981325"/>
            <a:ext cx="3286125" cy="1962150"/>
          </a:xfrm>
          <a:prstGeom xmlns:a="http://schemas.openxmlformats.org/drawingml/2006/main" prst="rect">
            <a:avLst/>
          </a:prstGeom>
          <a:solidFill xmlns:a="http://schemas.openxmlformats.org/drawingml/2006/main">
            <a:srgbClr val="272D29"/>
          </a:solidFill>
          <a:ln xmlns:a="http://schemas.openxmlformats.org/drawingml/2006/main" w="19050">
            <a:solidFill>
              <a:srgbClr val="F0C36A"/>
            </a:solidFill>
          </a:ln>
        </p:spPr>
      </p:sp>
      <p:sp>
        <p:nvSpPr>
          <p:cNvPr id="13" name="Text">
            <a:extLst xmlns:a="http://schemas.openxmlformats.org/drawingml/2006/main">
              <a:ext uri="{FF2B5EF4-FFF2-40B4-BE49-F238E27FC236}">
                <a16:creationId xmlns:a16="http://schemas.microsoft.com/office/drawing/2014/main" id="{DDB31D00-B1BD-491C-AD0C-9FC9C60151C2}"/>
              </a:ext>
            </a:extLst>
          </p:cNvPr>
          <p:cNvSpPr>
            <a:spLocks xmlns:a="http://schemas.openxmlformats.org/drawingml/2006/main" noGrp="1"/>
          </p:cNvSpPr>
          <p:nvPr/>
        </p:nvSpPr>
        <p:spPr>
          <a:xfrm xmlns:a="http://schemas.openxmlformats.org/drawingml/2006/main">
            <a:off x="4533900" y="3171825"/>
            <a:ext cx="276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0C36A"/>
                </a:solidFill>
                <a:latin typeface="Arial"/>
                <a:ea typeface="Arial"/>
                <a:cs typeface="Arial"/>
              </a:defRPr>
            </a:pPr>
            <a:r>
              <a:rPr sz="1425" b="1">
                <a:solidFill>
                  <a:srgbClr val="F0C36A"/>
                </a:solidFill>
                <a:latin typeface="Arial"/>
                <a:ea typeface="Arial"/>
                <a:cs typeface="Arial"/>
              </a:rPr>
              <a:t>DEV</a:t>
            </a:r>
          </a:p>
        </p:txBody>
      </p:sp>
      <p:sp>
        <p:nvSpPr>
          <p:cNvPr id="14" name="Text">
            <a:extLst xmlns:a="http://schemas.openxmlformats.org/drawingml/2006/main">
              <a:ext uri="{FF2B5EF4-FFF2-40B4-BE49-F238E27FC236}">
                <a16:creationId xmlns:a16="http://schemas.microsoft.com/office/drawing/2014/main" id="{73A07A49-410E-4E25-B785-A7919C9B7A51}"/>
              </a:ext>
            </a:extLst>
          </p:cNvPr>
          <p:cNvSpPr>
            <a:spLocks xmlns:a="http://schemas.openxmlformats.org/drawingml/2006/main" noGrp="1"/>
          </p:cNvSpPr>
          <p:nvPr/>
        </p:nvSpPr>
        <p:spPr>
          <a:xfrm xmlns:a="http://schemas.openxmlformats.org/drawingml/2006/main">
            <a:off x="4533900" y="3657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Human gold only</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Model and ratio selection</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No synthetic descendants</a:t>
            </a:r>
          </a:p>
        </p:txBody>
      </p:sp>
      <p:sp>
        <p:nvSpPr>
          <p:cNvPr id="15" name="Evaluation partition">
            <a:extLst xmlns:a="http://schemas.openxmlformats.org/drawingml/2006/main">
              <a:ext uri="{FF2B5EF4-FFF2-40B4-BE49-F238E27FC236}">
                <a16:creationId xmlns:a16="http://schemas.microsoft.com/office/drawing/2014/main" id="{86C12FB0-DD5A-4A19-993C-84A00BD0F4C0}"/>
              </a:ext>
            </a:extLst>
          </p:cNvPr>
          <p:cNvSpPr>
            <a:spLocks xmlns:a="http://schemas.openxmlformats.org/drawingml/2006/main" noGrp="1"/>
          </p:cNvSpPr>
          <p:nvPr/>
        </p:nvSpPr>
        <p:spPr>
          <a:xfrm xmlns:a="http://schemas.openxmlformats.org/drawingml/2006/main">
            <a:off x="8077200" y="2981325"/>
            <a:ext cx="3286125" cy="1962150"/>
          </a:xfrm>
          <a:prstGeom xmlns:a="http://schemas.openxmlformats.org/drawingml/2006/main" prst="rect">
            <a:avLst/>
          </a:prstGeom>
          <a:solidFill xmlns:a="http://schemas.openxmlformats.org/drawingml/2006/main">
            <a:srgbClr val="272D29"/>
          </a:solidFill>
          <a:ln xmlns:a="http://schemas.openxmlformats.org/drawingml/2006/main" w="19050">
            <a:solidFill>
              <a:srgbClr val="E58E81"/>
            </a:solidFill>
          </a:ln>
        </p:spPr>
      </p:sp>
      <p:sp>
        <p:nvSpPr>
          <p:cNvPr id="16" name="Text">
            <a:extLst xmlns:a="http://schemas.openxmlformats.org/drawingml/2006/main">
              <a:ext uri="{FF2B5EF4-FFF2-40B4-BE49-F238E27FC236}">
                <a16:creationId xmlns:a16="http://schemas.microsoft.com/office/drawing/2014/main" id="{B771B8FC-A346-442B-B3E6-E8861BFA5718}"/>
              </a:ext>
            </a:extLst>
          </p:cNvPr>
          <p:cNvSpPr>
            <a:spLocks xmlns:a="http://schemas.openxmlformats.org/drawingml/2006/main" noGrp="1"/>
          </p:cNvSpPr>
          <p:nvPr/>
        </p:nvSpPr>
        <p:spPr>
          <a:xfrm xmlns:a="http://schemas.openxmlformats.org/drawingml/2006/main">
            <a:off x="8267700" y="3171825"/>
            <a:ext cx="276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E58E81"/>
                </a:solidFill>
                <a:latin typeface="Arial"/>
                <a:ea typeface="Arial"/>
                <a:cs typeface="Arial"/>
              </a:defRPr>
            </a:pPr>
            <a:r>
              <a:rPr sz="1425" b="1">
                <a:solidFill>
                  <a:srgbClr val="E58E81"/>
                </a:solidFill>
                <a:latin typeface="Arial"/>
                <a:ea typeface="Arial"/>
                <a:cs typeface="Arial"/>
              </a:rPr>
              <a:t>TEST</a:t>
            </a:r>
          </a:p>
        </p:txBody>
      </p:sp>
      <p:sp>
        <p:nvSpPr>
          <p:cNvPr id="17" name="Text">
            <a:extLst xmlns:a="http://schemas.openxmlformats.org/drawingml/2006/main">
              <a:ext uri="{FF2B5EF4-FFF2-40B4-BE49-F238E27FC236}">
                <a16:creationId xmlns:a16="http://schemas.microsoft.com/office/drawing/2014/main" id="{AED3E6F8-3EF6-45DD-B26C-2A5810F975E0}"/>
              </a:ext>
            </a:extLst>
          </p:cNvPr>
          <p:cNvSpPr>
            <a:spLocks xmlns:a="http://schemas.openxmlformats.org/drawingml/2006/main" noGrp="1"/>
          </p:cNvSpPr>
          <p:nvPr/>
        </p:nvSpPr>
        <p:spPr>
          <a:xfrm xmlns:a="http://schemas.openxmlformats.org/drawingml/2006/main">
            <a:off x="8267700" y="3657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Human gold only</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Locked until final scoring</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No generator or chapter leakage</a:t>
            </a:r>
          </a:p>
        </p:txBody>
      </p:sp>
      <p:sp>
        <p:nvSpPr>
          <p:cNvPr id="18" name="Text">
            <a:extLst xmlns:a="http://schemas.openxmlformats.org/drawingml/2006/main">
              <a:ext uri="{FF2B5EF4-FFF2-40B4-BE49-F238E27FC236}">
                <a16:creationId xmlns:a16="http://schemas.microsoft.com/office/drawing/2014/main" id="{FD9F8B86-198B-4B9B-8E3B-F207C560A736}"/>
              </a:ext>
            </a:extLst>
          </p:cNvPr>
          <p:cNvSpPr>
            <a:spLocks xmlns:a="http://schemas.openxmlformats.org/drawingml/2006/main" noGrp="1"/>
          </p:cNvSpPr>
          <p:nvPr/>
        </p:nvSpPr>
        <p:spPr>
          <a:xfrm xmlns:a="http://schemas.openxmlformats.org/drawingml/2006/main">
            <a:off x="609600" y="54673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9AEBCA"/>
                </a:solidFill>
                <a:latin typeface="Arial"/>
                <a:ea typeface="Arial"/>
                <a:cs typeface="Arial"/>
              </a:defRPr>
            </a:pPr>
            <a:r>
              <a:rPr sz="1575" b="1">
                <a:solidFill>
                  <a:srgbClr val="9AEBCA"/>
                </a:solidFill>
                <a:latin typeface="Arial"/>
                <a:ea typeface="Arial"/>
                <a:cs typeface="Arial"/>
              </a:rPr>
              <a:t>Hold out generator families as a separate stress test.</a:t>
            </a:r>
          </a:p>
        </p:txBody>
      </p:sp>
    </p:spTree>
    <p:extLst>
      <p:ext uri="{BB962C8B-B14F-4D97-AF65-F5344CB8AC3E}">
        <p14:creationId xmlns:p14="http://schemas.microsoft.com/office/powerpoint/2010/main" val="411700972"/>
      </p:ext>
    </p:extLst>
  </p:cSld>
</p:sld>
</file>

<file path=ppt/slides/slide11.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8" name="Section label">
            <a:extLst xmlns:a="http://schemas.openxmlformats.org/drawingml/2006/main">
              <a:ext uri="{FF2B5EF4-FFF2-40B4-BE49-F238E27FC236}">
                <a16:creationId xmlns:a16="http://schemas.microsoft.com/office/drawing/2014/main" id="{E636E676-FEF7-4CF4-B751-960D94B3CBC2}"/>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EVALUATION DESIGN</a:t>
            </a:r>
          </a:p>
        </p:txBody>
      </p:sp>
      <p:sp>
        <p:nvSpPr>
          <p:cNvPr id="2" name="Slide title">
            <a:extLst xmlns:a="http://schemas.openxmlformats.org/drawingml/2006/main">
              <a:ext uri="{FF2B5EF4-FFF2-40B4-BE49-F238E27FC236}">
                <a16:creationId xmlns:a16="http://schemas.microsoft.com/office/drawing/2014/main" id="{88357693-50B2-4DF5-8A68-484E6063939F}"/>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Ablations isolate the value of synthetic data</a:t>
            </a:r>
          </a:p>
        </p:txBody>
      </p:sp>
      <p:sp>
        <p:nvSpPr>
          <p:cNvPr id="3" name="Section rule">
            <a:extLst xmlns:a="http://schemas.openxmlformats.org/drawingml/2006/main">
              <a:ext uri="{FF2B5EF4-FFF2-40B4-BE49-F238E27FC236}">
                <a16:creationId xmlns:a16="http://schemas.microsoft.com/office/drawing/2014/main" id="{96AB43E9-2599-46D5-B9BF-0802FD3B1F6D}"/>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9213E36A-C0DD-4365-8369-22FF94473AB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DF463D6D-81A4-4423-972B-C018BE7C034B}"/>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C91B29DD-D018-4357-B8D4-B43283C62254}"/>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11</a:t>
            </a:r>
          </a:p>
        </p:txBody>
      </p:sp>
      <p:sp>
        <p:nvSpPr>
          <p:cNvPr id="7" name="Text">
            <a:extLst xmlns:a="http://schemas.openxmlformats.org/drawingml/2006/main">
              <a:ext uri="{FF2B5EF4-FFF2-40B4-BE49-F238E27FC236}">
                <a16:creationId xmlns:a16="http://schemas.microsoft.com/office/drawing/2014/main" id="{0A87FB42-0F8F-47B0-A70F-58FB2E4AE111}"/>
              </a:ext>
            </a:extLst>
          </p:cNvPr>
          <p:cNvSpPr>
            <a:spLocks xmlns:a="http://schemas.openxmlformats.org/drawingml/2006/main" noGrp="1"/>
          </p:cNvSpPr>
          <p:nvPr/>
        </p:nvSpPr>
        <p:spPr>
          <a:xfrm xmlns:a="http://schemas.openxmlformats.org/drawingml/2006/main">
            <a:off x="609600" y="156210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Keep the held-out gold documents and evaluation code identical across runs.</a:t>
            </a:r>
          </a:p>
        </p:txBody>
      </p:sp>
      <p:sp>
        <p:nvSpPr>
          <p:cNvPr id="8" name="Text">
            <a:extLst xmlns:a="http://schemas.openxmlformats.org/drawingml/2006/main">
              <a:ext uri="{FF2B5EF4-FFF2-40B4-BE49-F238E27FC236}">
                <a16:creationId xmlns:a16="http://schemas.microsoft.com/office/drawing/2014/main" id="{FDF9F935-F4CF-4AB6-AB31-0666C2CBB44F}"/>
              </a:ext>
            </a:extLst>
          </p:cNvPr>
          <p:cNvSpPr>
            <a:spLocks xmlns:a="http://schemas.openxmlformats.org/drawingml/2006/main" noGrp="1"/>
          </p:cNvSpPr>
          <p:nvPr/>
        </p:nvSpPr>
        <p:spPr>
          <a:xfrm xmlns:a="http://schemas.openxmlformats.org/drawingml/2006/main">
            <a:off x="60960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0 : 1</a:t>
            </a:r>
          </a:p>
        </p:txBody>
      </p:sp>
      <p:sp>
        <p:nvSpPr>
          <p:cNvPr id="9" name="Text">
            <a:extLst xmlns:a="http://schemas.openxmlformats.org/drawingml/2006/main">
              <a:ext uri="{FF2B5EF4-FFF2-40B4-BE49-F238E27FC236}">
                <a16:creationId xmlns:a16="http://schemas.microsoft.com/office/drawing/2014/main" id="{C5118D04-0C97-45BB-8C26-92A765BD4630}"/>
              </a:ext>
            </a:extLst>
          </p:cNvPr>
          <p:cNvSpPr>
            <a:spLocks xmlns:a="http://schemas.openxmlformats.org/drawingml/2006/main" noGrp="1"/>
          </p:cNvSpPr>
          <p:nvPr/>
        </p:nvSpPr>
        <p:spPr>
          <a:xfrm xmlns:a="http://schemas.openxmlformats.org/drawingml/2006/main">
            <a:off x="60960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10" name="Text">
            <a:extLst xmlns:a="http://schemas.openxmlformats.org/drawingml/2006/main">
              <a:ext uri="{FF2B5EF4-FFF2-40B4-BE49-F238E27FC236}">
                <a16:creationId xmlns:a16="http://schemas.microsoft.com/office/drawing/2014/main" id="{8FE2BC16-241F-4B3E-912E-D2F333C2D15A}"/>
              </a:ext>
            </a:extLst>
          </p:cNvPr>
          <p:cNvSpPr>
            <a:spLocks xmlns:a="http://schemas.openxmlformats.org/drawingml/2006/main" noGrp="1"/>
          </p:cNvSpPr>
          <p:nvPr/>
        </p:nvSpPr>
        <p:spPr>
          <a:xfrm xmlns:a="http://schemas.openxmlformats.org/drawingml/2006/main">
            <a:off x="60960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Human only</a:t>
            </a:r>
          </a:p>
        </p:txBody>
      </p:sp>
      <p:sp>
        <p:nvSpPr>
          <p:cNvPr id="11" name="Section rule">
            <a:extLst xmlns:a="http://schemas.openxmlformats.org/drawingml/2006/main">
              <a:ext uri="{FF2B5EF4-FFF2-40B4-BE49-F238E27FC236}">
                <a16:creationId xmlns:a16="http://schemas.microsoft.com/office/drawing/2014/main" id="{79B81A76-6230-4E9B-9FCB-6374BF82BAA6}"/>
              </a:ext>
            </a:extLst>
          </p:cNvPr>
          <p:cNvSpPr>
            <a:spLocks xmlns:a="http://schemas.openxmlformats.org/drawingml/2006/main" noGrp="1"/>
          </p:cNvSpPr>
          <p:nvPr/>
        </p:nvSpPr>
        <p:spPr>
          <a:xfrm xmlns:a="http://schemas.openxmlformats.org/drawingml/2006/main">
            <a:off x="609600" y="3924300"/>
            <a:ext cx="2305050" cy="1905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380EA48-91B4-45A6-A21C-CF85F4BA1AAF}"/>
              </a:ext>
            </a:extLst>
          </p:cNvPr>
          <p:cNvSpPr>
            <a:spLocks xmlns:a="http://schemas.openxmlformats.org/drawingml/2006/main" noGrp="1"/>
          </p:cNvSpPr>
          <p:nvPr/>
        </p:nvSpPr>
        <p:spPr>
          <a:xfrm xmlns:a="http://schemas.openxmlformats.org/drawingml/2006/main">
            <a:off x="333375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0.25 : 1</a:t>
            </a:r>
          </a:p>
        </p:txBody>
      </p:sp>
      <p:sp>
        <p:nvSpPr>
          <p:cNvPr id="13" name="Text">
            <a:extLst xmlns:a="http://schemas.openxmlformats.org/drawingml/2006/main">
              <a:ext uri="{FF2B5EF4-FFF2-40B4-BE49-F238E27FC236}">
                <a16:creationId xmlns:a16="http://schemas.microsoft.com/office/drawing/2014/main" id="{41BDF30B-5CBA-4091-8A8D-0D9140057806}"/>
              </a:ext>
            </a:extLst>
          </p:cNvPr>
          <p:cNvSpPr>
            <a:spLocks xmlns:a="http://schemas.openxmlformats.org/drawingml/2006/main" noGrp="1"/>
          </p:cNvSpPr>
          <p:nvPr/>
        </p:nvSpPr>
        <p:spPr>
          <a:xfrm xmlns:a="http://schemas.openxmlformats.org/drawingml/2006/main">
            <a:off x="333375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14" name="Text">
            <a:extLst xmlns:a="http://schemas.openxmlformats.org/drawingml/2006/main">
              <a:ext uri="{FF2B5EF4-FFF2-40B4-BE49-F238E27FC236}">
                <a16:creationId xmlns:a16="http://schemas.microsoft.com/office/drawing/2014/main" id="{4F366C35-57DE-4C46-84AF-67DB9A7F6692}"/>
              </a:ext>
            </a:extLst>
          </p:cNvPr>
          <p:cNvSpPr>
            <a:spLocks xmlns:a="http://schemas.openxmlformats.org/drawingml/2006/main" noGrp="1"/>
          </p:cNvSpPr>
          <p:nvPr/>
        </p:nvSpPr>
        <p:spPr>
          <a:xfrm xmlns:a="http://schemas.openxmlformats.org/drawingml/2006/main">
            <a:off x="333375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Low synthetic</a:t>
            </a:r>
          </a:p>
        </p:txBody>
      </p:sp>
      <p:sp>
        <p:nvSpPr>
          <p:cNvPr id="15" name="Section rule">
            <a:extLst xmlns:a="http://schemas.openxmlformats.org/drawingml/2006/main">
              <a:ext uri="{FF2B5EF4-FFF2-40B4-BE49-F238E27FC236}">
                <a16:creationId xmlns:a16="http://schemas.microsoft.com/office/drawing/2014/main" id="{D8C85491-99B7-48D6-BC1E-B330A4669627}"/>
              </a:ext>
            </a:extLst>
          </p:cNvPr>
          <p:cNvSpPr>
            <a:spLocks xmlns:a="http://schemas.openxmlformats.org/drawingml/2006/main" noGrp="1"/>
          </p:cNvSpPr>
          <p:nvPr/>
        </p:nvSpPr>
        <p:spPr>
          <a:xfrm xmlns:a="http://schemas.openxmlformats.org/drawingml/2006/main">
            <a:off x="3333750" y="3924300"/>
            <a:ext cx="2305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9DA6554D-E730-498A-8A79-D5CDDB88501B}"/>
              </a:ext>
            </a:extLst>
          </p:cNvPr>
          <p:cNvSpPr>
            <a:spLocks xmlns:a="http://schemas.openxmlformats.org/drawingml/2006/main" noGrp="1"/>
          </p:cNvSpPr>
          <p:nvPr/>
        </p:nvSpPr>
        <p:spPr>
          <a:xfrm xmlns:a="http://schemas.openxmlformats.org/drawingml/2006/main">
            <a:off x="605790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0.5 : 1</a:t>
            </a:r>
          </a:p>
        </p:txBody>
      </p:sp>
      <p:sp>
        <p:nvSpPr>
          <p:cNvPr id="17" name="Text">
            <a:extLst xmlns:a="http://schemas.openxmlformats.org/drawingml/2006/main">
              <a:ext uri="{FF2B5EF4-FFF2-40B4-BE49-F238E27FC236}">
                <a16:creationId xmlns:a16="http://schemas.microsoft.com/office/drawing/2014/main" id="{EF1910A4-6A1A-4222-8285-CE8EA4FCD983}"/>
              </a:ext>
            </a:extLst>
          </p:cNvPr>
          <p:cNvSpPr>
            <a:spLocks xmlns:a="http://schemas.openxmlformats.org/drawingml/2006/main" noGrp="1"/>
          </p:cNvSpPr>
          <p:nvPr/>
        </p:nvSpPr>
        <p:spPr>
          <a:xfrm xmlns:a="http://schemas.openxmlformats.org/drawingml/2006/main">
            <a:off x="605790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18" name="Text">
            <a:extLst xmlns:a="http://schemas.openxmlformats.org/drawingml/2006/main">
              <a:ext uri="{FF2B5EF4-FFF2-40B4-BE49-F238E27FC236}">
                <a16:creationId xmlns:a16="http://schemas.microsoft.com/office/drawing/2014/main" id="{38794126-1112-4C93-8729-48079C9E7147}"/>
              </a:ext>
            </a:extLst>
          </p:cNvPr>
          <p:cNvSpPr>
            <a:spLocks xmlns:a="http://schemas.openxmlformats.org/drawingml/2006/main" noGrp="1"/>
          </p:cNvSpPr>
          <p:nvPr/>
        </p:nvSpPr>
        <p:spPr>
          <a:xfrm xmlns:a="http://schemas.openxmlformats.org/drawingml/2006/main">
            <a:off x="605790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Medium synthetic</a:t>
            </a:r>
          </a:p>
        </p:txBody>
      </p:sp>
      <p:sp>
        <p:nvSpPr>
          <p:cNvPr id="19" name="Section rule">
            <a:extLst xmlns:a="http://schemas.openxmlformats.org/drawingml/2006/main">
              <a:ext uri="{FF2B5EF4-FFF2-40B4-BE49-F238E27FC236}">
                <a16:creationId xmlns:a16="http://schemas.microsoft.com/office/drawing/2014/main" id="{00CCD107-4A14-4FD6-8C91-62BD649263EB}"/>
              </a:ext>
            </a:extLst>
          </p:cNvPr>
          <p:cNvSpPr>
            <a:spLocks xmlns:a="http://schemas.openxmlformats.org/drawingml/2006/main" noGrp="1"/>
          </p:cNvSpPr>
          <p:nvPr/>
        </p:nvSpPr>
        <p:spPr>
          <a:xfrm xmlns:a="http://schemas.openxmlformats.org/drawingml/2006/main">
            <a:off x="6057900" y="3924300"/>
            <a:ext cx="2305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01EBD8FF-2533-4392-96A2-C6ECD60C6790}"/>
              </a:ext>
            </a:extLst>
          </p:cNvPr>
          <p:cNvSpPr>
            <a:spLocks xmlns:a="http://schemas.openxmlformats.org/drawingml/2006/main" noGrp="1"/>
          </p:cNvSpPr>
          <p:nvPr/>
        </p:nvSpPr>
        <p:spPr>
          <a:xfrm xmlns:a="http://schemas.openxmlformats.org/drawingml/2006/main">
            <a:off x="8782050" y="22288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62DDA8"/>
                </a:solidFill>
                <a:latin typeface="Arial"/>
                <a:ea typeface="Arial"/>
                <a:cs typeface="Arial"/>
              </a:defRPr>
            </a:pPr>
            <a:r>
              <a:rPr sz="3225" b="1">
                <a:solidFill>
                  <a:srgbClr val="62DDA8"/>
                </a:solidFill>
                <a:latin typeface="Arial"/>
                <a:ea typeface="Arial"/>
                <a:cs typeface="Arial"/>
              </a:rPr>
              <a:t>1 : 1</a:t>
            </a:r>
          </a:p>
        </p:txBody>
      </p:sp>
      <p:sp>
        <p:nvSpPr>
          <p:cNvPr id="21" name="Text">
            <a:extLst xmlns:a="http://schemas.openxmlformats.org/drawingml/2006/main">
              <a:ext uri="{FF2B5EF4-FFF2-40B4-BE49-F238E27FC236}">
                <a16:creationId xmlns:a16="http://schemas.microsoft.com/office/drawing/2014/main" id="{8C01BE10-44BA-44BA-AD58-8392032BC1E2}"/>
              </a:ext>
            </a:extLst>
          </p:cNvPr>
          <p:cNvSpPr>
            <a:spLocks xmlns:a="http://schemas.openxmlformats.org/drawingml/2006/main" noGrp="1"/>
          </p:cNvSpPr>
          <p:nvPr/>
        </p:nvSpPr>
        <p:spPr>
          <a:xfrm xmlns:a="http://schemas.openxmlformats.org/drawingml/2006/main">
            <a:off x="8782050" y="2876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AB8B0"/>
                </a:solidFill>
                <a:latin typeface="Arial"/>
                <a:ea typeface="Arial"/>
                <a:cs typeface="Arial"/>
              </a:defRPr>
            </a:pPr>
            <a:r>
              <a:rPr sz="1275" b="0">
                <a:solidFill>
                  <a:srgbClr val="AAB8B0"/>
                </a:solidFill>
                <a:latin typeface="Arial"/>
                <a:ea typeface="Arial"/>
                <a:cs typeface="Arial"/>
              </a:rPr>
              <a:t>synthetic : human</a:t>
            </a:r>
          </a:p>
        </p:txBody>
      </p:sp>
      <p:sp>
        <p:nvSpPr>
          <p:cNvPr id="22" name="Text">
            <a:extLst xmlns:a="http://schemas.openxmlformats.org/drawingml/2006/main">
              <a:ext uri="{FF2B5EF4-FFF2-40B4-BE49-F238E27FC236}">
                <a16:creationId xmlns:a16="http://schemas.microsoft.com/office/drawing/2014/main" id="{9ACB5A1C-2138-4493-9EA6-554CAF922AFE}"/>
              </a:ext>
            </a:extLst>
          </p:cNvPr>
          <p:cNvSpPr>
            <a:spLocks xmlns:a="http://schemas.openxmlformats.org/drawingml/2006/main" noGrp="1"/>
          </p:cNvSpPr>
          <p:nvPr/>
        </p:nvSpPr>
        <p:spPr>
          <a:xfrm xmlns:a="http://schemas.openxmlformats.org/drawingml/2006/main">
            <a:off x="8782050" y="33813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3F6F4"/>
                </a:solidFill>
                <a:latin typeface="Arial"/>
                <a:ea typeface="Arial"/>
                <a:cs typeface="Arial"/>
              </a:defRPr>
            </a:pPr>
            <a:r>
              <a:rPr sz="1650" b="1">
                <a:solidFill>
                  <a:srgbClr val="F3F6F4"/>
                </a:solidFill>
                <a:latin typeface="Arial"/>
                <a:ea typeface="Arial"/>
                <a:cs typeface="Arial"/>
              </a:rPr>
              <a:t>High synthetic</a:t>
            </a:r>
          </a:p>
        </p:txBody>
      </p:sp>
      <p:sp>
        <p:nvSpPr>
          <p:cNvPr id="23" name="Section rule">
            <a:extLst xmlns:a="http://schemas.openxmlformats.org/drawingml/2006/main">
              <a:ext uri="{FF2B5EF4-FFF2-40B4-BE49-F238E27FC236}">
                <a16:creationId xmlns:a16="http://schemas.microsoft.com/office/drawing/2014/main" id="{6B4A952B-85C5-443F-9AE2-DB8F43ACAECA}"/>
              </a:ext>
            </a:extLst>
          </p:cNvPr>
          <p:cNvSpPr>
            <a:spLocks xmlns:a="http://schemas.openxmlformats.org/drawingml/2006/main" noGrp="1"/>
          </p:cNvSpPr>
          <p:nvPr/>
        </p:nvSpPr>
        <p:spPr>
          <a:xfrm xmlns:a="http://schemas.openxmlformats.org/drawingml/2006/main">
            <a:off x="8782050" y="3924300"/>
            <a:ext cx="23050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03A9F444-1976-479C-A48A-A8DBAD44348B}"/>
              </a:ext>
            </a:extLst>
          </p:cNvPr>
          <p:cNvSpPr>
            <a:spLocks xmlns:a="http://schemas.openxmlformats.org/drawingml/2006/main" noGrp="1"/>
          </p:cNvSpPr>
          <p:nvPr/>
        </p:nvSpPr>
        <p:spPr>
          <a:xfrm xmlns:a="http://schemas.openxmlformats.org/drawingml/2006/main">
            <a:off x="609600" y="4495800"/>
            <a:ext cx="452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Repeat by phenomenon and generator family.</a:t>
            </a:r>
          </a:p>
        </p:txBody>
      </p:sp>
      <p:sp>
        <p:nvSpPr>
          <p:cNvPr id="25" name="Text">
            <a:extLst xmlns:a="http://schemas.openxmlformats.org/drawingml/2006/main">
              <a:ext uri="{FF2B5EF4-FFF2-40B4-BE49-F238E27FC236}">
                <a16:creationId xmlns:a16="http://schemas.microsoft.com/office/drawing/2014/main" id="{2B750255-FE36-43AB-B025-18A09B64EC89}"/>
              </a:ext>
            </a:extLst>
          </p:cNvPr>
          <p:cNvSpPr>
            <a:spLocks xmlns:a="http://schemas.openxmlformats.org/drawingml/2006/main" noGrp="1"/>
          </p:cNvSpPr>
          <p:nvPr/>
        </p:nvSpPr>
        <p:spPr>
          <a:xfrm xmlns:a="http://schemas.openxmlformats.org/drawingml/2006/main">
            <a:off x="609600" y="4914900"/>
            <a:ext cx="5095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Report label balance, deduplication, and synthetic-to-gold ratio for every run.</a:t>
            </a:r>
          </a:p>
        </p:txBody>
      </p:sp>
      <p:sp>
        <p:nvSpPr>
          <p:cNvPr id="26" name="Text">
            <a:extLst xmlns:a="http://schemas.openxmlformats.org/drawingml/2006/main">
              <a:ext uri="{FF2B5EF4-FFF2-40B4-BE49-F238E27FC236}">
                <a16:creationId xmlns:a16="http://schemas.microsoft.com/office/drawing/2014/main" id="{5B4A229A-7845-4170-804B-A0181474D9CA}"/>
              </a:ext>
            </a:extLst>
          </p:cNvPr>
          <p:cNvSpPr>
            <a:spLocks xmlns:a="http://schemas.openxmlformats.org/drawingml/2006/main" noGrp="1"/>
          </p:cNvSpPr>
          <p:nvPr/>
        </p:nvSpPr>
        <p:spPr>
          <a:xfrm xmlns:a="http://schemas.openxmlformats.org/drawingml/2006/main">
            <a:off x="6305550" y="4495800"/>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Decision question</a:t>
            </a:r>
          </a:p>
        </p:txBody>
      </p:sp>
      <p:sp>
        <p:nvSpPr>
          <p:cNvPr id="27" name="Text">
            <a:extLst xmlns:a="http://schemas.openxmlformats.org/drawingml/2006/main">
              <a:ext uri="{FF2B5EF4-FFF2-40B4-BE49-F238E27FC236}">
                <a16:creationId xmlns:a16="http://schemas.microsoft.com/office/drawing/2014/main" id="{E6E907A3-40BB-4587-B4F7-83603BC4887F}"/>
              </a:ext>
            </a:extLst>
          </p:cNvPr>
          <p:cNvSpPr>
            <a:spLocks xmlns:a="http://schemas.openxmlformats.org/drawingml/2006/main" noGrp="1"/>
          </p:cNvSpPr>
          <p:nvPr/>
        </p:nvSpPr>
        <p:spPr>
          <a:xfrm xmlns:a="http://schemas.openxmlformats.org/drawingml/2006/main">
            <a:off x="6305550" y="4914900"/>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3F6F4"/>
                </a:solidFill>
                <a:latin typeface="Arial"/>
                <a:ea typeface="Arial"/>
                <a:cs typeface="Arial"/>
              </a:defRPr>
            </a:pPr>
            <a:r>
              <a:rPr sz="1500" b="0">
                <a:solidFill>
                  <a:srgbClr val="F3F6F4"/>
                </a:solidFill>
                <a:latin typeface="Arial"/>
                <a:ea typeface="Arial"/>
                <a:cs typeface="Arial"/>
              </a:rPr>
              <a:t>Does augmentation improve macro-F1 and targeted error slices without harming held-out human examples?</a:t>
            </a:r>
          </a:p>
        </p:txBody>
      </p:sp>
    </p:spTree>
    <p:extLst>
      <p:ext uri="{BB962C8B-B14F-4D97-AF65-F5344CB8AC3E}">
        <p14:creationId xmlns:p14="http://schemas.microsoft.com/office/powerpoint/2010/main" val="2129902959"/>
      </p:ext>
    </p:extLst>
  </p:cSld>
</p:sld>
</file>

<file path=ppt/slides/slide12.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8" name="Section label">
            <a:extLst xmlns:a="http://schemas.openxmlformats.org/drawingml/2006/main">
              <a:ext uri="{FF2B5EF4-FFF2-40B4-BE49-F238E27FC236}">
                <a16:creationId xmlns:a16="http://schemas.microsoft.com/office/drawing/2014/main" id="{CB2A8246-8290-4B55-B726-1D228E039A1E}"/>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EVALUATION DESIGN</a:t>
            </a:r>
          </a:p>
        </p:txBody>
      </p:sp>
      <p:sp>
        <p:nvSpPr>
          <p:cNvPr id="2" name="Slide title">
            <a:extLst xmlns:a="http://schemas.openxmlformats.org/drawingml/2006/main">
              <a:ext uri="{FF2B5EF4-FFF2-40B4-BE49-F238E27FC236}">
                <a16:creationId xmlns:a16="http://schemas.microsoft.com/office/drawing/2014/main" id="{121BBB3D-B2C2-4411-A692-12749DF35DFD}"/>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Report label, span, relation, and graph evidence separately</a:t>
            </a:r>
          </a:p>
        </p:txBody>
      </p:sp>
      <p:sp>
        <p:nvSpPr>
          <p:cNvPr id="3" name="Section rule">
            <a:extLst xmlns:a="http://schemas.openxmlformats.org/drawingml/2006/main">
              <a:ext uri="{FF2B5EF4-FFF2-40B4-BE49-F238E27FC236}">
                <a16:creationId xmlns:a16="http://schemas.microsoft.com/office/drawing/2014/main" id="{AFB22B5B-9575-4C2E-9B1A-07A6EDFDF1C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A7CBC04E-BE42-4CD8-A4FA-BC87FCB668D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A5AE584-B1E9-4F22-ADAF-6786B64A3E0C}"/>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CD5D9177-C185-444A-A33A-C59EF1ADB50B}"/>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12</a:t>
            </a:r>
          </a:p>
        </p:txBody>
      </p:sp>
      <p:sp>
        <p:nvSpPr>
          <p:cNvPr id="7" name="Text">
            <a:extLst xmlns:a="http://schemas.openxmlformats.org/drawingml/2006/main">
              <a:ext uri="{FF2B5EF4-FFF2-40B4-BE49-F238E27FC236}">
                <a16:creationId xmlns:a16="http://schemas.microsoft.com/office/drawing/2014/main" id="{BE490B6B-C9F7-4052-9912-9C0B3F7560AB}"/>
              </a:ext>
            </a:extLst>
          </p:cNvPr>
          <p:cNvSpPr>
            <a:spLocks xmlns:a="http://schemas.openxmlformats.org/drawingml/2006/main" noGrp="1"/>
          </p:cNvSpPr>
          <p:nvPr/>
        </p:nvSpPr>
        <p:spPr>
          <a:xfrm xmlns:a="http://schemas.openxmlformats.org/drawingml/2006/main">
            <a:off x="609600" y="1933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AVAILABLE IN CLI</a:t>
            </a:r>
          </a:p>
        </p:txBody>
      </p:sp>
      <p:sp>
        <p:nvSpPr>
          <p:cNvPr id="8" name="Text">
            <a:extLst xmlns:a="http://schemas.openxmlformats.org/drawingml/2006/main">
              <a:ext uri="{FF2B5EF4-FFF2-40B4-BE49-F238E27FC236}">
                <a16:creationId xmlns:a16="http://schemas.microsoft.com/office/drawing/2014/main" id="{477D506B-F980-4AD4-90C1-76E082B9742B}"/>
              </a:ext>
            </a:extLst>
          </p:cNvPr>
          <p:cNvSpPr>
            <a:spLocks xmlns:a="http://schemas.openxmlformats.org/drawingml/2006/main" noGrp="1"/>
          </p:cNvSpPr>
          <p:nvPr/>
        </p:nvSpPr>
        <p:spPr>
          <a:xfrm xmlns:a="http://schemas.openxmlformats.org/drawingml/2006/main">
            <a:off x="609600" y="2371725"/>
            <a:ext cx="3238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Accuracy, macro-F1, per-class precision/recall/F1, support, confusion matrix, log loss.</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Cluster average distance and Davies-Bouldin index.</a:t>
            </a:r>
          </a:p>
        </p:txBody>
      </p:sp>
      <p:sp>
        <p:nvSpPr>
          <p:cNvPr id="9" name="Diagram shape">
            <a:extLst xmlns:a="http://schemas.openxmlformats.org/drawingml/2006/main">
              <a:ext uri="{FF2B5EF4-FFF2-40B4-BE49-F238E27FC236}">
                <a16:creationId xmlns:a16="http://schemas.microsoft.com/office/drawing/2014/main" id="{BC299971-1ED4-453A-9DC0-C5FFB5A52748}"/>
              </a:ext>
            </a:extLst>
          </p:cNvPr>
          <p:cNvSpPr>
            <a:spLocks xmlns:a="http://schemas.openxmlformats.org/drawingml/2006/main" noGrp="1"/>
          </p:cNvSpPr>
          <p:nvPr/>
        </p:nvSpPr>
        <p:spPr>
          <a:xfrm xmlns:a="http://schemas.openxmlformats.org/drawingml/2006/main">
            <a:off x="4048125" y="1924050"/>
            <a:ext cx="9525" cy="266700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E05F5E46-CF28-47F5-A7AC-7BA31B75B979}"/>
              </a:ext>
            </a:extLst>
          </p:cNvPr>
          <p:cNvSpPr>
            <a:spLocks xmlns:a="http://schemas.openxmlformats.org/drawingml/2006/main" noGrp="1"/>
          </p:cNvSpPr>
          <p:nvPr/>
        </p:nvSpPr>
        <p:spPr>
          <a:xfrm xmlns:a="http://schemas.openxmlformats.org/drawingml/2006/main">
            <a:off x="4333875" y="1933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0C36A"/>
                </a:solidFill>
                <a:latin typeface="Arial"/>
                <a:ea typeface="Arial"/>
                <a:cs typeface="Arial"/>
              </a:defRPr>
            </a:pPr>
            <a:r>
              <a:rPr sz="1200" b="1">
                <a:solidFill>
                  <a:srgbClr val="F0C36A"/>
                </a:solidFill>
                <a:latin typeface="Arial"/>
                <a:ea typeface="Arial"/>
                <a:cs typeface="Arial"/>
              </a:rPr>
              <a:t>NEXT EVALUATORS</a:t>
            </a:r>
          </a:p>
        </p:txBody>
      </p:sp>
      <p:sp>
        <p:nvSpPr>
          <p:cNvPr id="11" name="Text">
            <a:extLst xmlns:a="http://schemas.openxmlformats.org/drawingml/2006/main">
              <a:ext uri="{FF2B5EF4-FFF2-40B4-BE49-F238E27FC236}">
                <a16:creationId xmlns:a16="http://schemas.microsoft.com/office/drawing/2014/main" id="{84013A92-1CAC-4FC1-B91A-92D05A037846}"/>
              </a:ext>
            </a:extLst>
          </p:cNvPr>
          <p:cNvSpPr>
            <a:spLocks xmlns:a="http://schemas.openxmlformats.org/drawingml/2006/main" noGrp="1"/>
          </p:cNvSpPr>
          <p:nvPr/>
        </p:nvSpPr>
        <p:spPr>
          <a:xfrm xmlns:a="http://schemas.openxmlformats.org/drawingml/2006/main">
            <a:off x="4333875" y="2371725"/>
            <a:ext cx="3238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Event-span boundary precision/recall/F1.</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Temporal-relation macro-F1 and direction-confusion analysis.</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Whole-graph consistency checks.</a:t>
            </a:r>
          </a:p>
        </p:txBody>
      </p:sp>
      <p:sp>
        <p:nvSpPr>
          <p:cNvPr id="12" name="Diagram shape">
            <a:extLst xmlns:a="http://schemas.openxmlformats.org/drawingml/2006/main">
              <a:ext uri="{FF2B5EF4-FFF2-40B4-BE49-F238E27FC236}">
                <a16:creationId xmlns:a16="http://schemas.microsoft.com/office/drawing/2014/main" id="{F819CEA4-EBA6-428B-8F81-02D4E67D7AE9}"/>
              </a:ext>
            </a:extLst>
          </p:cNvPr>
          <p:cNvSpPr>
            <a:spLocks xmlns:a="http://schemas.openxmlformats.org/drawingml/2006/main" noGrp="1"/>
          </p:cNvSpPr>
          <p:nvPr/>
        </p:nvSpPr>
        <p:spPr>
          <a:xfrm xmlns:a="http://schemas.openxmlformats.org/drawingml/2006/main">
            <a:off x="7772400" y="1924050"/>
            <a:ext cx="9525" cy="2667000"/>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48E9C3E-55F7-4832-9D23-89FF1887B64E}"/>
              </a:ext>
            </a:extLst>
          </p:cNvPr>
          <p:cNvSpPr>
            <a:spLocks xmlns:a="http://schemas.openxmlformats.org/drawingml/2006/main" noGrp="1"/>
          </p:cNvSpPr>
          <p:nvPr/>
        </p:nvSpPr>
        <p:spPr>
          <a:xfrm xmlns:a="http://schemas.openxmlformats.org/drawingml/2006/main">
            <a:off x="8058150" y="1933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DATA QUALITY</a:t>
            </a:r>
          </a:p>
        </p:txBody>
      </p:sp>
      <p:sp>
        <p:nvSpPr>
          <p:cNvPr id="14" name="Text">
            <a:extLst xmlns:a="http://schemas.openxmlformats.org/drawingml/2006/main">
              <a:ext uri="{FF2B5EF4-FFF2-40B4-BE49-F238E27FC236}">
                <a16:creationId xmlns:a16="http://schemas.microsoft.com/office/drawing/2014/main" id="{C2BDC3EE-BA32-43F1-AEF2-E304D38B2B9F}"/>
              </a:ext>
            </a:extLst>
          </p:cNvPr>
          <p:cNvSpPr>
            <a:spLocks xmlns:a="http://schemas.openxmlformats.org/drawingml/2006/main" noGrp="1"/>
          </p:cNvSpPr>
          <p:nvPr/>
        </p:nvSpPr>
        <p:spPr>
          <a:xfrm xmlns:a="http://schemas.openxmlformats.org/drawingml/2006/main">
            <a:off x="8058150" y="2371725"/>
            <a:ext cx="3238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Annotator agreement before adjudication.</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Calibration by phenomenon and confidence band.</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Error counts by chapter, genre, and generator family.</a:t>
            </a:r>
          </a:p>
        </p:txBody>
      </p:sp>
      <p:sp>
        <p:nvSpPr>
          <p:cNvPr id="15" name="Section rule">
            <a:extLst xmlns:a="http://schemas.openxmlformats.org/drawingml/2006/main">
              <a:ext uri="{FF2B5EF4-FFF2-40B4-BE49-F238E27FC236}">
                <a16:creationId xmlns:a16="http://schemas.microsoft.com/office/drawing/2014/main" id="{CB9A8B9B-F6F0-4CAE-A898-D920C07B0D03}"/>
              </a:ext>
            </a:extLst>
          </p:cNvPr>
          <p:cNvSpPr>
            <a:spLocks xmlns:a="http://schemas.openxmlformats.org/drawingml/2006/main" noGrp="1"/>
          </p:cNvSpPr>
          <p:nvPr/>
        </p:nvSpPr>
        <p:spPr>
          <a:xfrm xmlns:a="http://schemas.openxmlformats.org/drawingml/2006/main">
            <a:off x="609600" y="4895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BA5FE5AE-3A0E-490E-81EA-85ED9AD5DA5C}"/>
              </a:ext>
            </a:extLst>
          </p:cNvPr>
          <p:cNvSpPr>
            <a:spLocks xmlns:a="http://schemas.openxmlformats.org/drawingml/2006/main" noGrp="1"/>
          </p:cNvSpPr>
          <p:nvPr/>
        </p:nvSpPr>
        <p:spPr>
          <a:xfrm xmlns:a="http://schemas.openxmlformats.org/drawingml/2006/main">
            <a:off x="609600" y="5191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Current boundary</a:t>
            </a:r>
          </a:p>
        </p:txBody>
      </p:sp>
      <p:sp>
        <p:nvSpPr>
          <p:cNvPr id="17" name="Text">
            <a:extLst xmlns:a="http://schemas.openxmlformats.org/drawingml/2006/main">
              <a:ext uri="{FF2B5EF4-FFF2-40B4-BE49-F238E27FC236}">
                <a16:creationId xmlns:a16="http://schemas.microsoft.com/office/drawing/2014/main" id="{4DFA66A0-BC33-407D-AA73-F91C2A57F088}"/>
              </a:ext>
            </a:extLst>
          </p:cNvPr>
          <p:cNvSpPr>
            <a:spLocks xmlns:a="http://schemas.openxmlformats.org/drawingml/2006/main" noGrp="1"/>
          </p:cNvSpPr>
          <p:nvPr/>
        </p:nvSpPr>
        <p:spPr>
          <a:xfrm xmlns:a="http://schemas.openxmlformats.org/drawingml/2006/main">
            <a:off x="2762250" y="51149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The CLI covers grouped classification and clustering. Event-span and end-to-end graph evaluators are next implementation steps.</a:t>
            </a:r>
          </a:p>
        </p:txBody>
      </p:sp>
    </p:spTree>
    <p:extLst>
      <p:ext uri="{BB962C8B-B14F-4D97-AF65-F5344CB8AC3E}">
        <p14:creationId xmlns:p14="http://schemas.microsoft.com/office/powerpoint/2010/main" val="820250028"/>
      </p:ext>
    </p:extLst>
  </p:cSld>
</p:sld>
</file>

<file path=ppt/slides/slide13.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5" name="Section label">
            <a:extLst xmlns:a="http://schemas.openxmlformats.org/drawingml/2006/main">
              <a:ext uri="{FF2B5EF4-FFF2-40B4-BE49-F238E27FC236}">
                <a16:creationId xmlns:a16="http://schemas.microsoft.com/office/drawing/2014/main" id="{58AE9668-ADC6-40DF-8A23-CA7301991D24}"/>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ENGINEERING</a:t>
            </a:r>
          </a:p>
        </p:txBody>
      </p:sp>
      <p:sp>
        <p:nvSpPr>
          <p:cNvPr id="2" name="Slide title">
            <a:extLst xmlns:a="http://schemas.openxmlformats.org/drawingml/2006/main">
              <a:ext uri="{FF2B5EF4-FFF2-40B4-BE49-F238E27FC236}">
                <a16:creationId xmlns:a16="http://schemas.microsoft.com/office/drawing/2014/main" id="{B53A3CEA-3D90-4EFF-81AA-05B7DDA44EBA}"/>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ML.NET separates research runs from API inference</a:t>
            </a:r>
          </a:p>
        </p:txBody>
      </p:sp>
      <p:sp>
        <p:nvSpPr>
          <p:cNvPr id="3" name="Section rule">
            <a:extLst xmlns:a="http://schemas.openxmlformats.org/drawingml/2006/main">
              <a:ext uri="{FF2B5EF4-FFF2-40B4-BE49-F238E27FC236}">
                <a16:creationId xmlns:a16="http://schemas.microsoft.com/office/drawing/2014/main" id="{C18E1672-0B94-43E7-A3D5-29EBFD326281}"/>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74254BE4-3F3B-41DF-A2CA-303479D29F0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4C67FFE-71FB-42AE-8104-874CA291F551}"/>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C72AE6BD-5C6B-4A08-A8DD-B5B80EAFFBF8}"/>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13</a:t>
            </a:r>
          </a:p>
        </p:txBody>
      </p:sp>
      <p:sp>
        <p:nvSpPr>
          <p:cNvPr id="7" name="ML.NET workflow stage">
            <a:extLst xmlns:a="http://schemas.openxmlformats.org/drawingml/2006/main">
              <a:ext uri="{FF2B5EF4-FFF2-40B4-BE49-F238E27FC236}">
                <a16:creationId xmlns:a16="http://schemas.microsoft.com/office/drawing/2014/main" id="{B1582222-A460-413C-A8CF-E02BB268DB6B}"/>
              </a:ext>
            </a:extLst>
          </p:cNvPr>
          <p:cNvSpPr>
            <a:spLocks xmlns:a="http://schemas.openxmlformats.org/drawingml/2006/main" noGrp="1"/>
          </p:cNvSpPr>
          <p:nvPr/>
        </p:nvSpPr>
        <p:spPr>
          <a:xfrm xmlns:a="http://schemas.openxmlformats.org/drawingml/2006/main">
            <a:off x="60960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8" name="Text">
            <a:extLst xmlns:a="http://schemas.openxmlformats.org/drawingml/2006/main">
              <a:ext uri="{FF2B5EF4-FFF2-40B4-BE49-F238E27FC236}">
                <a16:creationId xmlns:a16="http://schemas.microsoft.com/office/drawing/2014/main" id="{8C265D06-3A22-400D-91C5-B89E3D5AB2DF}"/>
              </a:ext>
            </a:extLst>
          </p:cNvPr>
          <p:cNvSpPr>
            <a:spLocks xmlns:a="http://schemas.openxmlformats.org/drawingml/2006/main" noGrp="1"/>
          </p:cNvSpPr>
          <p:nvPr/>
        </p:nvSpPr>
        <p:spPr>
          <a:xfrm xmlns:a="http://schemas.openxmlformats.org/drawingml/2006/main">
            <a:off x="76200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JSONL SOURCES</a:t>
            </a:r>
          </a:p>
        </p:txBody>
      </p:sp>
      <p:sp>
        <p:nvSpPr>
          <p:cNvPr id="9" name="Text">
            <a:extLst xmlns:a="http://schemas.openxmlformats.org/drawingml/2006/main">
              <a:ext uri="{FF2B5EF4-FFF2-40B4-BE49-F238E27FC236}">
                <a16:creationId xmlns:a16="http://schemas.microsoft.com/office/drawing/2014/main" id="{CAE74023-B133-4022-B143-A5F8A9BD9178}"/>
              </a:ext>
            </a:extLst>
          </p:cNvPr>
          <p:cNvSpPr>
            <a:spLocks xmlns:a="http://schemas.openxmlformats.org/drawingml/2006/main" noGrp="1"/>
          </p:cNvSpPr>
          <p:nvPr/>
        </p:nvSpPr>
        <p:spPr>
          <a:xfrm xmlns:a="http://schemas.openxmlformats.org/drawingml/2006/main">
            <a:off x="76200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Human gold</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Synthetic descendants</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Unlabeled narratives</a:t>
            </a:r>
          </a:p>
        </p:txBody>
      </p:sp>
      <p:sp>
        <p:nvSpPr>
          <p:cNvPr id="10" name="ML.NET workflow stage">
            <a:extLst xmlns:a="http://schemas.openxmlformats.org/drawingml/2006/main">
              <a:ext uri="{FF2B5EF4-FFF2-40B4-BE49-F238E27FC236}">
                <a16:creationId xmlns:a16="http://schemas.microsoft.com/office/drawing/2014/main" id="{0992E509-13C5-4344-9795-D4894C81B92F}"/>
              </a:ext>
            </a:extLst>
          </p:cNvPr>
          <p:cNvSpPr>
            <a:spLocks xmlns:a="http://schemas.openxmlformats.org/drawingml/2006/main" noGrp="1"/>
          </p:cNvSpPr>
          <p:nvPr/>
        </p:nvSpPr>
        <p:spPr>
          <a:xfrm xmlns:a="http://schemas.openxmlformats.org/drawingml/2006/main">
            <a:off x="337185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1" name="Text">
            <a:extLst xmlns:a="http://schemas.openxmlformats.org/drawingml/2006/main">
              <a:ext uri="{FF2B5EF4-FFF2-40B4-BE49-F238E27FC236}">
                <a16:creationId xmlns:a16="http://schemas.microsoft.com/office/drawing/2014/main" id="{D4A34B6A-9D46-4103-BC6E-3B98A451EEAC}"/>
              </a:ext>
            </a:extLst>
          </p:cNvPr>
          <p:cNvSpPr>
            <a:spLocks xmlns:a="http://schemas.openxmlformats.org/drawingml/2006/main" noGrp="1"/>
          </p:cNvSpPr>
          <p:nvPr/>
        </p:nvSpPr>
        <p:spPr>
          <a:xfrm xmlns:a="http://schemas.openxmlformats.org/drawingml/2006/main">
            <a:off x="352425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OFFLINE ML.NET</a:t>
            </a:r>
          </a:p>
        </p:txBody>
      </p:sp>
      <p:sp>
        <p:nvSpPr>
          <p:cNvPr id="12" name="Text">
            <a:extLst xmlns:a="http://schemas.openxmlformats.org/drawingml/2006/main">
              <a:ext uri="{FF2B5EF4-FFF2-40B4-BE49-F238E27FC236}">
                <a16:creationId xmlns:a16="http://schemas.microsoft.com/office/drawing/2014/main" id="{B11DCA1E-F6A4-4E18-AAC2-1028D20DE498}"/>
              </a:ext>
            </a:extLst>
          </p:cNvPr>
          <p:cNvSpPr>
            <a:spLocks xmlns:a="http://schemas.openxmlformats.org/drawingml/2006/main" noGrp="1"/>
          </p:cNvSpPr>
          <p:nvPr/>
        </p:nvSpPr>
        <p:spPr>
          <a:xfrm xmlns:a="http://schemas.openxmlformats.org/drawingml/2006/main">
            <a:off x="352425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Train / grouped eval</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K-Means discovery</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Provenance sidecars</a:t>
            </a:r>
          </a:p>
        </p:txBody>
      </p:sp>
      <p:sp>
        <p:nvSpPr>
          <p:cNvPr id="13" name="ML.NET workflow stage">
            <a:extLst xmlns:a="http://schemas.openxmlformats.org/drawingml/2006/main">
              <a:ext uri="{FF2B5EF4-FFF2-40B4-BE49-F238E27FC236}">
                <a16:creationId xmlns:a16="http://schemas.microsoft.com/office/drawing/2014/main" id="{747DE053-DC09-47C8-8C57-6F9FE5B46F48}"/>
              </a:ext>
            </a:extLst>
          </p:cNvPr>
          <p:cNvSpPr>
            <a:spLocks xmlns:a="http://schemas.openxmlformats.org/drawingml/2006/main" noGrp="1"/>
          </p:cNvSpPr>
          <p:nvPr/>
        </p:nvSpPr>
        <p:spPr>
          <a:xfrm xmlns:a="http://schemas.openxmlformats.org/drawingml/2006/main">
            <a:off x="613410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4" name="Text">
            <a:extLst xmlns:a="http://schemas.openxmlformats.org/drawingml/2006/main">
              <a:ext uri="{FF2B5EF4-FFF2-40B4-BE49-F238E27FC236}">
                <a16:creationId xmlns:a16="http://schemas.microsoft.com/office/drawing/2014/main" id="{E6627583-949D-449B-B10F-4DDA38C90A9B}"/>
              </a:ext>
            </a:extLst>
          </p:cNvPr>
          <p:cNvSpPr>
            <a:spLocks xmlns:a="http://schemas.openxmlformats.org/drawingml/2006/main" noGrp="1"/>
          </p:cNvSpPr>
          <p:nvPr/>
        </p:nvSpPr>
        <p:spPr>
          <a:xfrm xmlns:a="http://schemas.openxmlformats.org/drawingml/2006/main">
            <a:off x="628650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VERSIONED OUTPUTS</a:t>
            </a:r>
          </a:p>
        </p:txBody>
      </p:sp>
      <p:sp>
        <p:nvSpPr>
          <p:cNvPr id="15" name="Text">
            <a:extLst xmlns:a="http://schemas.openxmlformats.org/drawingml/2006/main">
              <a:ext uri="{FF2B5EF4-FFF2-40B4-BE49-F238E27FC236}">
                <a16:creationId xmlns:a16="http://schemas.microsoft.com/office/drawing/2014/main" id="{D85BAD79-263D-4CC1-BC8A-A1A877B25A33}"/>
              </a:ext>
            </a:extLst>
          </p:cNvPr>
          <p:cNvSpPr>
            <a:spLocks xmlns:a="http://schemas.openxmlformats.org/drawingml/2006/main" noGrp="1"/>
          </p:cNvSpPr>
          <p:nvPr/>
        </p:nvSpPr>
        <p:spPr>
          <a:xfrm xmlns:a="http://schemas.openxmlformats.org/drawingml/2006/main">
            <a:off x="628650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Model .zip</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SHA-256 manifest</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Seed and lineage counts</a:t>
            </a:r>
          </a:p>
        </p:txBody>
      </p:sp>
      <p:sp>
        <p:nvSpPr>
          <p:cNvPr id="16" name="ML.NET workflow stage">
            <a:extLst xmlns:a="http://schemas.openxmlformats.org/drawingml/2006/main">
              <a:ext uri="{FF2B5EF4-FFF2-40B4-BE49-F238E27FC236}">
                <a16:creationId xmlns:a16="http://schemas.microsoft.com/office/drawing/2014/main" id="{E70B734F-4DBF-4DD4-AEFD-7D126D779961}"/>
              </a:ext>
            </a:extLst>
          </p:cNvPr>
          <p:cNvSpPr>
            <a:spLocks xmlns:a="http://schemas.openxmlformats.org/drawingml/2006/main" noGrp="1"/>
          </p:cNvSpPr>
          <p:nvPr/>
        </p:nvSpPr>
        <p:spPr>
          <a:xfrm xmlns:a="http://schemas.openxmlformats.org/drawingml/2006/main">
            <a:off x="8896350" y="2295525"/>
            <a:ext cx="2324100" cy="1990725"/>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7" name="Text">
            <a:extLst xmlns:a="http://schemas.openxmlformats.org/drawingml/2006/main">
              <a:ext uri="{FF2B5EF4-FFF2-40B4-BE49-F238E27FC236}">
                <a16:creationId xmlns:a16="http://schemas.microsoft.com/office/drawing/2014/main" id="{6399FABB-0529-40EA-9E77-C83B9C4DC4E7}"/>
              </a:ext>
            </a:extLst>
          </p:cNvPr>
          <p:cNvSpPr>
            <a:spLocks xmlns:a="http://schemas.openxmlformats.org/drawingml/2006/main" noGrp="1"/>
          </p:cNvSpPr>
          <p:nvPr/>
        </p:nvSpPr>
        <p:spPr>
          <a:xfrm xmlns:a="http://schemas.openxmlformats.org/drawingml/2006/main">
            <a:off x="9048750" y="2486025"/>
            <a:ext cx="2028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API + REACT</a:t>
            </a:r>
          </a:p>
        </p:txBody>
      </p:sp>
      <p:sp>
        <p:nvSpPr>
          <p:cNvPr id="18" name="Text">
            <a:extLst xmlns:a="http://schemas.openxmlformats.org/drawingml/2006/main">
              <a:ext uri="{FF2B5EF4-FFF2-40B4-BE49-F238E27FC236}">
                <a16:creationId xmlns:a16="http://schemas.microsoft.com/office/drawing/2014/main" id="{5CD80566-7799-453E-94AF-B9B28BA44556}"/>
              </a:ext>
            </a:extLst>
          </p:cNvPr>
          <p:cNvSpPr>
            <a:spLocks xmlns:a="http://schemas.openxmlformats.org/drawingml/2006/main" noGrp="1"/>
          </p:cNvSpPr>
          <p:nvPr/>
        </p:nvSpPr>
        <p:spPr>
          <a:xfrm xmlns:a="http://schemas.openxmlformats.org/drawingml/2006/main">
            <a:off x="9048750" y="2952750"/>
            <a:ext cx="2009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Saved artifact loading</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Per-field provenance</a:t>
            </a:r>
          </a:p>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Interactive review</a:t>
            </a:r>
          </a:p>
        </p:txBody>
      </p:sp>
      <p:sp>
        <p:nvSpPr>
          <p:cNvPr id="19" name="Diagram connector">
            <a:extLst xmlns:a="http://schemas.openxmlformats.org/drawingml/2006/main">
              <a:ext uri="{FF2B5EF4-FFF2-40B4-BE49-F238E27FC236}">
                <a16:creationId xmlns:a16="http://schemas.microsoft.com/office/drawing/2014/main" id="{9052D7FD-6810-4B3A-9EB7-C6DA22D89B92}"/>
              </a:ext>
            </a:extLst>
          </p:cNvPr>
          <p:cNvSpPr>
            <a:spLocks xmlns:a="http://schemas.openxmlformats.org/drawingml/2006/main" noGrp="1"/>
          </p:cNvSpPr>
          <p:nvPr/>
        </p:nvSpPr>
        <p:spPr>
          <a:xfrm xmlns:a="http://schemas.openxmlformats.org/drawingml/2006/main">
            <a:off x="2962275" y="3276600"/>
            <a:ext cx="3619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0" name="Diagram connector">
            <a:extLst xmlns:a="http://schemas.openxmlformats.org/drawingml/2006/main">
              <a:ext uri="{FF2B5EF4-FFF2-40B4-BE49-F238E27FC236}">
                <a16:creationId xmlns:a16="http://schemas.microsoft.com/office/drawing/2014/main" id="{2ECCD4FE-3A33-4BB0-8BA5-370FE886BB68}"/>
              </a:ext>
            </a:extLst>
          </p:cNvPr>
          <p:cNvSpPr>
            <a:spLocks xmlns:a="http://schemas.openxmlformats.org/drawingml/2006/main" noGrp="1"/>
          </p:cNvSpPr>
          <p:nvPr/>
        </p:nvSpPr>
        <p:spPr>
          <a:xfrm xmlns:a="http://schemas.openxmlformats.org/drawingml/2006/main">
            <a:off x="5724525" y="3276600"/>
            <a:ext cx="3619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1" name="Diagram connector">
            <a:extLst xmlns:a="http://schemas.openxmlformats.org/drawingml/2006/main">
              <a:ext uri="{FF2B5EF4-FFF2-40B4-BE49-F238E27FC236}">
                <a16:creationId xmlns:a16="http://schemas.microsoft.com/office/drawing/2014/main" id="{2B369B12-CD9E-4DEF-B1C3-538503ADF9D8}"/>
              </a:ext>
            </a:extLst>
          </p:cNvPr>
          <p:cNvSpPr>
            <a:spLocks xmlns:a="http://schemas.openxmlformats.org/drawingml/2006/main" noGrp="1"/>
          </p:cNvSpPr>
          <p:nvPr/>
        </p:nvSpPr>
        <p:spPr>
          <a:xfrm xmlns:a="http://schemas.openxmlformats.org/drawingml/2006/main">
            <a:off x="8486775" y="3276600"/>
            <a:ext cx="361950" cy="19050"/>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22" name="Section rule">
            <a:extLst xmlns:a="http://schemas.openxmlformats.org/drawingml/2006/main">
              <a:ext uri="{FF2B5EF4-FFF2-40B4-BE49-F238E27FC236}">
                <a16:creationId xmlns:a16="http://schemas.microsoft.com/office/drawing/2014/main" id="{69D8003E-FE01-418B-9FF0-1FFED905E071}"/>
              </a:ext>
            </a:extLst>
          </p:cNvPr>
          <p:cNvSpPr>
            <a:spLocks xmlns:a="http://schemas.openxmlformats.org/drawingml/2006/main" noGrp="1"/>
          </p:cNvSpPr>
          <p:nvPr/>
        </p:nvSpPr>
        <p:spPr>
          <a:xfrm xmlns:a="http://schemas.openxmlformats.org/drawingml/2006/main">
            <a:off x="609600" y="47910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0591B5FA-D86B-4602-82AA-87A1BEA8F682}"/>
              </a:ext>
            </a:extLst>
          </p:cNvPr>
          <p:cNvSpPr>
            <a:spLocks xmlns:a="http://schemas.openxmlformats.org/drawingml/2006/main" noGrp="1"/>
          </p:cNvSpPr>
          <p:nvPr/>
        </p:nvSpPr>
        <p:spPr>
          <a:xfrm xmlns:a="http://schemas.openxmlformats.org/drawingml/2006/main">
            <a:off x="609600" y="50863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Deployment setting</a:t>
            </a:r>
          </a:p>
        </p:txBody>
      </p:sp>
      <p:sp>
        <p:nvSpPr>
          <p:cNvPr id="24" name="Text">
            <a:extLst xmlns:a="http://schemas.openxmlformats.org/drawingml/2006/main">
              <a:ext uri="{FF2B5EF4-FFF2-40B4-BE49-F238E27FC236}">
                <a16:creationId xmlns:a16="http://schemas.microsoft.com/office/drawing/2014/main" id="{C9F2A5A5-240A-48CC-AA2D-B7321D9AC236}"/>
              </a:ext>
            </a:extLst>
          </p:cNvPr>
          <p:cNvSpPr>
            <a:spLocks xmlns:a="http://schemas.openxmlformats.org/drawingml/2006/main" noGrp="1"/>
          </p:cNvSpPr>
          <p:nvPr/>
        </p:nvSpPr>
        <p:spPr>
          <a:xfrm xmlns:a="http://schemas.openxmlformats.org/drawingml/2006/main">
            <a:off x="2667000" y="5019675"/>
            <a:ext cx="8334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TYM_MODEL_DIR loads both English artifacts. Without saved artifacts, the API uses its built-in seed baselines. Romanian extraction remains rule-based.</a:t>
            </a:r>
          </a:p>
        </p:txBody>
      </p:sp>
    </p:spTree>
    <p:extLst>
      <p:ext uri="{BB962C8B-B14F-4D97-AF65-F5344CB8AC3E}">
        <p14:creationId xmlns:p14="http://schemas.microsoft.com/office/powerpoint/2010/main" val="1392358201"/>
      </p:ext>
    </p:extLst>
  </p:cSld>
</p:sld>
</file>

<file path=ppt/slides/slide14.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19" name="Section label">
            <a:extLst xmlns:a="http://schemas.openxmlformats.org/drawingml/2006/main">
              <a:ext uri="{FF2B5EF4-FFF2-40B4-BE49-F238E27FC236}">
                <a16:creationId xmlns:a16="http://schemas.microsoft.com/office/drawing/2014/main" id="{A021F0D1-7752-4D89-9F13-5EBB2C0D19C7}"/>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ENGINEERING</a:t>
            </a:r>
          </a:p>
        </p:txBody>
      </p:sp>
      <p:sp>
        <p:nvSpPr>
          <p:cNvPr id="2" name="Slide title">
            <a:extLst xmlns:a="http://schemas.openxmlformats.org/drawingml/2006/main">
              <a:ext uri="{FF2B5EF4-FFF2-40B4-BE49-F238E27FC236}">
                <a16:creationId xmlns:a16="http://schemas.microsoft.com/office/drawing/2014/main" id="{34121CAC-ABBB-4FA7-835D-B9A500CC08B6}"/>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React workbench supports interactive inspection</a:t>
            </a:r>
          </a:p>
        </p:txBody>
      </p:sp>
      <p:sp>
        <p:nvSpPr>
          <p:cNvPr id="3" name="Section rule">
            <a:extLst xmlns:a="http://schemas.openxmlformats.org/drawingml/2006/main">
              <a:ext uri="{FF2B5EF4-FFF2-40B4-BE49-F238E27FC236}">
                <a16:creationId xmlns:a16="http://schemas.microsoft.com/office/drawing/2014/main" id="{947D5CC2-8B5D-4D5D-B4DF-8138BAFDB6C5}"/>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9FD8BAF9-53FC-48AE-902E-06A28E43D88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50F68AC1-FB54-4CE0-913C-AE1A56AF34A8}"/>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FF01F50D-36E2-4E8B-9D30-2155DFEEB09D}"/>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14</a:t>
            </a:r>
          </a:p>
        </p:txBody>
      </p:sp>
      <p:sp>
        <p:nvSpPr>
          <p:cNvPr id="7" name="Text">
            <a:extLst xmlns:a="http://schemas.openxmlformats.org/drawingml/2006/main">
              <a:ext uri="{FF2B5EF4-FFF2-40B4-BE49-F238E27FC236}">
                <a16:creationId xmlns:a16="http://schemas.microsoft.com/office/drawing/2014/main" id="{D6984306-8BCD-485B-B4BD-333A2EB4F03C}"/>
              </a:ext>
            </a:extLst>
          </p:cNvPr>
          <p:cNvSpPr>
            <a:spLocks xmlns:a="http://schemas.openxmlformats.org/drawingml/2006/main" noGrp="1"/>
          </p:cNvSpPr>
          <p:nvPr/>
        </p:nvSpPr>
        <p:spPr>
          <a:xfrm xmlns:a="http://schemas.openxmlformats.org/drawingml/2006/main">
            <a:off x="609600" y="19335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ANALYZE</a:t>
            </a:r>
          </a:p>
        </p:txBody>
      </p:sp>
      <p:sp>
        <p:nvSpPr>
          <p:cNvPr id="8" name="Text">
            <a:extLst xmlns:a="http://schemas.openxmlformats.org/drawingml/2006/main">
              <a:ext uri="{FF2B5EF4-FFF2-40B4-BE49-F238E27FC236}">
                <a16:creationId xmlns:a16="http://schemas.microsoft.com/office/drawing/2014/main" id="{0DAEA6DA-10F8-4132-B67F-75E1FD46C9DE}"/>
              </a:ext>
            </a:extLst>
          </p:cNvPr>
          <p:cNvSpPr>
            <a:spLocks xmlns:a="http://schemas.openxmlformats.org/drawingml/2006/main" noGrp="1"/>
          </p:cNvSpPr>
          <p:nvPr/>
        </p:nvSpPr>
        <p:spPr>
          <a:xfrm xmlns:a="http://schemas.openxmlformats.org/drawingml/2006/main">
            <a:off x="609600" y="2324100"/>
            <a:ext cx="2714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Select English or Romanian text.</a:t>
            </a:r>
          </a:p>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Generate SVG, JSON, XML, or TimeML output.</a:t>
            </a:r>
          </a:p>
        </p:txBody>
      </p:sp>
      <p:sp>
        <p:nvSpPr>
          <p:cNvPr id="9" name="Section rule">
            <a:extLst xmlns:a="http://schemas.openxmlformats.org/drawingml/2006/main">
              <a:ext uri="{FF2B5EF4-FFF2-40B4-BE49-F238E27FC236}">
                <a16:creationId xmlns:a16="http://schemas.microsoft.com/office/drawing/2014/main" id="{3D92276A-75BD-4D8C-8710-A0993EED1166}"/>
              </a:ext>
            </a:extLst>
          </p:cNvPr>
          <p:cNvSpPr>
            <a:spLocks xmlns:a="http://schemas.openxmlformats.org/drawingml/2006/main" noGrp="1"/>
          </p:cNvSpPr>
          <p:nvPr/>
        </p:nvSpPr>
        <p:spPr>
          <a:xfrm xmlns:a="http://schemas.openxmlformats.org/drawingml/2006/main">
            <a:off x="609600" y="3600450"/>
            <a:ext cx="30099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CA25A2B1-5250-4FE9-9A18-A1DC790F3105}"/>
              </a:ext>
            </a:extLst>
          </p:cNvPr>
          <p:cNvSpPr>
            <a:spLocks xmlns:a="http://schemas.openxmlformats.org/drawingml/2006/main" noGrp="1"/>
          </p:cNvSpPr>
          <p:nvPr/>
        </p:nvSpPr>
        <p:spPr>
          <a:xfrm xmlns:a="http://schemas.openxmlformats.org/drawingml/2006/main">
            <a:off x="609600" y="3829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FILTER</a:t>
            </a:r>
          </a:p>
        </p:txBody>
      </p:sp>
      <p:sp>
        <p:nvSpPr>
          <p:cNvPr id="11" name="Text">
            <a:extLst xmlns:a="http://schemas.openxmlformats.org/drawingml/2006/main">
              <a:ext uri="{FF2B5EF4-FFF2-40B4-BE49-F238E27FC236}">
                <a16:creationId xmlns:a16="http://schemas.microsoft.com/office/drawing/2014/main" id="{AA6A91BC-279A-4582-A15F-FE359537701D}"/>
              </a:ext>
            </a:extLst>
          </p:cNvPr>
          <p:cNvSpPr>
            <a:spLocks xmlns:a="http://schemas.openxmlformats.org/drawingml/2006/main" noGrp="1"/>
          </p:cNvSpPr>
          <p:nvPr/>
        </p:nvSpPr>
        <p:spPr>
          <a:xfrm xmlns:a="http://schemas.openxmlformats.org/drawingml/2006/main">
            <a:off x="609600" y="4219575"/>
            <a:ext cx="2714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259"/>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Narrow events by temporal category, actor, and confidence.</a:t>
            </a:r>
          </a:p>
        </p:txBody>
      </p:sp>
      <p:sp>
        <p:nvSpPr>
          <p:cNvPr id="12" name="Section rule">
            <a:extLst xmlns:a="http://schemas.openxmlformats.org/drawingml/2006/main">
              <a:ext uri="{FF2B5EF4-FFF2-40B4-BE49-F238E27FC236}">
                <a16:creationId xmlns:a16="http://schemas.microsoft.com/office/drawing/2014/main" id="{9DB12652-53AE-4C4D-BE2D-D13CAF3EE4F3}"/>
              </a:ext>
            </a:extLst>
          </p:cNvPr>
          <p:cNvSpPr>
            <a:spLocks xmlns:a="http://schemas.openxmlformats.org/drawingml/2006/main" noGrp="1"/>
          </p:cNvSpPr>
          <p:nvPr/>
        </p:nvSpPr>
        <p:spPr>
          <a:xfrm xmlns:a="http://schemas.openxmlformats.org/drawingml/2006/main">
            <a:off x="4067175" y="1885950"/>
            <a:ext cx="9525" cy="0"/>
          </a:xfrm>
          <a:prstGeom xmlns:a="http://schemas.openxmlformats.org/drawingml/2006/main" prst="rect">
            <a:avLst/>
          </a:prstGeom>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D0CCFDF-7829-4FB7-9DB6-66C774B8CF81}"/>
              </a:ext>
            </a:extLst>
          </p:cNvPr>
          <p:cNvSpPr>
            <a:spLocks xmlns:a="http://schemas.openxmlformats.org/drawingml/2006/main" noGrp="1"/>
          </p:cNvSpPr>
          <p:nvPr/>
        </p:nvSpPr>
        <p:spPr>
          <a:xfrm xmlns:a="http://schemas.openxmlformats.org/drawingml/2006/main">
            <a:off x="4638675" y="193357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INSPECT</a:t>
            </a:r>
          </a:p>
        </p:txBody>
      </p:sp>
      <p:sp>
        <p:nvSpPr>
          <p:cNvPr id="14" name="Text">
            <a:extLst xmlns:a="http://schemas.openxmlformats.org/drawingml/2006/main">
              <a:ext uri="{FF2B5EF4-FFF2-40B4-BE49-F238E27FC236}">
                <a16:creationId xmlns:a16="http://schemas.microsoft.com/office/drawing/2014/main" id="{C0D1C3E7-18DE-48CD-871B-AB8527739C74}"/>
              </a:ext>
            </a:extLst>
          </p:cNvPr>
          <p:cNvSpPr>
            <a:spLocks xmlns:a="http://schemas.openxmlformats.org/drawingml/2006/main" noGrp="1"/>
          </p:cNvSpPr>
          <p:nvPr/>
        </p:nvSpPr>
        <p:spPr>
          <a:xfrm xmlns:a="http://schemas.openxmlformats.org/drawingml/2006/main">
            <a:off x="4638675" y="2324100"/>
            <a:ext cx="5981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F3F6F4"/>
                </a:solidFill>
                <a:latin typeface="Arial"/>
                <a:ea typeface="Arial"/>
                <a:cs typeface="Arial"/>
              </a:defRPr>
            </a:pPr>
            <a:r>
              <a:rPr sz="1725" b="0">
                <a:solidFill>
                  <a:srgbClr val="F3F6F4"/>
                </a:solidFill>
                <a:latin typeface="Arial"/>
                <a:ea typeface="Arial"/>
                <a:cs typeface="Arial"/>
              </a:rPr>
              <a:t>Select an event or segment to highlight its source span. Open the detail view for anchors, actors, relation cues, classifier confidence, and provenance.</a:t>
            </a:r>
          </a:p>
        </p:txBody>
      </p:sp>
      <p:sp>
        <p:nvSpPr>
          <p:cNvPr id="15" name="Section rule">
            <a:extLst xmlns:a="http://schemas.openxmlformats.org/drawingml/2006/main">
              <a:ext uri="{FF2B5EF4-FFF2-40B4-BE49-F238E27FC236}">
                <a16:creationId xmlns:a16="http://schemas.microsoft.com/office/drawing/2014/main" id="{16AE026E-0A36-4C02-B77D-ECD555C14AD0}"/>
              </a:ext>
            </a:extLst>
          </p:cNvPr>
          <p:cNvSpPr>
            <a:spLocks xmlns:a="http://schemas.openxmlformats.org/drawingml/2006/main" noGrp="1"/>
          </p:cNvSpPr>
          <p:nvPr/>
        </p:nvSpPr>
        <p:spPr>
          <a:xfrm xmlns:a="http://schemas.openxmlformats.org/drawingml/2006/main">
            <a:off x="4638675" y="3600450"/>
            <a:ext cx="600075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46F102F4-F153-46E6-A8A9-8A7BED7C3A58}"/>
              </a:ext>
            </a:extLst>
          </p:cNvPr>
          <p:cNvSpPr>
            <a:spLocks xmlns:a="http://schemas.openxmlformats.org/drawingml/2006/main" noGrp="1"/>
          </p:cNvSpPr>
          <p:nvPr/>
        </p:nvSpPr>
        <p:spPr>
          <a:xfrm xmlns:a="http://schemas.openxmlformats.org/drawingml/2006/main">
            <a:off x="4638675" y="3829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REVIEW</a:t>
            </a:r>
          </a:p>
        </p:txBody>
      </p:sp>
      <p:sp>
        <p:nvSpPr>
          <p:cNvPr id="17" name="Text">
            <a:extLst xmlns:a="http://schemas.openxmlformats.org/drawingml/2006/main">
              <a:ext uri="{FF2B5EF4-FFF2-40B4-BE49-F238E27FC236}">
                <a16:creationId xmlns:a16="http://schemas.microsoft.com/office/drawing/2014/main" id="{1FC5A74B-5E8D-499C-A76A-C311FB279501}"/>
              </a:ext>
            </a:extLst>
          </p:cNvPr>
          <p:cNvSpPr>
            <a:spLocks xmlns:a="http://schemas.openxmlformats.org/drawingml/2006/main" noGrp="1"/>
          </p:cNvSpPr>
          <p:nvPr/>
        </p:nvSpPr>
        <p:spPr>
          <a:xfrm xmlns:a="http://schemas.openxmlformats.org/drawingml/2006/main">
            <a:off x="4638675" y="4219575"/>
            <a:ext cx="598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3F6F4"/>
                </a:solidFill>
                <a:latin typeface="Arial"/>
                <a:ea typeface="Arial"/>
                <a:cs typeface="Arial"/>
              </a:defRPr>
            </a:pPr>
            <a:r>
              <a:rPr sz="1650" b="0">
                <a:solidFill>
                  <a:srgbClr val="F3F6F4"/>
                </a:solidFill>
                <a:latin typeface="Arial"/>
                <a:ea typeface="Arial"/>
                <a:cs typeface="Arial"/>
              </a:rPr>
              <a:t>Use the evidence panel to find low-confidence or under-covered phenomena and draft the next annotation batch.</a:t>
            </a:r>
          </a:p>
        </p:txBody>
      </p:sp>
      <p:sp>
        <p:nvSpPr>
          <p:cNvPr id="18" name="Text">
            <a:extLst xmlns:a="http://schemas.openxmlformats.org/drawingml/2006/main">
              <a:ext uri="{FF2B5EF4-FFF2-40B4-BE49-F238E27FC236}">
                <a16:creationId xmlns:a16="http://schemas.microsoft.com/office/drawing/2014/main" id="{FDF363EB-911A-427F-ACB4-00A358D8F011}"/>
              </a:ext>
            </a:extLst>
          </p:cNvPr>
          <p:cNvSpPr>
            <a:spLocks xmlns:a="http://schemas.openxmlformats.org/drawingml/2006/main" noGrp="1"/>
          </p:cNvSpPr>
          <p:nvPr/>
        </p:nvSpPr>
        <p:spPr>
          <a:xfrm xmlns:a="http://schemas.openxmlformats.org/drawingml/2006/main">
            <a:off x="609600" y="5486400"/>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0C36A"/>
                </a:solidFill>
                <a:latin typeface="Arial"/>
                <a:ea typeface="Arial"/>
                <a:cs typeface="Arial"/>
              </a:defRPr>
            </a:pPr>
            <a:r>
              <a:rPr sz="1425" b="1">
                <a:solidFill>
                  <a:srgbClr val="F0C36A"/>
                </a:solidFill>
                <a:latin typeface="Arial"/>
                <a:ea typeface="Arial"/>
                <a:cs typeface="Arial"/>
              </a:rPr>
              <a:t>The workbench exposes model evidence for review and leaves annotation and adjudication to researchers.</a:t>
            </a:r>
          </a:p>
        </p:txBody>
      </p:sp>
    </p:spTree>
    <p:extLst>
      <p:ext uri="{BB962C8B-B14F-4D97-AF65-F5344CB8AC3E}">
        <p14:creationId xmlns:p14="http://schemas.microsoft.com/office/powerpoint/2010/main" val="2103581501"/>
      </p:ext>
    </p:extLst>
  </p:cSld>
</p:sld>
</file>

<file path=ppt/slides/slide15.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1" name="Section label">
            <a:extLst xmlns:a="http://schemas.openxmlformats.org/drawingml/2006/main">
              <a:ext uri="{FF2B5EF4-FFF2-40B4-BE49-F238E27FC236}">
                <a16:creationId xmlns:a16="http://schemas.microsoft.com/office/drawing/2014/main" id="{7E4077D4-4804-455F-89B6-47FC54D5C954}"/>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CORPUS DESIGN</a:t>
            </a:r>
          </a:p>
        </p:txBody>
      </p:sp>
      <p:sp>
        <p:nvSpPr>
          <p:cNvPr id="2" name="Slide title">
            <a:extLst xmlns:a="http://schemas.openxmlformats.org/drawingml/2006/main">
              <a:ext uri="{FF2B5EF4-FFF2-40B4-BE49-F238E27FC236}">
                <a16:creationId xmlns:a16="http://schemas.microsoft.com/office/drawing/2014/main" id="{ADAC6662-B35E-4A6F-ABE5-C7AF3CD7F3A0}"/>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Corpus plan: one target dataset, separate comparators</a:t>
            </a:r>
          </a:p>
        </p:txBody>
      </p:sp>
      <p:sp>
        <p:nvSpPr>
          <p:cNvPr id="3" name="Section rule">
            <a:extLst xmlns:a="http://schemas.openxmlformats.org/drawingml/2006/main">
              <a:ext uri="{FF2B5EF4-FFF2-40B4-BE49-F238E27FC236}">
                <a16:creationId xmlns:a16="http://schemas.microsoft.com/office/drawing/2014/main" id="{76FD5A8A-3CCC-4DAB-A8F2-D0C1F64EA412}"/>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DEA04331-23B4-4430-A01E-D9C794CF66E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9412D6BA-6EC8-4929-86F0-1EB65644628E}"/>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35E090F7-B41F-4EB2-87A9-4F0FD63D4A5D}"/>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15</a:t>
            </a:r>
          </a:p>
        </p:txBody>
      </p:sp>
      <p:sp>
        <p:nvSpPr>
          <p:cNvPr id="7" name="Text">
            <a:extLst xmlns:a="http://schemas.openxmlformats.org/drawingml/2006/main">
              <a:ext uri="{FF2B5EF4-FFF2-40B4-BE49-F238E27FC236}">
                <a16:creationId xmlns:a16="http://schemas.microsoft.com/office/drawing/2014/main" id="{50A35DA8-CD4F-457D-8B18-8B55A45B3691}"/>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AAB8B0"/>
                </a:solidFill>
                <a:latin typeface="Arial"/>
                <a:ea typeface="Arial"/>
                <a:cs typeface="Arial"/>
              </a:defRPr>
            </a:pPr>
            <a:r>
              <a:rPr sz="1650" b="0">
                <a:solidFill>
                  <a:srgbClr val="AAB8B0"/>
                </a:solidFill>
                <a:latin typeface="Arial"/>
                <a:ea typeface="Arial"/>
                <a:cs typeface="Arial"/>
              </a:rPr>
              <a:t>Use existing corpora to test compatible layers; build TYM labels on rights-cleared target narratives.</a:t>
            </a:r>
          </a:p>
        </p:txBody>
      </p:sp>
      <p:sp>
        <p:nvSpPr>
          <p:cNvPr id="8" name="Corpus role card">
            <a:extLst xmlns:a="http://schemas.openxmlformats.org/drawingml/2006/main">
              <a:ext uri="{FF2B5EF4-FFF2-40B4-BE49-F238E27FC236}">
                <a16:creationId xmlns:a16="http://schemas.microsoft.com/office/drawing/2014/main" id="{55FB158F-D48E-4124-B186-987F95BCA4C4}"/>
              </a:ext>
            </a:extLst>
          </p:cNvPr>
          <p:cNvSpPr>
            <a:spLocks xmlns:a="http://schemas.openxmlformats.org/drawingml/2006/main" noGrp="1"/>
          </p:cNvSpPr>
          <p:nvPr/>
        </p:nvSpPr>
        <p:spPr>
          <a:xfrm xmlns:a="http://schemas.openxmlformats.org/drawingml/2006/main">
            <a:off x="609600" y="2076450"/>
            <a:ext cx="3505200" cy="3276600"/>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9" name="Section rule">
            <a:extLst xmlns:a="http://schemas.openxmlformats.org/drawingml/2006/main">
              <a:ext uri="{FF2B5EF4-FFF2-40B4-BE49-F238E27FC236}">
                <a16:creationId xmlns:a16="http://schemas.microsoft.com/office/drawing/2014/main" id="{5EED8B5F-7B35-4726-A5D7-3D8E46CAA653}"/>
              </a:ext>
            </a:extLst>
          </p:cNvPr>
          <p:cNvSpPr>
            <a:spLocks xmlns:a="http://schemas.openxmlformats.org/drawingml/2006/main" noGrp="1"/>
          </p:cNvSpPr>
          <p:nvPr/>
        </p:nvSpPr>
        <p:spPr>
          <a:xfrm xmlns:a="http://schemas.openxmlformats.org/drawingml/2006/main">
            <a:off x="609600" y="2076450"/>
            <a:ext cx="350520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3594DC45-907D-4FA4-ABDC-4E55244979F3}"/>
              </a:ext>
            </a:extLst>
          </p:cNvPr>
          <p:cNvSpPr>
            <a:spLocks xmlns:a="http://schemas.openxmlformats.org/drawingml/2006/main" noGrp="1"/>
          </p:cNvSpPr>
          <p:nvPr/>
        </p:nvSpPr>
        <p:spPr>
          <a:xfrm xmlns:a="http://schemas.openxmlformats.org/drawingml/2006/main">
            <a:off x="781050" y="22860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HUMAN-GOLD CORE</a:t>
            </a:r>
          </a:p>
        </p:txBody>
      </p:sp>
      <p:sp>
        <p:nvSpPr>
          <p:cNvPr id="11" name="Text">
            <a:extLst xmlns:a="http://schemas.openxmlformats.org/drawingml/2006/main">
              <a:ext uri="{FF2B5EF4-FFF2-40B4-BE49-F238E27FC236}">
                <a16:creationId xmlns:a16="http://schemas.microsoft.com/office/drawing/2014/main" id="{FCA9D9DE-10E3-444D-9F2E-B3993381F2DB}"/>
              </a:ext>
            </a:extLst>
          </p:cNvPr>
          <p:cNvSpPr>
            <a:spLocks xmlns:a="http://schemas.openxmlformats.org/drawingml/2006/main" noGrp="1"/>
          </p:cNvSpPr>
          <p:nvPr/>
        </p:nvSpPr>
        <p:spPr>
          <a:xfrm xmlns:a="http://schemas.openxmlformats.org/drawingml/2006/main">
            <a:off x="781050" y="2695575"/>
            <a:ext cx="314325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Original narratives in declared genres and languages.</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Annotate event spans, segment/frame labels, temporal anchors, and relations with written guidelines, independent annotators, and adjudication.</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Only this set defines TYM gold.</a:t>
            </a:r>
          </a:p>
        </p:txBody>
      </p:sp>
      <p:sp>
        <p:nvSpPr>
          <p:cNvPr id="12" name="Corpus role card">
            <a:extLst xmlns:a="http://schemas.openxmlformats.org/drawingml/2006/main">
              <a:ext uri="{FF2B5EF4-FFF2-40B4-BE49-F238E27FC236}">
                <a16:creationId xmlns:a16="http://schemas.microsoft.com/office/drawing/2014/main" id="{3BF8C8A3-9F75-4DB3-999E-4BC8678F0427}"/>
              </a:ext>
            </a:extLst>
          </p:cNvPr>
          <p:cNvSpPr>
            <a:spLocks xmlns:a="http://schemas.openxmlformats.org/drawingml/2006/main" noGrp="1"/>
          </p:cNvSpPr>
          <p:nvPr/>
        </p:nvSpPr>
        <p:spPr>
          <a:xfrm xmlns:a="http://schemas.openxmlformats.org/drawingml/2006/main">
            <a:off x="4343400" y="2076450"/>
            <a:ext cx="3505200" cy="3276600"/>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3" name="Section rule">
            <a:extLst xmlns:a="http://schemas.openxmlformats.org/drawingml/2006/main">
              <a:ext uri="{FF2B5EF4-FFF2-40B4-BE49-F238E27FC236}">
                <a16:creationId xmlns:a16="http://schemas.microsoft.com/office/drawing/2014/main" id="{E5F62E1C-6514-4BAA-9C5E-DE1C5EA6EC38}"/>
              </a:ext>
            </a:extLst>
          </p:cNvPr>
          <p:cNvSpPr>
            <a:spLocks xmlns:a="http://schemas.openxmlformats.org/drawingml/2006/main" noGrp="1"/>
          </p:cNvSpPr>
          <p:nvPr/>
        </p:nvSpPr>
        <p:spPr>
          <a:xfrm xmlns:a="http://schemas.openxmlformats.org/drawingml/2006/main">
            <a:off x="4343400" y="2076450"/>
            <a:ext cx="350520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B476AF7-C4B1-4EA4-B620-B96A14810CD0}"/>
              </a:ext>
            </a:extLst>
          </p:cNvPr>
          <p:cNvSpPr>
            <a:spLocks xmlns:a="http://schemas.openxmlformats.org/drawingml/2006/main" noGrp="1"/>
          </p:cNvSpPr>
          <p:nvPr/>
        </p:nvSpPr>
        <p:spPr>
          <a:xfrm xmlns:a="http://schemas.openxmlformats.org/drawingml/2006/main">
            <a:off x="4514850" y="22860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PUBLIC TASK COMPARATORS</a:t>
            </a:r>
          </a:p>
        </p:txBody>
      </p:sp>
      <p:sp>
        <p:nvSpPr>
          <p:cNvPr id="15" name="Text">
            <a:extLst xmlns:a="http://schemas.openxmlformats.org/drawingml/2006/main">
              <a:ext uri="{FF2B5EF4-FFF2-40B4-BE49-F238E27FC236}">
                <a16:creationId xmlns:a16="http://schemas.microsoft.com/office/drawing/2014/main" id="{1DE89F62-149C-4400-A4FF-23AE6BDF35E6}"/>
              </a:ext>
            </a:extLst>
          </p:cNvPr>
          <p:cNvSpPr>
            <a:spLocks xmlns:a="http://schemas.openxmlformats.org/drawingml/2006/main" noGrp="1"/>
          </p:cNvSpPr>
          <p:nvPr/>
        </p:nvSpPr>
        <p:spPr>
          <a:xfrm xmlns:a="http://schemas.openxmlformats.org/drawingml/2006/main">
            <a:off x="4514850" y="2695575"/>
            <a:ext cx="314325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NarrativeTime / TimeBank-Dense: dense links, news domain.</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TIMELINE: long-distance links and nominalized events, news domain.</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CaTeRS / ROCStories: short stories with temporal and causal links.</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MEANTIME: four-language parallel news; target-language labels are partly projected.</a:t>
            </a:r>
          </a:p>
        </p:txBody>
      </p:sp>
      <p:sp>
        <p:nvSpPr>
          <p:cNvPr id="16" name="Corpus role card">
            <a:extLst xmlns:a="http://schemas.openxmlformats.org/drawingml/2006/main">
              <a:ext uri="{FF2B5EF4-FFF2-40B4-BE49-F238E27FC236}">
                <a16:creationId xmlns:a16="http://schemas.microsoft.com/office/drawing/2014/main" id="{CE58B25B-DDBB-4A95-871E-991B449B192E}"/>
              </a:ext>
            </a:extLst>
          </p:cNvPr>
          <p:cNvSpPr>
            <a:spLocks xmlns:a="http://schemas.openxmlformats.org/drawingml/2006/main" noGrp="1"/>
          </p:cNvSpPr>
          <p:nvPr/>
        </p:nvSpPr>
        <p:spPr>
          <a:xfrm xmlns:a="http://schemas.openxmlformats.org/drawingml/2006/main">
            <a:off x="8077200" y="2076450"/>
            <a:ext cx="3505200" cy="3276600"/>
          </a:xfrm>
          <a:prstGeom xmlns:a="http://schemas.openxmlformats.org/drawingml/2006/main" prst="rect">
            <a:avLst/>
          </a:prstGeom>
          <a:solidFill xmlns:a="http://schemas.openxmlformats.org/drawingml/2006/main">
            <a:srgbClr val="272D29"/>
          </a:solidFill>
          <a:ln xmlns:a="http://schemas.openxmlformats.org/drawingml/2006/main" w="9525">
            <a:solidFill>
              <a:srgbClr val="47534B"/>
            </a:solidFill>
          </a:ln>
        </p:spPr>
      </p:sp>
      <p:sp>
        <p:nvSpPr>
          <p:cNvPr id="17" name="Section rule">
            <a:extLst xmlns:a="http://schemas.openxmlformats.org/drawingml/2006/main">
              <a:ext uri="{FF2B5EF4-FFF2-40B4-BE49-F238E27FC236}">
                <a16:creationId xmlns:a16="http://schemas.microsoft.com/office/drawing/2014/main" id="{B806D207-2711-4CAC-9BBC-7FF8B5543AA0}"/>
              </a:ext>
            </a:extLst>
          </p:cNvPr>
          <p:cNvSpPr>
            <a:spLocks xmlns:a="http://schemas.openxmlformats.org/drawingml/2006/main" noGrp="1"/>
          </p:cNvSpPr>
          <p:nvPr/>
        </p:nvSpPr>
        <p:spPr>
          <a:xfrm xmlns:a="http://schemas.openxmlformats.org/drawingml/2006/main">
            <a:off x="8077200" y="2076450"/>
            <a:ext cx="3505200" cy="2857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B11ECF9C-739B-4B4A-B438-BFA593A28943}"/>
              </a:ext>
            </a:extLst>
          </p:cNvPr>
          <p:cNvSpPr>
            <a:spLocks xmlns:a="http://schemas.openxmlformats.org/drawingml/2006/main" noGrp="1"/>
          </p:cNvSpPr>
          <p:nvPr/>
        </p:nvSpPr>
        <p:spPr>
          <a:xfrm xmlns:a="http://schemas.openxmlformats.org/drawingml/2006/main">
            <a:off x="8248650" y="22860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UNLABELED DISCOVERY POOL</a:t>
            </a:r>
          </a:p>
        </p:txBody>
      </p:sp>
      <p:sp>
        <p:nvSpPr>
          <p:cNvPr id="19" name="Text">
            <a:extLst xmlns:a="http://schemas.openxmlformats.org/drawingml/2006/main">
              <a:ext uri="{FF2B5EF4-FFF2-40B4-BE49-F238E27FC236}">
                <a16:creationId xmlns:a16="http://schemas.microsoft.com/office/drawing/2014/main" id="{0E369696-46A9-4994-B429-61FE1641D74E}"/>
              </a:ext>
            </a:extLst>
          </p:cNvPr>
          <p:cNvSpPr>
            <a:spLocks xmlns:a="http://schemas.openxmlformats.org/drawingml/2006/main" noGrp="1"/>
          </p:cNvSpPr>
          <p:nvPr/>
        </p:nvSpPr>
        <p:spPr>
          <a:xfrm xmlns:a="http://schemas.openxmlformats.org/drawingml/2006/main">
            <a:off x="8248650" y="2695575"/>
            <a:ext cx="314325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Collect rights-cleared text that matches target genres and languages; retain source, author/work, date, genre, and language metadata.</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Use ML.NET n-gram clusters to inspect strata, rare groups, and outliers.</a:t>
            </a:r>
          </a:p>
          <a:p xmlns:a="http://schemas.openxmlformats.org/drawingml/2006/main">
            <a:r>
              <a:t/>
            </a:r>
          </a:p>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Compare random and cluster-guided samples at the same human annotation budget. Clusters never become TYM labels.</a:t>
            </a:r>
          </a:p>
        </p:txBody>
      </p:sp>
      <p:sp>
        <p:nvSpPr>
          <p:cNvPr id="20" name="Text">
            <a:extLst xmlns:a="http://schemas.openxmlformats.org/drawingml/2006/main">
              <a:ext uri="{FF2B5EF4-FFF2-40B4-BE49-F238E27FC236}">
                <a16:creationId xmlns:a16="http://schemas.microsoft.com/office/drawing/2014/main" id="{47AA0406-2333-43EF-9309-A7160CA67E68}"/>
              </a:ext>
            </a:extLst>
          </p:cNvPr>
          <p:cNvSpPr>
            <a:spLocks xmlns:a="http://schemas.openxmlformats.org/drawingml/2006/main" noGrp="1"/>
          </p:cNvSpPr>
          <p:nvPr/>
        </p:nvSpPr>
        <p:spPr>
          <a:xfrm xmlns:a="http://schemas.openxmlformats.org/drawingml/2006/main">
            <a:off x="609600" y="558165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Do not map news or short-story labels onto NAR / REM / SUP / GEN / FIC without a documented schema crosswalk and human validation.</a:t>
            </a:r>
          </a:p>
        </p:txBody>
      </p:sp>
    </p:spTree>
    <p:extLst>
      <p:ext uri="{BB962C8B-B14F-4D97-AF65-F5344CB8AC3E}">
        <p14:creationId xmlns:p14="http://schemas.microsoft.com/office/powerpoint/2010/main" val="731773191"/>
      </p:ext>
    </p:extLst>
  </p:cSld>
</p:sld>
</file>

<file path=ppt/slides/slide16.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32" name="Section label">
            <a:extLst xmlns:a="http://schemas.openxmlformats.org/drawingml/2006/main">
              <a:ext uri="{FF2B5EF4-FFF2-40B4-BE49-F238E27FC236}">
                <a16:creationId xmlns:a16="http://schemas.microsoft.com/office/drawing/2014/main" id="{E645E0A8-BE93-4EE4-A9E7-80D139F85EF7}"/>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CONFERENCE-FIT DATA PLAN</a:t>
            </a:r>
          </a:p>
        </p:txBody>
      </p:sp>
      <p:sp>
        <p:nvSpPr>
          <p:cNvPr id="2" name="Slide title">
            <a:extLst xmlns:a="http://schemas.openxmlformats.org/drawingml/2006/main">
              <a:ext uri="{FF2B5EF4-FFF2-40B4-BE49-F238E27FC236}">
                <a16:creationId xmlns:a16="http://schemas.microsoft.com/office/drawing/2014/main" id="{0254FE1A-783E-49BC-B5F1-42AEB2AB03CD}"/>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Adapt the corpus question to each conference</a:t>
            </a:r>
          </a:p>
        </p:txBody>
      </p:sp>
      <p:sp>
        <p:nvSpPr>
          <p:cNvPr id="3" name="Section rule">
            <a:extLst xmlns:a="http://schemas.openxmlformats.org/drawingml/2006/main">
              <a:ext uri="{FF2B5EF4-FFF2-40B4-BE49-F238E27FC236}">
                <a16:creationId xmlns:a16="http://schemas.microsoft.com/office/drawing/2014/main" id="{81527EFF-C7AA-48FE-9575-06D58EFC55A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D38330B2-0BA5-43B2-969D-C6E2E4ABE69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F3F178F5-7124-4352-BC62-C2796C9DF2A9}"/>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09B02FA9-A34E-40E6-ACCA-D399383678E9}"/>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16</a:t>
            </a:r>
          </a:p>
        </p:txBody>
      </p:sp>
      <p:sp>
        <p:nvSpPr>
          <p:cNvPr id="7" name="Text">
            <a:extLst xmlns:a="http://schemas.openxmlformats.org/drawingml/2006/main">
              <a:ext uri="{FF2B5EF4-FFF2-40B4-BE49-F238E27FC236}">
                <a16:creationId xmlns:a16="http://schemas.microsoft.com/office/drawing/2014/main" id="{0B7AC3FB-7B25-4A1E-A47D-3AAF6EDD4195}"/>
              </a:ext>
            </a:extLst>
          </p:cNvPr>
          <p:cNvSpPr>
            <a:spLocks xmlns:a="http://schemas.openxmlformats.org/drawingml/2006/main" noGrp="1"/>
          </p:cNvSpPr>
          <p:nvPr/>
        </p:nvSpPr>
        <p:spPr>
          <a:xfrm xmlns:a="http://schemas.openxmlformats.org/drawingml/2006/main">
            <a:off x="609600" y="1533525"/>
            <a:ext cx="2000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2DDA8"/>
                </a:solidFill>
                <a:latin typeface="Arial"/>
                <a:ea typeface="Arial"/>
                <a:cs typeface="Arial"/>
              </a:defRPr>
            </a:pPr>
            <a:r>
              <a:rPr sz="1050" b="1">
                <a:solidFill>
                  <a:srgbClr val="62DDA8"/>
                </a:solidFill>
                <a:latin typeface="Arial"/>
                <a:ea typeface="Arial"/>
                <a:cs typeface="Arial"/>
              </a:rPr>
              <a:t>VENUE / LENS</a:t>
            </a:r>
          </a:p>
        </p:txBody>
      </p:sp>
      <p:sp>
        <p:nvSpPr>
          <p:cNvPr id="8" name="Text">
            <a:extLst xmlns:a="http://schemas.openxmlformats.org/drawingml/2006/main">
              <a:ext uri="{FF2B5EF4-FFF2-40B4-BE49-F238E27FC236}">
                <a16:creationId xmlns:a16="http://schemas.microsoft.com/office/drawing/2014/main" id="{0900B984-F05A-4661-BF41-89951261D8D7}"/>
              </a:ext>
            </a:extLst>
          </p:cNvPr>
          <p:cNvSpPr>
            <a:spLocks xmlns:a="http://schemas.openxmlformats.org/drawingml/2006/main" noGrp="1"/>
          </p:cNvSpPr>
          <p:nvPr/>
        </p:nvSpPr>
        <p:spPr>
          <a:xfrm xmlns:a="http://schemas.openxmlformats.org/drawingml/2006/main">
            <a:off x="2781300" y="1533525"/>
            <a:ext cx="4524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2DDA8"/>
                </a:solidFill>
                <a:latin typeface="Arial"/>
                <a:ea typeface="Arial"/>
                <a:cs typeface="Arial"/>
              </a:defRPr>
            </a:pPr>
            <a:r>
              <a:rPr sz="1050" b="1">
                <a:solidFill>
                  <a:srgbClr val="62DDA8"/>
                </a:solidFill>
                <a:latin typeface="Arial"/>
                <a:ea typeface="Arial"/>
                <a:cs typeface="Arial"/>
              </a:rPr>
              <a:t>CORPUS AND TRAINING ADAPTATION</a:t>
            </a:r>
          </a:p>
        </p:txBody>
      </p:sp>
      <p:sp>
        <p:nvSpPr>
          <p:cNvPr id="9" name="Text">
            <a:extLst xmlns:a="http://schemas.openxmlformats.org/drawingml/2006/main">
              <a:ext uri="{FF2B5EF4-FFF2-40B4-BE49-F238E27FC236}">
                <a16:creationId xmlns:a16="http://schemas.microsoft.com/office/drawing/2014/main" id="{64B86B75-ADC1-4F64-8B2C-7BE231458A89}"/>
              </a:ext>
            </a:extLst>
          </p:cNvPr>
          <p:cNvSpPr>
            <a:spLocks xmlns:a="http://schemas.openxmlformats.org/drawingml/2006/main" noGrp="1"/>
          </p:cNvSpPr>
          <p:nvPr/>
        </p:nvSpPr>
        <p:spPr>
          <a:xfrm xmlns:a="http://schemas.openxmlformats.org/drawingml/2006/main">
            <a:off x="7486650" y="1533525"/>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2DDA8"/>
                </a:solidFill>
                <a:latin typeface="Arial"/>
                <a:ea typeface="Arial"/>
                <a:cs typeface="Arial"/>
              </a:defRPr>
            </a:pPr>
            <a:r>
              <a:rPr sz="1050" b="1">
                <a:solidFill>
                  <a:srgbClr val="62DDA8"/>
                </a:solidFill>
                <a:latin typeface="Arial"/>
                <a:ea typeface="Arial"/>
                <a:cs typeface="Arial"/>
              </a:rPr>
              <a:t>EVIDENCE THAT MAKES THE FIT REAL</a:t>
            </a:r>
          </a:p>
        </p:txBody>
      </p:sp>
      <p:sp>
        <p:nvSpPr>
          <p:cNvPr id="10" name="Section rule">
            <a:extLst xmlns:a="http://schemas.openxmlformats.org/drawingml/2006/main">
              <a:ext uri="{FF2B5EF4-FFF2-40B4-BE49-F238E27FC236}">
                <a16:creationId xmlns:a16="http://schemas.microsoft.com/office/drawing/2014/main" id="{32068846-CCD5-44C3-A80B-403D3CCC2E76}"/>
              </a:ext>
            </a:extLst>
          </p:cNvPr>
          <p:cNvSpPr>
            <a:spLocks xmlns:a="http://schemas.openxmlformats.org/drawingml/2006/main" noGrp="1"/>
          </p:cNvSpPr>
          <p:nvPr/>
        </p:nvSpPr>
        <p:spPr>
          <a:xfrm xmlns:a="http://schemas.openxmlformats.org/drawingml/2006/main">
            <a:off x="609600" y="1828800"/>
            <a:ext cx="10972800" cy="9525"/>
          </a:xfrm>
          <a:prstGeom xmlns:a="http://schemas.openxmlformats.org/drawingml/2006/main" prst="rect">
            <a:avLst/>
          </a:prstGeom>
          <a:solidFill xmlns:a="http://schemas.openxmlformats.org/drawingml/2006/main">
            <a:srgbClr val="62DDA8"/>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2EF135F-BA8E-4E92-A8E0-05DB7F979528}"/>
              </a:ext>
            </a:extLst>
          </p:cNvPr>
          <p:cNvSpPr>
            <a:spLocks xmlns:a="http://schemas.openxmlformats.org/drawingml/2006/main" noGrp="1"/>
          </p:cNvSpPr>
          <p:nvPr/>
        </p:nvSpPr>
        <p:spPr>
          <a:xfrm xmlns:a="http://schemas.openxmlformats.org/drawingml/2006/main">
            <a:off x="609600" y="19621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EACL</a:t>
            </a:r>
          </a:p>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Human in Language</a:t>
            </a:r>
          </a:p>
        </p:txBody>
      </p:sp>
      <p:sp>
        <p:nvSpPr>
          <p:cNvPr id="12" name="Text">
            <a:extLst xmlns:a="http://schemas.openxmlformats.org/drawingml/2006/main">
              <a:ext uri="{FF2B5EF4-FFF2-40B4-BE49-F238E27FC236}">
                <a16:creationId xmlns:a16="http://schemas.microsoft.com/office/drawing/2014/main" id="{4050EDB5-98F4-44F2-91FC-F4956C06256C}"/>
              </a:ext>
            </a:extLst>
          </p:cNvPr>
          <p:cNvSpPr>
            <a:spLocks xmlns:a="http://schemas.openxmlformats.org/drawingml/2006/main" noGrp="1"/>
          </p:cNvSpPr>
          <p:nvPr/>
        </p:nvSpPr>
        <p:spPr>
          <a:xfrm xmlns:a="http://schemas.openxmlformats.org/drawingml/2006/main">
            <a:off x="2781300" y="193357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3F6F4"/>
                </a:solidFill>
                <a:latin typeface="Arial"/>
                <a:ea typeface="Arial"/>
                <a:cs typeface="Arial"/>
              </a:defRPr>
            </a:pPr>
            <a:r>
              <a:rPr sz="1125" b="0">
                <a:solidFill>
                  <a:srgbClr val="F3F6F4"/>
                </a:solidFill>
                <a:latin typeface="Arial"/>
                <a:ea typeface="Arial"/>
                <a:cs typeface="Arial"/>
              </a:rPr>
              <a:t>Double-annotated target narratives; retain disagreement and adjudication. Generate linguistically motivated minimal pairs, then ask annotators to verify label and span changes.</a:t>
            </a:r>
          </a:p>
        </p:txBody>
      </p:sp>
      <p:sp>
        <p:nvSpPr>
          <p:cNvPr id="13" name="Text">
            <a:extLst xmlns:a="http://schemas.openxmlformats.org/drawingml/2006/main">
              <a:ext uri="{FF2B5EF4-FFF2-40B4-BE49-F238E27FC236}">
                <a16:creationId xmlns:a16="http://schemas.microsoft.com/office/drawing/2014/main" id="{CC4AEC17-6144-4FB0-AD08-1278F1A71D2C}"/>
              </a:ext>
            </a:extLst>
          </p:cNvPr>
          <p:cNvSpPr>
            <a:spLocks xmlns:a="http://schemas.openxmlformats.org/drawingml/2006/main" noGrp="1"/>
          </p:cNvSpPr>
          <p:nvPr/>
        </p:nvSpPr>
        <p:spPr>
          <a:xfrm xmlns:a="http://schemas.openxmlformats.org/drawingml/2006/main">
            <a:off x="7486650" y="193357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Inter-annotator agreement, guideline rationale, disagreement analysis, and model errors by discourse-time phenomenon.</a:t>
            </a:r>
          </a:p>
        </p:txBody>
      </p:sp>
      <p:sp>
        <p:nvSpPr>
          <p:cNvPr id="14" name="Section rule">
            <a:extLst xmlns:a="http://schemas.openxmlformats.org/drawingml/2006/main">
              <a:ext uri="{FF2B5EF4-FFF2-40B4-BE49-F238E27FC236}">
                <a16:creationId xmlns:a16="http://schemas.microsoft.com/office/drawing/2014/main" id="{4F273E1F-70A3-455A-B365-581B487AC452}"/>
              </a:ext>
            </a:extLst>
          </p:cNvPr>
          <p:cNvSpPr>
            <a:spLocks xmlns:a="http://schemas.openxmlformats.org/drawingml/2006/main" noGrp="1"/>
          </p:cNvSpPr>
          <p:nvPr/>
        </p:nvSpPr>
        <p:spPr>
          <a:xfrm xmlns:a="http://schemas.openxmlformats.org/drawingml/2006/main">
            <a:off x="609600" y="26193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9733F058-F77E-45BE-B5AB-2D138A8C8002}"/>
              </a:ext>
            </a:extLst>
          </p:cNvPr>
          <p:cNvSpPr>
            <a:spLocks xmlns:a="http://schemas.openxmlformats.org/drawingml/2006/main" noGrp="1"/>
          </p:cNvSpPr>
          <p:nvPr/>
        </p:nvSpPr>
        <p:spPr>
          <a:xfrm xmlns:a="http://schemas.openxmlformats.org/drawingml/2006/main">
            <a:off x="609600" y="278130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COLING</a:t>
            </a:r>
          </a:p>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NLP for Linguistics</a:t>
            </a:r>
          </a:p>
        </p:txBody>
      </p:sp>
      <p:sp>
        <p:nvSpPr>
          <p:cNvPr id="16" name="Text">
            <a:extLst xmlns:a="http://schemas.openxmlformats.org/drawingml/2006/main">
              <a:ext uri="{FF2B5EF4-FFF2-40B4-BE49-F238E27FC236}">
                <a16:creationId xmlns:a16="http://schemas.microsoft.com/office/drawing/2014/main" id="{D5609295-5E99-4505-8AD4-BEAEDBA2828B}"/>
              </a:ext>
            </a:extLst>
          </p:cNvPr>
          <p:cNvSpPr>
            <a:spLocks xmlns:a="http://schemas.openxmlformats.org/drawingml/2006/main" noGrp="1"/>
          </p:cNvSpPr>
          <p:nvPr/>
        </p:nvSpPr>
        <p:spPr>
          <a:xfrm xmlns:a="http://schemas.openxmlformats.org/drawingml/2006/main">
            <a:off x="2781300" y="275272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890"/>
          </a:bodyPr>
          <a:lstStyle xmlns:a="http://schemas.openxmlformats.org/drawingml/2006/main"/>
          <a:p xmlns:a="http://schemas.openxmlformats.org/drawingml/2006/main">
            <a:pPr algn="l">
              <a:defRPr sz="1125" b="0">
                <a:solidFill>
                  <a:srgbClr val="F3F6F4"/>
                </a:solidFill>
                <a:latin typeface="Arial"/>
                <a:ea typeface="Arial"/>
                <a:cs typeface="Arial"/>
              </a:defRPr>
            </a:pPr>
            <a:r>
              <a:rPr sz="1125" b="0">
                <a:solidFill>
                  <a:srgbClr val="F3F6F4"/>
                </a:solidFill>
                <a:latin typeface="Arial"/>
                <a:ea typeface="Arial"/>
                <a:cs typeface="Arial"/>
              </a:rPr>
              <a:t>Add a human-validated second-language slice with comparable genres. Use MEANTIME only as a cross-lingual news transfer diagnostic; audit projected labels. Do not treat machine translation as native-language gold.</a:t>
            </a:r>
          </a:p>
        </p:txBody>
      </p:sp>
      <p:sp>
        <p:nvSpPr>
          <p:cNvPr id="17" name="Text">
            <a:extLst xmlns:a="http://schemas.openxmlformats.org/drawingml/2006/main">
              <a:ext uri="{FF2B5EF4-FFF2-40B4-BE49-F238E27FC236}">
                <a16:creationId xmlns:a16="http://schemas.microsoft.com/office/drawing/2014/main" id="{7FF29770-C5A8-4A05-B93D-9D0AF1C7A84D}"/>
              </a:ext>
            </a:extLst>
          </p:cNvPr>
          <p:cNvSpPr>
            <a:spLocks xmlns:a="http://schemas.openxmlformats.org/drawingml/2006/main" noGrp="1"/>
          </p:cNvSpPr>
          <p:nvPr/>
        </p:nvSpPr>
        <p:spPr>
          <a:xfrm xmlns:a="http://schemas.openxmlformats.org/drawingml/2006/main">
            <a:off x="7486650" y="275272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Language-specific temporal cues, label portability, and genuine variation across original-language texts; document language and source coverage.</a:t>
            </a:r>
          </a:p>
        </p:txBody>
      </p:sp>
      <p:sp>
        <p:nvSpPr>
          <p:cNvPr id="18" name="Section rule">
            <a:extLst xmlns:a="http://schemas.openxmlformats.org/drawingml/2006/main">
              <a:ext uri="{FF2B5EF4-FFF2-40B4-BE49-F238E27FC236}">
                <a16:creationId xmlns:a16="http://schemas.microsoft.com/office/drawing/2014/main" id="{3D9A0DFC-8AE3-4F33-BE34-097989200641}"/>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DDB52D4-ED2B-456E-898D-BEF270B82C10}"/>
              </a:ext>
            </a:extLst>
          </p:cNvPr>
          <p:cNvSpPr>
            <a:spLocks xmlns:a="http://schemas.openxmlformats.org/drawingml/2006/main" noGrp="1"/>
          </p:cNvSpPr>
          <p:nvPr/>
        </p:nvSpPr>
        <p:spPr>
          <a:xfrm xmlns:a="http://schemas.openxmlformats.org/drawingml/2006/main">
            <a:off x="609600" y="36004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NAACL</a:t>
            </a:r>
          </a:p>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Generalization / resources</a:t>
            </a:r>
          </a:p>
        </p:txBody>
      </p:sp>
      <p:sp>
        <p:nvSpPr>
          <p:cNvPr id="20" name="Text">
            <a:extLst xmlns:a="http://schemas.openxmlformats.org/drawingml/2006/main">
              <a:ext uri="{FF2B5EF4-FFF2-40B4-BE49-F238E27FC236}">
                <a16:creationId xmlns:a16="http://schemas.microsoft.com/office/drawing/2014/main" id="{DD3438E2-7FF8-46A6-9855-DE230801E66E}"/>
              </a:ext>
            </a:extLst>
          </p:cNvPr>
          <p:cNvSpPr>
            <a:spLocks xmlns:a="http://schemas.openxmlformats.org/drawingml/2006/main" noGrp="1"/>
          </p:cNvSpPr>
          <p:nvPr/>
        </p:nvSpPr>
        <p:spPr>
          <a:xfrm xmlns:a="http://schemas.openxmlformats.org/drawingml/2006/main">
            <a:off x="2781300" y="357187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3F6F4"/>
                </a:solidFill>
                <a:latin typeface="Arial"/>
                <a:ea typeface="Arial"/>
                <a:cs typeface="Arial"/>
              </a:defRPr>
            </a:pPr>
            <a:r>
              <a:rPr sz="1125" b="0">
                <a:solidFill>
                  <a:srgbClr val="F3F6F4"/>
                </a:solidFill>
                <a:latin typeface="Arial"/>
                <a:ea typeface="Arial"/>
                <a:cs typeface="Arial"/>
              </a:rPr>
              <a:t>Pair a rights-cleared target-domain gold corpus with a same-domain unlabeled pool. Compare random versus cluster-guided human annotation at equal budgets; hold out works, authors, and genres.</a:t>
            </a:r>
          </a:p>
        </p:txBody>
      </p:sp>
      <p:sp>
        <p:nvSpPr>
          <p:cNvPr id="21" name="Text">
            <a:extLst xmlns:a="http://schemas.openxmlformats.org/drawingml/2006/main">
              <a:ext uri="{FF2B5EF4-FFF2-40B4-BE49-F238E27FC236}">
                <a16:creationId xmlns:a16="http://schemas.microsoft.com/office/drawing/2014/main" id="{1AF3F03D-4E9D-4B6E-93A6-D0F93EC14428}"/>
              </a:ext>
            </a:extLst>
          </p:cNvPr>
          <p:cNvSpPr>
            <a:spLocks xmlns:a="http://schemas.openxmlformats.org/drawingml/2006/main" noGrp="1"/>
          </p:cNvSpPr>
          <p:nvPr/>
        </p:nvSpPr>
        <p:spPr>
          <a:xfrm xmlns:a="http://schemas.openxmlformats.org/drawingml/2006/main">
            <a:off x="7486650" y="357187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Transfer by source and genre, fixed-budget annotation gains, per-phenomenon scores, and human-gold evaluation. The agentic theme needs a real communication task.</a:t>
            </a:r>
          </a:p>
        </p:txBody>
      </p:sp>
      <p:sp>
        <p:nvSpPr>
          <p:cNvPr id="22" name="Section rule">
            <a:extLst xmlns:a="http://schemas.openxmlformats.org/drawingml/2006/main">
              <a:ext uri="{FF2B5EF4-FFF2-40B4-BE49-F238E27FC236}">
                <a16:creationId xmlns:a16="http://schemas.microsoft.com/office/drawing/2014/main" id="{C18EB6E1-E69F-4ED1-B8CD-A4E42523960D}"/>
              </a:ext>
            </a:extLst>
          </p:cNvPr>
          <p:cNvSpPr>
            <a:spLocks xmlns:a="http://schemas.openxmlformats.org/drawingml/2006/main" noGrp="1"/>
          </p:cNvSpPr>
          <p:nvPr/>
        </p:nvSpPr>
        <p:spPr>
          <a:xfrm xmlns:a="http://schemas.openxmlformats.org/drawingml/2006/main">
            <a:off x="609600" y="42576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1E6E1997-E947-452F-832E-8868F173751C}"/>
              </a:ext>
            </a:extLst>
          </p:cNvPr>
          <p:cNvSpPr>
            <a:spLocks xmlns:a="http://schemas.openxmlformats.org/drawingml/2006/main" noGrp="1"/>
          </p:cNvSpPr>
          <p:nvPr/>
        </p:nvSpPr>
        <p:spPr>
          <a:xfrm xmlns:a="http://schemas.openxmlformats.org/drawingml/2006/main">
            <a:off x="609600" y="441960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36A"/>
                </a:solidFill>
                <a:latin typeface="Arial"/>
                <a:ea typeface="Arial"/>
                <a:cs typeface="Arial"/>
              </a:defRPr>
            </a:pPr>
            <a:r>
              <a:rPr sz="1125" b="1">
                <a:solidFill>
                  <a:srgbClr val="F0C36A"/>
                </a:solidFill>
                <a:latin typeface="Arial"/>
                <a:ea typeface="Arial"/>
                <a:cs typeface="Arial"/>
              </a:rPr>
              <a:t>ACL</a:t>
            </a:r>
          </a:p>
          <a:p xmlns:a="http://schemas.openxmlformats.org/drawingml/2006/main">
            <a:pPr algn="l">
              <a:defRPr sz="1125" b="1">
                <a:solidFill>
                  <a:srgbClr val="F0C36A"/>
                </a:solidFill>
                <a:latin typeface="Arial"/>
                <a:ea typeface="Arial"/>
                <a:cs typeface="Arial"/>
              </a:defRPr>
            </a:pPr>
            <a:r>
              <a:rPr sz="1125" b="1">
                <a:solidFill>
                  <a:srgbClr val="F0C36A"/>
                </a:solidFill>
                <a:latin typeface="Arial"/>
                <a:ea typeface="Arial"/>
                <a:cs typeface="Arial"/>
              </a:rPr>
              <a:t>Homogenization theme</a:t>
            </a:r>
          </a:p>
        </p:txBody>
      </p:sp>
      <p:sp>
        <p:nvSpPr>
          <p:cNvPr id="24" name="Text">
            <a:extLst xmlns:a="http://schemas.openxmlformats.org/drawingml/2006/main">
              <a:ext uri="{FF2B5EF4-FFF2-40B4-BE49-F238E27FC236}">
                <a16:creationId xmlns:a16="http://schemas.microsoft.com/office/drawing/2014/main" id="{D912F464-5CC5-4C28-81E6-354BA5A7C918}"/>
              </a:ext>
            </a:extLst>
          </p:cNvPr>
          <p:cNvSpPr>
            <a:spLocks xmlns:a="http://schemas.openxmlformats.org/drawingml/2006/main" noGrp="1"/>
          </p:cNvSpPr>
          <p:nvPr/>
        </p:nvSpPr>
        <p:spPr>
          <a:xfrm xmlns:a="http://schemas.openxmlformats.org/drawingml/2006/main">
            <a:off x="2781300" y="439102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3F6F4"/>
                </a:solidFill>
                <a:latin typeface="Arial"/>
                <a:ea typeface="Arial"/>
                <a:cs typeface="Arial"/>
              </a:defRPr>
            </a:pPr>
            <a:r>
              <a:rPr sz="1125" b="0">
                <a:solidFill>
                  <a:srgbClr val="F3F6F4"/>
                </a:solidFill>
                <a:latin typeface="Arial"/>
                <a:ea typeface="Arial"/>
                <a:cs typeface="Arial"/>
              </a:rPr>
              <a:t>Compare human-authored texts with outputs from multiple generator families on matched prompts/scenarios. Label semantic phenomena and rare-event coverage; train with controlled synthetic mixtures.</a:t>
            </a:r>
          </a:p>
        </p:txBody>
      </p:sp>
      <p:sp>
        <p:nvSpPr>
          <p:cNvPr id="25" name="Text">
            <a:extLst xmlns:a="http://schemas.openxmlformats.org/drawingml/2006/main">
              <a:ext uri="{FF2B5EF4-FFF2-40B4-BE49-F238E27FC236}">
                <a16:creationId xmlns:a16="http://schemas.microsoft.com/office/drawing/2014/main" id="{6FD664D7-AF1D-4D03-81F6-FD31084A2D1D}"/>
              </a:ext>
            </a:extLst>
          </p:cNvPr>
          <p:cNvSpPr>
            <a:spLocks xmlns:a="http://schemas.openxmlformats.org/drawingml/2006/main" noGrp="1"/>
          </p:cNvSpPr>
          <p:nvPr/>
        </p:nvSpPr>
        <p:spPr>
          <a:xfrm xmlns:a="http://schemas.openxmlformats.org/drawingml/2006/main">
            <a:off x="7486650" y="439102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Measure semantic and lexical diversity, phenomenon coverage/entropy, and generator-held-out performance. Claim theme fit only if homogenization is directly tested.</a:t>
            </a:r>
          </a:p>
        </p:txBody>
      </p:sp>
      <p:sp>
        <p:nvSpPr>
          <p:cNvPr id="26" name="Section rule">
            <a:extLst xmlns:a="http://schemas.openxmlformats.org/drawingml/2006/main">
              <a:ext uri="{FF2B5EF4-FFF2-40B4-BE49-F238E27FC236}">
                <a16:creationId xmlns:a16="http://schemas.microsoft.com/office/drawing/2014/main" id="{042B3B3B-6534-4C53-86E9-CCE485F674A5}"/>
              </a:ext>
            </a:extLst>
          </p:cNvPr>
          <p:cNvSpPr>
            <a:spLocks xmlns:a="http://schemas.openxmlformats.org/drawingml/2006/main" noGrp="1"/>
          </p:cNvSpPr>
          <p:nvPr/>
        </p:nvSpPr>
        <p:spPr>
          <a:xfrm xmlns:a="http://schemas.openxmlformats.org/drawingml/2006/main">
            <a:off x="609600" y="50768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AF30F743-095E-4485-91BE-1FF5AE29BCBD}"/>
              </a:ext>
            </a:extLst>
          </p:cNvPr>
          <p:cNvSpPr>
            <a:spLocks xmlns:a="http://schemas.openxmlformats.org/drawingml/2006/main" noGrp="1"/>
          </p:cNvSpPr>
          <p:nvPr/>
        </p:nvSpPr>
        <p:spPr>
          <a:xfrm xmlns:a="http://schemas.openxmlformats.org/drawingml/2006/main">
            <a:off x="609600" y="5238750"/>
            <a:ext cx="200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EMNLP</a:t>
            </a:r>
          </a:p>
          <a:p xmlns:a="http://schemas.openxmlformats.org/drawingml/2006/main">
            <a:pPr algn="l">
              <a:defRPr sz="1125" b="1">
                <a:solidFill>
                  <a:srgbClr val="9AEBCA"/>
                </a:solidFill>
                <a:latin typeface="Arial"/>
                <a:ea typeface="Arial"/>
                <a:cs typeface="Arial"/>
              </a:defRPr>
            </a:pPr>
            <a:r>
              <a:rPr sz="1125" b="1">
                <a:solidFill>
                  <a:srgbClr val="9AEBCA"/>
                </a:solidFill>
                <a:latin typeface="Arial"/>
                <a:ea typeface="Arial"/>
                <a:cs typeface="Arial"/>
              </a:rPr>
              <a:t>Empirical study</a:t>
            </a:r>
          </a:p>
        </p:txBody>
      </p:sp>
      <p:sp>
        <p:nvSpPr>
          <p:cNvPr id="28" name="Text">
            <a:extLst xmlns:a="http://schemas.openxmlformats.org/drawingml/2006/main">
              <a:ext uri="{FF2B5EF4-FFF2-40B4-BE49-F238E27FC236}">
                <a16:creationId xmlns:a16="http://schemas.microsoft.com/office/drawing/2014/main" id="{31A9676E-C133-4DCF-9C2E-2C8C00881297}"/>
              </a:ext>
            </a:extLst>
          </p:cNvPr>
          <p:cNvSpPr>
            <a:spLocks xmlns:a="http://schemas.openxmlformats.org/drawingml/2006/main" noGrp="1"/>
          </p:cNvSpPr>
          <p:nvPr/>
        </p:nvSpPr>
        <p:spPr>
          <a:xfrm xmlns:a="http://schemas.openxmlformats.org/drawingml/2006/main">
            <a:off x="2781300" y="521017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F3F6F4"/>
                </a:solidFill>
                <a:latin typeface="Arial"/>
                <a:ea typeface="Arial"/>
                <a:cs typeface="Arial"/>
              </a:defRPr>
            </a:pPr>
            <a:r>
              <a:rPr sz="1125" b="0">
                <a:solidFill>
                  <a:srgbClr val="F3F6F4"/>
                </a:solidFill>
                <a:latin typeface="Arial"/>
                <a:ea typeface="Arial"/>
                <a:cs typeface="Arial"/>
              </a:rPr>
              <a:t>Cross source/domain × generation strategy × generator × synthetic-to-human ratio. Preserve document lineage and use human-only, template, and diverse-generation controls.</a:t>
            </a:r>
          </a:p>
        </p:txBody>
      </p:sp>
      <p:sp>
        <p:nvSpPr>
          <p:cNvPr id="29" name="Text">
            <a:extLst xmlns:a="http://schemas.openxmlformats.org/drawingml/2006/main">
              <a:ext uri="{FF2B5EF4-FFF2-40B4-BE49-F238E27FC236}">
                <a16:creationId xmlns:a16="http://schemas.microsoft.com/office/drawing/2014/main" id="{4AB253A6-D7C0-4C04-A876-C582A4061BAB}"/>
              </a:ext>
            </a:extLst>
          </p:cNvPr>
          <p:cNvSpPr>
            <a:spLocks xmlns:a="http://schemas.openxmlformats.org/drawingml/2006/main" noGrp="1"/>
          </p:cNvSpPr>
          <p:nvPr/>
        </p:nvSpPr>
        <p:spPr>
          <a:xfrm xmlns:a="http://schemas.openxmlformats.org/drawingml/2006/main">
            <a:off x="7486650" y="521017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AB8B0"/>
                </a:solidFill>
                <a:latin typeface="Arial"/>
                <a:ea typeface="Arial"/>
                <a:cs typeface="Arial"/>
              </a:defRPr>
            </a:pPr>
            <a:r>
              <a:rPr sz="1125" b="0">
                <a:solidFill>
                  <a:srgbClr val="AAB8B0"/>
                </a:solidFill>
                <a:latin typeface="Arial"/>
                <a:ea typeface="Arial"/>
                <a:cs typeface="Arial"/>
              </a:rPr>
              <a:t>Paired runs, variance, held-out source/genre/generator, slice-level errors, and negative results. Re-check the CFP once the 2027 call is published.</a:t>
            </a:r>
          </a:p>
        </p:txBody>
      </p:sp>
      <p:sp>
        <p:nvSpPr>
          <p:cNvPr id="30" name="Section rule">
            <a:extLst xmlns:a="http://schemas.openxmlformats.org/drawingml/2006/main">
              <a:ext uri="{FF2B5EF4-FFF2-40B4-BE49-F238E27FC236}">
                <a16:creationId xmlns:a16="http://schemas.microsoft.com/office/drawing/2014/main" id="{2966F5BA-196E-4756-856E-930CE543989E}"/>
              </a:ext>
            </a:extLst>
          </p:cNvPr>
          <p:cNvSpPr>
            <a:spLocks xmlns:a="http://schemas.openxmlformats.org/drawingml/2006/main" noGrp="1"/>
          </p:cNvSpPr>
          <p:nvPr/>
        </p:nvSpPr>
        <p:spPr>
          <a:xfrm xmlns:a="http://schemas.openxmlformats.org/drawingml/2006/main">
            <a:off x="609600" y="58959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EA585E5F-A8C0-4265-AB14-E2BDE2EE5828}"/>
              </a:ext>
            </a:extLst>
          </p:cNvPr>
          <p:cNvSpPr>
            <a:spLocks xmlns:a="http://schemas.openxmlformats.org/drawingml/2006/main" noGrp="1"/>
          </p:cNvSpPr>
          <p:nvPr/>
        </p:nvSpPr>
        <p:spPr>
          <a:xfrm xmlns:a="http://schemas.openxmlformats.org/drawingml/2006/main">
            <a:off x="609600" y="60769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0C36A"/>
                </a:solidFill>
                <a:latin typeface="Arial"/>
                <a:ea typeface="Arial"/>
                <a:cs typeface="Arial"/>
              </a:defRPr>
            </a:pPr>
            <a:r>
              <a:rPr sz="1200" b="1">
                <a:solidFill>
                  <a:srgbClr val="F0C36A"/>
                </a:solidFill>
                <a:latin typeface="Arial"/>
                <a:ea typeface="Arial"/>
                <a:cs typeface="Arial"/>
              </a:rPr>
              <a:t>These are different corpus questions built on one shared core; a venue change must change the data or analysis, not just the title.</a:t>
            </a:r>
          </a:p>
        </p:txBody>
      </p:sp>
    </p:spTree>
    <p:extLst>
      <p:ext uri="{BB962C8B-B14F-4D97-AF65-F5344CB8AC3E}">
        <p14:creationId xmlns:p14="http://schemas.microsoft.com/office/powerpoint/2010/main" val="1818524033"/>
      </p:ext>
    </p:extLst>
  </p:cSld>
</p:sld>
</file>

<file path=ppt/slides/slide17.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7" name="Section label">
            <a:extLst xmlns:a="http://schemas.openxmlformats.org/drawingml/2006/main">
              <a:ext uri="{FF2B5EF4-FFF2-40B4-BE49-F238E27FC236}">
                <a16:creationId xmlns:a16="http://schemas.microsoft.com/office/drawing/2014/main" id="{9C2AABF8-B8FB-40FA-A28C-A8F134B58ED6}"/>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EXECUTION PLAN</a:t>
            </a:r>
          </a:p>
        </p:txBody>
      </p:sp>
      <p:sp>
        <p:nvSpPr>
          <p:cNvPr id="2" name="Slide title">
            <a:extLst xmlns:a="http://schemas.openxmlformats.org/drawingml/2006/main">
              <a:ext uri="{FF2B5EF4-FFF2-40B4-BE49-F238E27FC236}">
                <a16:creationId xmlns:a16="http://schemas.microsoft.com/office/drawing/2014/main" id="{2E7730F1-4D05-46DC-9331-B46626C20E33}"/>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Build the corpus first; use deadlines as gates</a:t>
            </a:r>
          </a:p>
        </p:txBody>
      </p:sp>
      <p:sp>
        <p:nvSpPr>
          <p:cNvPr id="3" name="Section rule">
            <a:extLst xmlns:a="http://schemas.openxmlformats.org/drawingml/2006/main">
              <a:ext uri="{FF2B5EF4-FFF2-40B4-BE49-F238E27FC236}">
                <a16:creationId xmlns:a16="http://schemas.microsoft.com/office/drawing/2014/main" id="{FB0C7626-2E63-46B3-A236-67F362453835}"/>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5C1667DB-5E04-4EF4-88CE-BFEA751303D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0B99F085-6278-43A2-A5B5-CE443A97A753}"/>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74E98B1D-A3F3-4E8C-A427-9012E318D204}"/>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17</a:t>
            </a:r>
          </a:p>
        </p:txBody>
      </p:sp>
      <p:sp>
        <p:nvSpPr>
          <p:cNvPr id="7" name="Text">
            <a:extLst xmlns:a="http://schemas.openxmlformats.org/drawingml/2006/main">
              <a:ext uri="{FF2B5EF4-FFF2-40B4-BE49-F238E27FC236}">
                <a16:creationId xmlns:a16="http://schemas.microsoft.com/office/drawing/2014/main" id="{5B9DB07E-9FCA-4908-BE62-93879B789D58}"/>
              </a:ext>
            </a:extLst>
          </p:cNvPr>
          <p:cNvSpPr>
            <a:spLocks xmlns:a="http://schemas.openxmlformats.org/drawingml/2006/main" noGrp="1"/>
          </p:cNvSpPr>
          <p:nvPr/>
        </p:nvSpPr>
        <p:spPr>
          <a:xfrm xmlns:a="http://schemas.openxmlformats.org/drawingml/2006/main">
            <a:off x="609600" y="16954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OCT 1–12</a:t>
            </a:r>
          </a:p>
        </p:txBody>
      </p:sp>
      <p:sp>
        <p:nvSpPr>
          <p:cNvPr id="8" name="Text">
            <a:extLst xmlns:a="http://schemas.openxmlformats.org/drawingml/2006/main">
              <a:ext uri="{FF2B5EF4-FFF2-40B4-BE49-F238E27FC236}">
                <a16:creationId xmlns:a16="http://schemas.microsoft.com/office/drawing/2014/main" id="{917F6DA5-680F-4143-A6F8-5F1D53A2FD03}"/>
              </a:ext>
            </a:extLst>
          </p:cNvPr>
          <p:cNvSpPr>
            <a:spLocks xmlns:a="http://schemas.openxmlformats.org/drawingml/2006/main" noGrp="1"/>
          </p:cNvSpPr>
          <p:nvPr/>
        </p:nvSpPr>
        <p:spPr>
          <a:xfrm xmlns:a="http://schemas.openxmlformats.org/drawingml/2006/main">
            <a:off x="2505075" y="16764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Feasibility gate</a:t>
            </a:r>
          </a:p>
        </p:txBody>
      </p:sp>
      <p:sp>
        <p:nvSpPr>
          <p:cNvPr id="9" name="Text">
            <a:extLst xmlns:a="http://schemas.openxmlformats.org/drawingml/2006/main">
              <a:ext uri="{FF2B5EF4-FFF2-40B4-BE49-F238E27FC236}">
                <a16:creationId xmlns:a16="http://schemas.microsoft.com/office/drawing/2014/main" id="{9135810A-BB28-4ACF-AF4C-67651DBA1EDF}"/>
              </a:ext>
            </a:extLst>
          </p:cNvPr>
          <p:cNvSpPr>
            <a:spLocks xmlns:a="http://schemas.openxmlformats.org/drawingml/2006/main" noGrp="1"/>
          </p:cNvSpPr>
          <p:nvPr/>
        </p:nvSpPr>
        <p:spPr>
          <a:xfrm xmlns:a="http://schemas.openxmlformats.org/drawingml/2006/main">
            <a:off x="4762500" y="16764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COLING / NAACL share ARR. Submit only if publishable gold, rights, and pilot evidence already exist; do not rush a new corpus.</a:t>
            </a:r>
          </a:p>
        </p:txBody>
      </p:sp>
      <p:sp>
        <p:nvSpPr>
          <p:cNvPr id="10" name="Section rule">
            <a:extLst xmlns:a="http://schemas.openxmlformats.org/drawingml/2006/main">
              <a:ext uri="{FF2B5EF4-FFF2-40B4-BE49-F238E27FC236}">
                <a16:creationId xmlns:a16="http://schemas.microsoft.com/office/drawing/2014/main" id="{B7C01CED-A144-44A9-8D20-C2DE9A129CEC}"/>
              </a:ext>
            </a:extLst>
          </p:cNvPr>
          <p:cNvSpPr>
            <a:spLocks xmlns:a="http://schemas.openxmlformats.org/drawingml/2006/main" noGrp="1"/>
          </p:cNvSpPr>
          <p:nvPr/>
        </p:nvSpPr>
        <p:spPr>
          <a:xfrm xmlns:a="http://schemas.openxmlformats.org/drawingml/2006/main">
            <a:off x="609600" y="22764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4D1D86C-12B0-4B38-8085-FF6AF0DBF091}"/>
              </a:ext>
            </a:extLst>
          </p:cNvPr>
          <p:cNvSpPr>
            <a:spLocks xmlns:a="http://schemas.openxmlformats.org/drawingml/2006/main" noGrp="1"/>
          </p:cNvSpPr>
          <p:nvPr/>
        </p:nvSpPr>
        <p:spPr>
          <a:xfrm xmlns:a="http://schemas.openxmlformats.org/drawingml/2006/main">
            <a:off x="609600" y="25717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OCT–NOV</a:t>
            </a:r>
          </a:p>
        </p:txBody>
      </p:sp>
      <p:sp>
        <p:nvSpPr>
          <p:cNvPr id="12" name="Text">
            <a:extLst xmlns:a="http://schemas.openxmlformats.org/drawingml/2006/main">
              <a:ext uri="{FF2B5EF4-FFF2-40B4-BE49-F238E27FC236}">
                <a16:creationId xmlns:a16="http://schemas.microsoft.com/office/drawing/2014/main" id="{6C0A4775-31E4-4799-B2ED-B33094591271}"/>
              </a:ext>
            </a:extLst>
          </p:cNvPr>
          <p:cNvSpPr>
            <a:spLocks xmlns:a="http://schemas.openxmlformats.org/drawingml/2006/main" noGrp="1"/>
          </p:cNvSpPr>
          <p:nvPr/>
        </p:nvSpPr>
        <p:spPr>
          <a:xfrm xmlns:a="http://schemas.openxmlformats.org/drawingml/2006/main">
            <a:off x="2505075" y="25527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Gold corpus + strata</a:t>
            </a:r>
          </a:p>
        </p:txBody>
      </p:sp>
      <p:sp>
        <p:nvSpPr>
          <p:cNvPr id="13" name="Text">
            <a:extLst xmlns:a="http://schemas.openxmlformats.org/drawingml/2006/main">
              <a:ext uri="{FF2B5EF4-FFF2-40B4-BE49-F238E27FC236}">
                <a16:creationId xmlns:a16="http://schemas.microsoft.com/office/drawing/2014/main" id="{0898993F-01D3-4514-9AB9-088B09DAC230}"/>
              </a:ext>
            </a:extLst>
          </p:cNvPr>
          <p:cNvSpPr>
            <a:spLocks xmlns:a="http://schemas.openxmlformats.org/drawingml/2006/main" noGrp="1"/>
          </p:cNvSpPr>
          <p:nvPr/>
        </p:nvSpPr>
        <p:spPr>
          <a:xfrm xmlns:a="http://schemas.openxmlformats.org/drawingml/2006/main">
            <a:off x="4762500" y="25527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Choose target genres/languages, lock work-level splits, sample unlabeled clusters, annotate and adjudicate priority strata.</a:t>
            </a:r>
          </a:p>
        </p:txBody>
      </p:sp>
      <p:sp>
        <p:nvSpPr>
          <p:cNvPr id="14" name="Section rule">
            <a:extLst xmlns:a="http://schemas.openxmlformats.org/drawingml/2006/main">
              <a:ext uri="{FF2B5EF4-FFF2-40B4-BE49-F238E27FC236}">
                <a16:creationId xmlns:a16="http://schemas.microsoft.com/office/drawing/2014/main" id="{D3526197-7806-4514-A56F-C39FAC5CEFB8}"/>
              </a:ext>
            </a:extLst>
          </p:cNvPr>
          <p:cNvSpPr>
            <a:spLocks xmlns:a="http://schemas.openxmlformats.org/drawingml/2006/main" noGrp="1"/>
          </p:cNvSpPr>
          <p:nvPr/>
        </p:nvSpPr>
        <p:spPr>
          <a:xfrm xmlns:a="http://schemas.openxmlformats.org/drawingml/2006/main">
            <a:off x="609600" y="31527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153C28CE-9B0A-4A83-AA85-9D2F89CD1692}"/>
              </a:ext>
            </a:extLst>
          </p:cNvPr>
          <p:cNvSpPr>
            <a:spLocks xmlns:a="http://schemas.openxmlformats.org/drawingml/2006/main" noGrp="1"/>
          </p:cNvSpPr>
          <p:nvPr/>
        </p:nvSpPr>
        <p:spPr>
          <a:xfrm xmlns:a="http://schemas.openxmlformats.org/drawingml/2006/main">
            <a:off x="609600" y="34480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NOV</a:t>
            </a:r>
          </a:p>
        </p:txBody>
      </p:sp>
      <p:sp>
        <p:nvSpPr>
          <p:cNvPr id="16" name="Text">
            <a:extLst xmlns:a="http://schemas.openxmlformats.org/drawingml/2006/main">
              <a:ext uri="{FF2B5EF4-FFF2-40B4-BE49-F238E27FC236}">
                <a16:creationId xmlns:a16="http://schemas.microsoft.com/office/drawing/2014/main" id="{200B2CBE-70E4-4184-845A-AD956872A9FA}"/>
              </a:ext>
            </a:extLst>
          </p:cNvPr>
          <p:cNvSpPr>
            <a:spLocks xmlns:a="http://schemas.openxmlformats.org/drawingml/2006/main" noGrp="1"/>
          </p:cNvSpPr>
          <p:nvPr/>
        </p:nvSpPr>
        <p:spPr>
          <a:xfrm xmlns:a="http://schemas.openxmlformats.org/drawingml/2006/main">
            <a:off x="2505075" y="34290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Synthetic pilot</a:t>
            </a:r>
          </a:p>
        </p:txBody>
      </p:sp>
      <p:sp>
        <p:nvSpPr>
          <p:cNvPr id="17" name="Text">
            <a:extLst xmlns:a="http://schemas.openxmlformats.org/drawingml/2006/main">
              <a:ext uri="{FF2B5EF4-FFF2-40B4-BE49-F238E27FC236}">
                <a16:creationId xmlns:a16="http://schemas.microsoft.com/office/drawing/2014/main" id="{A0009BA8-5071-4C0B-85F1-06A0EEA78474}"/>
              </a:ext>
            </a:extLst>
          </p:cNvPr>
          <p:cNvSpPr>
            <a:spLocks xmlns:a="http://schemas.openxmlformats.org/drawingml/2006/main" noGrp="1"/>
          </p:cNvSpPr>
          <p:nvPr/>
        </p:nvSpPr>
        <p:spPr>
          <a:xfrm xmlns:a="http://schemas.openxmlformats.org/drawingml/2006/main">
            <a:off x="4762500" y="34290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Generate train-only contrast sets; audit labels/spans, capture lineage, and deduplicate against source and test texts.</a:t>
            </a:r>
          </a:p>
        </p:txBody>
      </p:sp>
      <p:sp>
        <p:nvSpPr>
          <p:cNvPr id="18" name="Section rule">
            <a:extLst xmlns:a="http://schemas.openxmlformats.org/drawingml/2006/main">
              <a:ext uri="{FF2B5EF4-FFF2-40B4-BE49-F238E27FC236}">
                <a16:creationId xmlns:a16="http://schemas.microsoft.com/office/drawing/2014/main" id="{ECBE4899-111C-4805-B6D9-AC2E48A775A6}"/>
              </a:ext>
            </a:extLst>
          </p:cNvPr>
          <p:cNvSpPr>
            <a:spLocks xmlns:a="http://schemas.openxmlformats.org/drawingml/2006/main" noGrp="1"/>
          </p:cNvSpPr>
          <p:nvPr/>
        </p:nvSpPr>
        <p:spPr>
          <a:xfrm xmlns:a="http://schemas.openxmlformats.org/drawingml/2006/main">
            <a:off x="609600" y="40290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DFE86CCC-2EFC-489D-970B-BE3EC0834728}"/>
              </a:ext>
            </a:extLst>
          </p:cNvPr>
          <p:cNvSpPr>
            <a:spLocks xmlns:a="http://schemas.openxmlformats.org/drawingml/2006/main" noGrp="1"/>
          </p:cNvSpPr>
          <p:nvPr/>
        </p:nvSpPr>
        <p:spPr>
          <a:xfrm xmlns:a="http://schemas.openxmlformats.org/drawingml/2006/main">
            <a:off x="609600" y="43243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DEC</a:t>
            </a:r>
          </a:p>
        </p:txBody>
      </p:sp>
      <p:sp>
        <p:nvSpPr>
          <p:cNvPr id="20" name="Text">
            <a:extLst xmlns:a="http://schemas.openxmlformats.org/drawingml/2006/main">
              <a:ext uri="{FF2B5EF4-FFF2-40B4-BE49-F238E27FC236}">
                <a16:creationId xmlns:a16="http://schemas.microsoft.com/office/drawing/2014/main" id="{3D109480-B3A2-43CE-B9BC-0A52980A62F7}"/>
              </a:ext>
            </a:extLst>
          </p:cNvPr>
          <p:cNvSpPr>
            <a:spLocks xmlns:a="http://schemas.openxmlformats.org/drawingml/2006/main" noGrp="1"/>
          </p:cNvSpPr>
          <p:nvPr/>
        </p:nvSpPr>
        <p:spPr>
          <a:xfrm xmlns:a="http://schemas.openxmlformats.org/drawingml/2006/main">
            <a:off x="2505075" y="43053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Controlled study</a:t>
            </a:r>
          </a:p>
        </p:txBody>
      </p:sp>
      <p:sp>
        <p:nvSpPr>
          <p:cNvPr id="21" name="Text">
            <a:extLst xmlns:a="http://schemas.openxmlformats.org/drawingml/2006/main">
              <a:ext uri="{FF2B5EF4-FFF2-40B4-BE49-F238E27FC236}">
                <a16:creationId xmlns:a16="http://schemas.microsoft.com/office/drawing/2014/main" id="{67DDD114-26BC-476C-89F0-64A8218C5115}"/>
              </a:ext>
            </a:extLst>
          </p:cNvPr>
          <p:cNvSpPr>
            <a:spLocks xmlns:a="http://schemas.openxmlformats.org/drawingml/2006/main" noGrp="1"/>
          </p:cNvSpPr>
          <p:nvPr/>
        </p:nvSpPr>
        <p:spPr>
          <a:xfrm xmlns:a="http://schemas.openxmlformats.org/drawingml/2006/main">
            <a:off x="4762500" y="43053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Compare human-only and synthetic mixtures; run equal-size controls and held-out generator / genre analyses.</a:t>
            </a:r>
          </a:p>
        </p:txBody>
      </p:sp>
      <p:sp>
        <p:nvSpPr>
          <p:cNvPr id="22" name="Section rule">
            <a:extLst xmlns:a="http://schemas.openxmlformats.org/drawingml/2006/main">
              <a:ext uri="{FF2B5EF4-FFF2-40B4-BE49-F238E27FC236}">
                <a16:creationId xmlns:a16="http://schemas.microsoft.com/office/drawing/2014/main" id="{A2117F89-7971-4637-96AA-6EF49D5971B8}"/>
              </a:ext>
            </a:extLst>
          </p:cNvPr>
          <p:cNvSpPr>
            <a:spLocks xmlns:a="http://schemas.openxmlformats.org/drawingml/2006/main" noGrp="1"/>
          </p:cNvSpPr>
          <p:nvPr/>
        </p:nvSpPr>
        <p:spPr>
          <a:xfrm xmlns:a="http://schemas.openxmlformats.org/drawingml/2006/main">
            <a:off x="609600" y="49053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DBA4DD57-38F6-4D72-B6F7-214221516956}"/>
              </a:ext>
            </a:extLst>
          </p:cNvPr>
          <p:cNvSpPr>
            <a:spLocks xmlns:a="http://schemas.openxmlformats.org/drawingml/2006/main" noGrp="1"/>
          </p:cNvSpPr>
          <p:nvPr/>
        </p:nvSpPr>
        <p:spPr>
          <a:xfrm xmlns:a="http://schemas.openxmlformats.org/drawingml/2006/main">
            <a:off x="609600" y="5200650"/>
            <a:ext cx="1762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2DDA8"/>
                </a:solidFill>
                <a:latin typeface="Arial"/>
                <a:ea typeface="Arial"/>
                <a:cs typeface="Arial"/>
              </a:defRPr>
            </a:pPr>
            <a:r>
              <a:rPr sz="1200" b="1">
                <a:solidFill>
                  <a:srgbClr val="62DDA8"/>
                </a:solidFill>
                <a:latin typeface="Arial"/>
                <a:ea typeface="Arial"/>
                <a:cs typeface="Arial"/>
              </a:rPr>
              <a:t>JAN 4</a:t>
            </a:r>
          </a:p>
        </p:txBody>
      </p:sp>
      <p:sp>
        <p:nvSpPr>
          <p:cNvPr id="24" name="Text">
            <a:extLst xmlns:a="http://schemas.openxmlformats.org/drawingml/2006/main">
              <a:ext uri="{FF2B5EF4-FFF2-40B4-BE49-F238E27FC236}">
                <a16:creationId xmlns:a16="http://schemas.microsoft.com/office/drawing/2014/main" id="{93713960-C414-4762-84C5-2C98F2993B41}"/>
              </a:ext>
            </a:extLst>
          </p:cNvPr>
          <p:cNvSpPr>
            <a:spLocks xmlns:a="http://schemas.openxmlformats.org/drawingml/2006/main" noGrp="1"/>
          </p:cNvSpPr>
          <p:nvPr/>
        </p:nvSpPr>
        <p:spPr>
          <a:xfrm xmlns:a="http://schemas.openxmlformats.org/drawingml/2006/main">
            <a:off x="2505075" y="51816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3F6F4"/>
                </a:solidFill>
                <a:latin typeface="Arial"/>
                <a:ea typeface="Arial"/>
                <a:cs typeface="Arial"/>
              </a:defRPr>
            </a:pPr>
            <a:r>
              <a:rPr sz="1575" b="1">
                <a:solidFill>
                  <a:srgbClr val="F3F6F4"/>
                </a:solidFill>
                <a:latin typeface="Arial"/>
                <a:ea typeface="Arial"/>
                <a:cs typeface="Arial"/>
              </a:rPr>
              <a:t>ACL ARR gate</a:t>
            </a:r>
          </a:p>
        </p:txBody>
      </p:sp>
      <p:sp>
        <p:nvSpPr>
          <p:cNvPr id="25" name="Text">
            <a:extLst xmlns:a="http://schemas.openxmlformats.org/drawingml/2006/main">
              <a:ext uri="{FF2B5EF4-FFF2-40B4-BE49-F238E27FC236}">
                <a16:creationId xmlns:a16="http://schemas.microsoft.com/office/drawing/2014/main" id="{3DFB1688-F4EE-4529-BFA7-3ED659C2A9E8}"/>
              </a:ext>
            </a:extLst>
          </p:cNvPr>
          <p:cNvSpPr>
            <a:spLocks xmlns:a="http://schemas.openxmlformats.org/drawingml/2006/main" noGrp="1"/>
          </p:cNvSpPr>
          <p:nvPr/>
        </p:nvSpPr>
        <p:spPr>
          <a:xfrm xmlns:a="http://schemas.openxmlformats.org/drawingml/2006/main">
            <a:off x="4762500" y="51816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AB8B0"/>
                </a:solidFill>
                <a:latin typeface="Arial"/>
                <a:ea typeface="Arial"/>
                <a:cs typeface="Arial"/>
              </a:defRPr>
            </a:pPr>
            <a:r>
              <a:rPr sz="1425" b="0">
                <a:solidFill>
                  <a:srgbClr val="AAB8B0"/>
                </a:solidFill>
                <a:latin typeface="Arial"/>
                <a:ea typeface="Arial"/>
                <a:cs typeface="Arial"/>
              </a:rPr>
              <a:t>Commit only if corpus claims match the evidence. EACL main ARR is already past; EMNLP timing/theme remains TBA.</a:t>
            </a:r>
          </a:p>
        </p:txBody>
      </p:sp>
      <p:sp>
        <p:nvSpPr>
          <p:cNvPr id="26" name="Section rule">
            <a:extLst xmlns:a="http://schemas.openxmlformats.org/drawingml/2006/main">
              <a:ext uri="{FF2B5EF4-FFF2-40B4-BE49-F238E27FC236}">
                <a16:creationId xmlns:a16="http://schemas.microsoft.com/office/drawing/2014/main" id="{8C30E469-5A83-4612-93AE-108AB3121282}"/>
              </a:ext>
            </a:extLst>
          </p:cNvPr>
          <p:cNvSpPr>
            <a:spLocks xmlns:a="http://schemas.openxmlformats.org/drawingml/2006/main" noGrp="1"/>
          </p:cNvSpPr>
          <p:nvPr/>
        </p:nvSpPr>
        <p:spPr>
          <a:xfrm xmlns:a="http://schemas.openxmlformats.org/drawingml/2006/main">
            <a:off x="609600" y="57816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1711880910"/>
      </p:ext>
    </p:extLst>
  </p:cSld>
</p:sld>
</file>

<file path=ppt/slides/slide18.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1" name="Section label">
            <a:extLst xmlns:a="http://schemas.openxmlformats.org/drawingml/2006/main">
              <a:ext uri="{FF2B5EF4-FFF2-40B4-BE49-F238E27FC236}">
                <a16:creationId xmlns:a16="http://schemas.microsoft.com/office/drawing/2014/main" id="{5B6E3569-2294-4DCF-A2AD-0DD15071AB55}"/>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DECISION CRITERIA</a:t>
            </a:r>
          </a:p>
        </p:txBody>
      </p:sp>
      <p:sp>
        <p:nvSpPr>
          <p:cNvPr id="2" name="Slide title">
            <a:extLst xmlns:a="http://schemas.openxmlformats.org/drawingml/2006/main">
              <a:ext uri="{FF2B5EF4-FFF2-40B4-BE49-F238E27FC236}">
                <a16:creationId xmlns:a16="http://schemas.microsoft.com/office/drawing/2014/main" id="{0CA60EA7-AF36-494F-A558-1532C0374382}"/>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A publishable claim needs three gates</a:t>
            </a:r>
          </a:p>
        </p:txBody>
      </p:sp>
      <p:sp>
        <p:nvSpPr>
          <p:cNvPr id="3" name="Section rule">
            <a:extLst xmlns:a="http://schemas.openxmlformats.org/drawingml/2006/main">
              <a:ext uri="{FF2B5EF4-FFF2-40B4-BE49-F238E27FC236}">
                <a16:creationId xmlns:a16="http://schemas.microsoft.com/office/drawing/2014/main" id="{09713A71-0B6D-44F0-A64C-8D11C8B572D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8094EE6F-10A7-497B-965B-B07F4FA8B09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412DEB3E-4F7D-4E38-9AF0-9DE633491F7A}"/>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5015BDFF-63A9-4454-A22A-BD862D05A621}"/>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18</a:t>
            </a:r>
          </a:p>
        </p:txBody>
      </p:sp>
      <p:sp>
        <p:nvSpPr>
          <p:cNvPr id="7" name="Text">
            <a:extLst xmlns:a="http://schemas.openxmlformats.org/drawingml/2006/main">
              <a:ext uri="{FF2B5EF4-FFF2-40B4-BE49-F238E27FC236}">
                <a16:creationId xmlns:a16="http://schemas.microsoft.com/office/drawing/2014/main" id="{0F0CD161-1A71-469E-BF48-7D8D81C3CA5D}"/>
              </a:ext>
            </a:extLst>
          </p:cNvPr>
          <p:cNvSpPr>
            <a:spLocks xmlns:a="http://schemas.openxmlformats.org/drawingml/2006/main" noGrp="1"/>
          </p:cNvSpPr>
          <p:nvPr/>
        </p:nvSpPr>
        <p:spPr>
          <a:xfrm xmlns:a="http://schemas.openxmlformats.org/drawingml/2006/main">
            <a:off x="609600" y="1924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01</a:t>
            </a:r>
          </a:p>
        </p:txBody>
      </p:sp>
      <p:sp>
        <p:nvSpPr>
          <p:cNvPr id="8" name="Text">
            <a:extLst xmlns:a="http://schemas.openxmlformats.org/drawingml/2006/main">
              <a:ext uri="{FF2B5EF4-FFF2-40B4-BE49-F238E27FC236}">
                <a16:creationId xmlns:a16="http://schemas.microsoft.com/office/drawing/2014/main" id="{3C8E49AC-3643-4107-998E-E0C397E3E10A}"/>
              </a:ext>
            </a:extLst>
          </p:cNvPr>
          <p:cNvSpPr>
            <a:spLocks xmlns:a="http://schemas.openxmlformats.org/drawingml/2006/main" noGrp="1"/>
          </p:cNvSpPr>
          <p:nvPr/>
        </p:nvSpPr>
        <p:spPr>
          <a:xfrm xmlns:a="http://schemas.openxmlformats.org/drawingml/2006/main">
            <a:off x="1181100" y="190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3F6F4"/>
                </a:solidFill>
                <a:latin typeface="Arial"/>
                <a:ea typeface="Arial"/>
                <a:cs typeface="Arial"/>
              </a:defRPr>
            </a:pPr>
            <a:r>
              <a:rPr sz="1275" b="1">
                <a:solidFill>
                  <a:srgbClr val="F3F6F4"/>
                </a:solidFill>
                <a:latin typeface="Arial"/>
                <a:ea typeface="Arial"/>
                <a:cs typeface="Arial"/>
              </a:rPr>
              <a:t>DATA RIGHTS</a:t>
            </a:r>
          </a:p>
        </p:txBody>
      </p:sp>
      <p:sp>
        <p:nvSpPr>
          <p:cNvPr id="9" name="Text">
            <a:extLst xmlns:a="http://schemas.openxmlformats.org/drawingml/2006/main">
              <a:ext uri="{FF2B5EF4-FFF2-40B4-BE49-F238E27FC236}">
                <a16:creationId xmlns:a16="http://schemas.microsoft.com/office/drawing/2014/main" id="{84C90086-2386-45C7-96F5-577696E74365}"/>
              </a:ext>
            </a:extLst>
          </p:cNvPr>
          <p:cNvSpPr>
            <a:spLocks xmlns:a="http://schemas.openxmlformats.org/drawingml/2006/main" noGrp="1"/>
          </p:cNvSpPr>
          <p:nvPr/>
        </p:nvSpPr>
        <p:spPr>
          <a:xfrm xmlns:a="http://schemas.openxmlformats.org/drawingml/2006/main">
            <a:off x="1181100" y="238125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The source corpus and derived examples can be used for research and described reproducibly.</a:t>
            </a:r>
          </a:p>
        </p:txBody>
      </p:sp>
      <p:sp>
        <p:nvSpPr>
          <p:cNvPr id="10" name="Diagram shape">
            <a:extLst xmlns:a="http://schemas.openxmlformats.org/drawingml/2006/main">
              <a:ext uri="{FF2B5EF4-FFF2-40B4-BE49-F238E27FC236}">
                <a16:creationId xmlns:a16="http://schemas.microsoft.com/office/drawing/2014/main" id="{ADF49A45-740C-4FC7-BA83-3697F1ADC41E}"/>
              </a:ext>
            </a:extLst>
          </p:cNvPr>
          <p:cNvSpPr>
            <a:spLocks xmlns:a="http://schemas.openxmlformats.org/drawingml/2006/main" noGrp="1"/>
          </p:cNvSpPr>
          <p:nvPr/>
        </p:nvSpPr>
        <p:spPr>
          <a:xfrm xmlns:a="http://schemas.openxmlformats.org/drawingml/2006/main">
            <a:off x="4038600" y="1924050"/>
            <a:ext cx="9525" cy="2238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2EB0698-442C-4B29-8688-9713BD807B01}"/>
              </a:ext>
            </a:extLst>
          </p:cNvPr>
          <p:cNvSpPr>
            <a:spLocks xmlns:a="http://schemas.openxmlformats.org/drawingml/2006/main" noGrp="1"/>
          </p:cNvSpPr>
          <p:nvPr/>
        </p:nvSpPr>
        <p:spPr>
          <a:xfrm xmlns:a="http://schemas.openxmlformats.org/drawingml/2006/main">
            <a:off x="4324350" y="1924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02</a:t>
            </a:r>
          </a:p>
        </p:txBody>
      </p:sp>
      <p:sp>
        <p:nvSpPr>
          <p:cNvPr id="12" name="Text">
            <a:extLst xmlns:a="http://schemas.openxmlformats.org/drawingml/2006/main">
              <a:ext uri="{FF2B5EF4-FFF2-40B4-BE49-F238E27FC236}">
                <a16:creationId xmlns:a16="http://schemas.microsoft.com/office/drawing/2014/main" id="{76D09EA5-A7B2-4994-939B-9A965D98B48A}"/>
              </a:ext>
            </a:extLst>
          </p:cNvPr>
          <p:cNvSpPr>
            <a:spLocks xmlns:a="http://schemas.openxmlformats.org/drawingml/2006/main" noGrp="1"/>
          </p:cNvSpPr>
          <p:nvPr/>
        </p:nvSpPr>
        <p:spPr>
          <a:xfrm xmlns:a="http://schemas.openxmlformats.org/drawingml/2006/main">
            <a:off x="4895850" y="190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3F6F4"/>
                </a:solidFill>
                <a:latin typeface="Arial"/>
                <a:ea typeface="Arial"/>
                <a:cs typeface="Arial"/>
              </a:defRPr>
            </a:pPr>
            <a:r>
              <a:rPr sz="1275" b="1">
                <a:solidFill>
                  <a:srgbClr val="F3F6F4"/>
                </a:solidFill>
                <a:latin typeface="Arial"/>
                <a:ea typeface="Arial"/>
                <a:cs typeface="Arial"/>
              </a:rPr>
              <a:t>LABEL VALIDITY</a:t>
            </a:r>
          </a:p>
        </p:txBody>
      </p:sp>
      <p:sp>
        <p:nvSpPr>
          <p:cNvPr id="13" name="Text">
            <a:extLst xmlns:a="http://schemas.openxmlformats.org/drawingml/2006/main">
              <a:ext uri="{FF2B5EF4-FFF2-40B4-BE49-F238E27FC236}">
                <a16:creationId xmlns:a16="http://schemas.microsoft.com/office/drawing/2014/main" id="{2AE0DE76-CA6C-4EFF-901C-875A2848BC15}"/>
              </a:ext>
            </a:extLst>
          </p:cNvPr>
          <p:cNvSpPr>
            <a:spLocks xmlns:a="http://schemas.openxmlformats.org/drawingml/2006/main" noGrp="1"/>
          </p:cNvSpPr>
          <p:nvPr/>
        </p:nvSpPr>
        <p:spPr>
          <a:xfrm xmlns:a="http://schemas.openxmlformats.org/drawingml/2006/main">
            <a:off x="4895850" y="238125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Guidelines, annotator disagreement, adjudication, and uncertainty are documented.</a:t>
            </a:r>
          </a:p>
        </p:txBody>
      </p:sp>
      <p:sp>
        <p:nvSpPr>
          <p:cNvPr id="14" name="Diagram shape">
            <a:extLst xmlns:a="http://schemas.openxmlformats.org/drawingml/2006/main">
              <a:ext uri="{FF2B5EF4-FFF2-40B4-BE49-F238E27FC236}">
                <a16:creationId xmlns:a16="http://schemas.microsoft.com/office/drawing/2014/main" id="{3F6F4375-CE3B-4517-81C2-46791755F3F4}"/>
              </a:ext>
            </a:extLst>
          </p:cNvPr>
          <p:cNvSpPr>
            <a:spLocks xmlns:a="http://schemas.openxmlformats.org/drawingml/2006/main" noGrp="1"/>
          </p:cNvSpPr>
          <p:nvPr/>
        </p:nvSpPr>
        <p:spPr>
          <a:xfrm xmlns:a="http://schemas.openxmlformats.org/drawingml/2006/main">
            <a:off x="7753350" y="1924050"/>
            <a:ext cx="9525" cy="223837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EBDD211-8945-40BC-B170-AEC998FDFD59}"/>
              </a:ext>
            </a:extLst>
          </p:cNvPr>
          <p:cNvSpPr>
            <a:spLocks xmlns:a="http://schemas.openxmlformats.org/drawingml/2006/main" noGrp="1"/>
          </p:cNvSpPr>
          <p:nvPr/>
        </p:nvSpPr>
        <p:spPr>
          <a:xfrm xmlns:a="http://schemas.openxmlformats.org/drawingml/2006/main">
            <a:off x="8039100" y="19240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2DDA8"/>
                </a:solidFill>
                <a:latin typeface="Arial"/>
                <a:ea typeface="Arial"/>
                <a:cs typeface="Arial"/>
              </a:defRPr>
            </a:pPr>
            <a:r>
              <a:rPr sz="1275" b="1">
                <a:solidFill>
                  <a:srgbClr val="62DDA8"/>
                </a:solidFill>
                <a:latin typeface="Arial"/>
                <a:ea typeface="Arial"/>
                <a:cs typeface="Arial"/>
              </a:rPr>
              <a:t>03</a:t>
            </a:r>
          </a:p>
        </p:txBody>
      </p:sp>
      <p:sp>
        <p:nvSpPr>
          <p:cNvPr id="16" name="Text">
            <a:extLst xmlns:a="http://schemas.openxmlformats.org/drawingml/2006/main">
              <a:ext uri="{FF2B5EF4-FFF2-40B4-BE49-F238E27FC236}">
                <a16:creationId xmlns:a16="http://schemas.microsoft.com/office/drawing/2014/main" id="{26F527BC-BC87-46A6-B20E-3C0B7C051FEB}"/>
              </a:ext>
            </a:extLst>
          </p:cNvPr>
          <p:cNvSpPr>
            <a:spLocks xmlns:a="http://schemas.openxmlformats.org/drawingml/2006/main" noGrp="1"/>
          </p:cNvSpPr>
          <p:nvPr/>
        </p:nvSpPr>
        <p:spPr>
          <a:xfrm xmlns:a="http://schemas.openxmlformats.org/drawingml/2006/main">
            <a:off x="8610600" y="190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3F6F4"/>
                </a:solidFill>
                <a:latin typeface="Arial"/>
                <a:ea typeface="Arial"/>
                <a:cs typeface="Arial"/>
              </a:defRPr>
            </a:pPr>
            <a:r>
              <a:rPr sz="1275" b="1">
                <a:solidFill>
                  <a:srgbClr val="F3F6F4"/>
                </a:solidFill>
                <a:latin typeface="Arial"/>
                <a:ea typeface="Arial"/>
                <a:cs typeface="Arial"/>
              </a:rPr>
              <a:t>GENERALIZATION</a:t>
            </a:r>
          </a:p>
        </p:txBody>
      </p:sp>
      <p:sp>
        <p:nvSpPr>
          <p:cNvPr id="17" name="Text">
            <a:extLst xmlns:a="http://schemas.openxmlformats.org/drawingml/2006/main">
              <a:ext uri="{FF2B5EF4-FFF2-40B4-BE49-F238E27FC236}">
                <a16:creationId xmlns:a16="http://schemas.microsoft.com/office/drawing/2014/main" id="{3CE53BBC-7EFA-4DA6-AD3F-59C06580A2ED}"/>
              </a:ext>
            </a:extLst>
          </p:cNvPr>
          <p:cNvSpPr>
            <a:spLocks xmlns:a="http://schemas.openxmlformats.org/drawingml/2006/main" noGrp="1"/>
          </p:cNvSpPr>
          <p:nvPr/>
        </p:nvSpPr>
        <p:spPr>
          <a:xfrm xmlns:a="http://schemas.openxmlformats.org/drawingml/2006/main">
            <a:off x="8610600" y="238125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AB8B0"/>
                </a:solidFill>
                <a:latin typeface="Arial"/>
                <a:ea typeface="Arial"/>
                <a:cs typeface="Arial"/>
              </a:defRPr>
            </a:pPr>
            <a:r>
              <a:rPr sz="1500" b="0">
                <a:solidFill>
                  <a:srgbClr val="AAB8B0"/>
                </a:solidFill>
                <a:latin typeface="Arial"/>
                <a:ea typeface="Arial"/>
                <a:cs typeface="Arial"/>
              </a:rPr>
              <a:t>Synthetic gains survive held-out documents and generator patterns on a locked gold test.</a:t>
            </a:r>
          </a:p>
        </p:txBody>
      </p:sp>
      <p:sp>
        <p:nvSpPr>
          <p:cNvPr id="18" name="Section rule">
            <a:extLst xmlns:a="http://schemas.openxmlformats.org/drawingml/2006/main">
              <a:ext uri="{FF2B5EF4-FFF2-40B4-BE49-F238E27FC236}">
                <a16:creationId xmlns:a16="http://schemas.microsoft.com/office/drawing/2014/main" id="{E55735CD-C7D7-4146-A481-4C9C7CF3708C}"/>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B88B9F37-E4CC-465F-81B2-FAF29F0399AD}"/>
              </a:ext>
            </a:extLst>
          </p:cNvPr>
          <p:cNvSpPr>
            <a:spLocks xmlns:a="http://schemas.openxmlformats.org/drawingml/2006/main" noGrp="1"/>
          </p:cNvSpPr>
          <p:nvPr/>
        </p:nvSpPr>
        <p:spPr>
          <a:xfrm xmlns:a="http://schemas.openxmlformats.org/drawingml/2006/main">
            <a:off x="609600" y="4686300"/>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C36A"/>
                </a:solidFill>
                <a:latin typeface="Arial"/>
                <a:ea typeface="Arial"/>
                <a:cs typeface="Arial"/>
              </a:defRPr>
            </a:pPr>
            <a:r>
              <a:rPr sz="1350" b="1">
                <a:solidFill>
                  <a:srgbClr val="F0C36A"/>
                </a:solidFill>
                <a:latin typeface="Arial"/>
                <a:ea typeface="Arial"/>
                <a:cs typeface="Arial"/>
              </a:rPr>
              <a:t>Pre-register the interpretation</a:t>
            </a:r>
          </a:p>
        </p:txBody>
      </p:sp>
      <p:sp>
        <p:nvSpPr>
          <p:cNvPr id="20" name="Text">
            <a:extLst xmlns:a="http://schemas.openxmlformats.org/drawingml/2006/main">
              <a:ext uri="{FF2B5EF4-FFF2-40B4-BE49-F238E27FC236}">
                <a16:creationId xmlns:a16="http://schemas.microsoft.com/office/drawing/2014/main" id="{E8E14F3B-3220-47FD-9A87-A3845BBBB41D}"/>
              </a:ext>
            </a:extLst>
          </p:cNvPr>
          <p:cNvSpPr>
            <a:spLocks xmlns:a="http://schemas.openxmlformats.org/drawingml/2006/main" noGrp="1"/>
          </p:cNvSpPr>
          <p:nvPr/>
        </p:nvSpPr>
        <p:spPr>
          <a:xfrm xmlns:a="http://schemas.openxmlformats.org/drawingml/2006/main">
            <a:off x="609600" y="51435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F3F6F4"/>
                </a:solidFill>
                <a:latin typeface="Arial"/>
                <a:ea typeface="Arial"/>
                <a:cs typeface="Arial"/>
              </a:defRPr>
            </a:pPr>
            <a:r>
              <a:rPr sz="1575" b="0">
                <a:solidFill>
                  <a:srgbClr val="F3F6F4"/>
                </a:solidFill>
                <a:latin typeface="Arial"/>
                <a:ea typeface="Arial"/>
                <a:cs typeface="Arial"/>
              </a:rPr>
              <a:t>Set a practically meaningful effect threshold before the final run. Report neutral or negative synthetic-data results with the same care as positive results.</a:t>
            </a:r>
          </a:p>
        </p:txBody>
      </p:sp>
    </p:spTree>
    <p:extLst>
      <p:ext uri="{BB962C8B-B14F-4D97-AF65-F5344CB8AC3E}">
        <p14:creationId xmlns:p14="http://schemas.microsoft.com/office/powerpoint/2010/main" val="198249987"/>
      </p:ext>
    </p:extLst>
  </p:cSld>
</p:sld>
</file>

<file path=ppt/slides/slide19.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7" name="Section label">
            <a:extLst xmlns:a="http://schemas.openxmlformats.org/drawingml/2006/main">
              <a:ext uri="{FF2B5EF4-FFF2-40B4-BE49-F238E27FC236}">
                <a16:creationId xmlns:a16="http://schemas.microsoft.com/office/drawing/2014/main" id="{6EDFB84A-6534-4D66-8816-A90F93BC3B2A}"/>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REFERENCES</a:t>
            </a:r>
          </a:p>
        </p:txBody>
      </p:sp>
      <p:sp>
        <p:nvSpPr>
          <p:cNvPr id="2" name="Slide title">
            <a:extLst xmlns:a="http://schemas.openxmlformats.org/drawingml/2006/main">
              <a:ext uri="{FF2B5EF4-FFF2-40B4-BE49-F238E27FC236}">
                <a16:creationId xmlns:a16="http://schemas.microsoft.com/office/drawing/2014/main" id="{243D6E65-70E9-4AE4-90F0-D1274EE6D76A}"/>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Corpus references: task coverage and limits</a:t>
            </a:r>
          </a:p>
        </p:txBody>
      </p:sp>
      <p:sp>
        <p:nvSpPr>
          <p:cNvPr id="3" name="Section rule">
            <a:extLst xmlns:a="http://schemas.openxmlformats.org/drawingml/2006/main">
              <a:ext uri="{FF2B5EF4-FFF2-40B4-BE49-F238E27FC236}">
                <a16:creationId xmlns:a16="http://schemas.microsoft.com/office/drawing/2014/main" id="{B515DC41-D63E-4216-845C-239FC8F4A672}"/>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C74720BA-316E-4986-A886-750E098F141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CB2EDD5A-F3AB-4290-92BF-B77880312F5D}"/>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9F0A71D3-9680-4AC5-A5EA-F6EB99DB1C5D}"/>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19</a:t>
            </a:r>
          </a:p>
        </p:txBody>
      </p:sp>
      <p:sp>
        <p:nvSpPr>
          <p:cNvPr id="7" name="Text">
            <a:extLst xmlns:a="http://schemas.openxmlformats.org/drawingml/2006/main">
              <a:ext uri="{FF2B5EF4-FFF2-40B4-BE49-F238E27FC236}">
                <a16:creationId xmlns:a16="http://schemas.microsoft.com/office/drawing/2014/main" id="{2174A80A-A288-4C74-9A40-9CDB179D05A0}"/>
              </a:ext>
            </a:extLst>
          </p:cNvPr>
          <p:cNvSpPr>
            <a:spLocks xmlns:a="http://schemas.openxmlformats.org/drawingml/2006/main" noGrp="1"/>
          </p:cNvSpPr>
          <p:nvPr/>
        </p:nvSpPr>
        <p:spPr>
          <a:xfrm xmlns:a="http://schemas.openxmlformats.org/drawingml/2006/main">
            <a:off x="609600" y="16097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NarrativeTime / TimeBankNT</a:t>
            </a:r>
          </a:p>
        </p:txBody>
      </p:sp>
      <p:sp>
        <p:nvSpPr>
          <p:cNvPr id="8" name="Text">
            <a:extLst xmlns:a="http://schemas.openxmlformats.org/drawingml/2006/main">
              <a:ext uri="{FF2B5EF4-FFF2-40B4-BE49-F238E27FC236}">
                <a16:creationId xmlns:a16="http://schemas.microsoft.com/office/drawing/2014/main" id="{DD6C3A2E-B292-4096-92AA-00212B04B2E4}"/>
              </a:ext>
            </a:extLst>
          </p:cNvPr>
          <p:cNvSpPr>
            <a:spLocks xmlns:a="http://schemas.openxmlformats.org/drawingml/2006/main" noGrp="1"/>
          </p:cNvSpPr>
          <p:nvPr/>
        </p:nvSpPr>
        <p:spPr>
          <a:xfrm xmlns:a="http://schemas.openxmlformats.org/drawingml/2006/main">
            <a:off x="3743325" y="1600200"/>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Full dense timeline annotation; two expert annotators; underlying documents are TimeBank-Dense news.</a:t>
            </a:r>
          </a:p>
        </p:txBody>
      </p:sp>
      <p:sp>
        <p:nvSpPr>
          <p:cNvPr id="9" name="Text">
            <a:extLst xmlns:a="http://schemas.openxmlformats.org/drawingml/2006/main">
              <a:ext uri="{FF2B5EF4-FFF2-40B4-BE49-F238E27FC236}">
                <a16:creationId xmlns:a16="http://schemas.microsoft.com/office/drawing/2014/main" id="{C4BEB82B-5A9E-4167-A267-A0CB5F620167}"/>
              </a:ext>
            </a:extLst>
          </p:cNvPr>
          <p:cNvSpPr>
            <a:spLocks xmlns:a="http://schemas.openxmlformats.org/drawingml/2006/main" noGrp="1"/>
          </p:cNvSpPr>
          <p:nvPr/>
        </p:nvSpPr>
        <p:spPr>
          <a:xfrm xmlns:a="http://schemas.openxmlformats.org/drawingml/2006/main">
            <a:off x="3743325" y="20955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aclanthology.org/2024.lrec-main.1054/</a:t>
            </a:r>
          </a:p>
        </p:txBody>
      </p:sp>
      <p:sp>
        <p:nvSpPr>
          <p:cNvPr id="10" name="Section rule">
            <a:extLst xmlns:a="http://schemas.openxmlformats.org/drawingml/2006/main">
              <a:ext uri="{FF2B5EF4-FFF2-40B4-BE49-F238E27FC236}">
                <a16:creationId xmlns:a16="http://schemas.microsoft.com/office/drawing/2014/main" id="{2B543D9A-C697-45A5-8C0E-FD08B2862636}"/>
              </a:ext>
            </a:extLst>
          </p:cNvPr>
          <p:cNvSpPr>
            <a:spLocks xmlns:a="http://schemas.openxmlformats.org/drawingml/2006/main" noGrp="1"/>
          </p:cNvSpPr>
          <p:nvPr/>
        </p:nvSpPr>
        <p:spPr>
          <a:xfrm xmlns:a="http://schemas.openxmlformats.org/drawingml/2006/main">
            <a:off x="609600" y="23336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BB98451-4D7D-464E-8EAE-08670D4DF786}"/>
              </a:ext>
            </a:extLst>
          </p:cNvPr>
          <p:cNvSpPr>
            <a:spLocks xmlns:a="http://schemas.openxmlformats.org/drawingml/2006/main" noGrp="1"/>
          </p:cNvSpPr>
          <p:nvPr/>
        </p:nvSpPr>
        <p:spPr>
          <a:xfrm xmlns:a="http://schemas.openxmlformats.org/drawingml/2006/main">
            <a:off x="609600" y="25241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TIMELINE</a:t>
            </a:r>
          </a:p>
        </p:txBody>
      </p:sp>
      <p:sp>
        <p:nvSpPr>
          <p:cNvPr id="12" name="Text">
            <a:extLst xmlns:a="http://schemas.openxmlformats.org/drawingml/2006/main">
              <a:ext uri="{FF2B5EF4-FFF2-40B4-BE49-F238E27FC236}">
                <a16:creationId xmlns:a16="http://schemas.microsoft.com/office/drawing/2014/main" id="{58A5522C-373A-4395-91E2-CACFD5A3FAEC}"/>
              </a:ext>
            </a:extLst>
          </p:cNvPr>
          <p:cNvSpPr>
            <a:spLocks xmlns:a="http://schemas.openxmlformats.org/drawingml/2006/main" noGrp="1"/>
          </p:cNvSpPr>
          <p:nvPr/>
        </p:nvSpPr>
        <p:spPr>
          <a:xfrm xmlns:a="http://schemas.openxmlformats.org/drawingml/2006/main">
            <a:off x="3743325" y="2514600"/>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News corpus designed for exhaustive long-distance links and nominalized event mentions.</a:t>
            </a:r>
          </a:p>
        </p:txBody>
      </p:sp>
      <p:sp>
        <p:nvSpPr>
          <p:cNvPr id="13" name="Text">
            <a:extLst xmlns:a="http://schemas.openxmlformats.org/drawingml/2006/main">
              <a:ext uri="{FF2B5EF4-FFF2-40B4-BE49-F238E27FC236}">
                <a16:creationId xmlns:a16="http://schemas.microsoft.com/office/drawing/2014/main" id="{E23391B0-4E06-4EC7-9638-480C0F8912A3}"/>
              </a:ext>
            </a:extLst>
          </p:cNvPr>
          <p:cNvSpPr>
            <a:spLocks xmlns:a="http://schemas.openxmlformats.org/drawingml/2006/main" noGrp="1"/>
          </p:cNvSpPr>
          <p:nvPr/>
        </p:nvSpPr>
        <p:spPr>
          <a:xfrm xmlns:a="http://schemas.openxmlformats.org/drawingml/2006/main">
            <a:off x="3743325" y="30099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aclanthology.org/2023.emnlp-main.1016/</a:t>
            </a:r>
          </a:p>
        </p:txBody>
      </p:sp>
      <p:sp>
        <p:nvSpPr>
          <p:cNvPr id="14" name="Section rule">
            <a:extLst xmlns:a="http://schemas.openxmlformats.org/drawingml/2006/main">
              <a:ext uri="{FF2B5EF4-FFF2-40B4-BE49-F238E27FC236}">
                <a16:creationId xmlns:a16="http://schemas.microsoft.com/office/drawing/2014/main" id="{75DB15BC-AC31-4B4E-AF64-4CCE7801F816}"/>
              </a:ext>
            </a:extLst>
          </p:cNvPr>
          <p:cNvSpPr>
            <a:spLocks xmlns:a="http://schemas.openxmlformats.org/drawingml/2006/main" noGrp="1"/>
          </p:cNvSpPr>
          <p:nvPr/>
        </p:nvSpPr>
        <p:spPr>
          <a:xfrm xmlns:a="http://schemas.openxmlformats.org/drawingml/2006/main">
            <a:off x="609600" y="32480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0D564CAC-B290-47EA-B37D-E497A2ECAEF6}"/>
              </a:ext>
            </a:extLst>
          </p:cNvPr>
          <p:cNvSpPr>
            <a:spLocks xmlns:a="http://schemas.openxmlformats.org/drawingml/2006/main" noGrp="1"/>
          </p:cNvSpPr>
          <p:nvPr/>
        </p:nvSpPr>
        <p:spPr>
          <a:xfrm xmlns:a="http://schemas.openxmlformats.org/drawingml/2006/main">
            <a:off x="609600" y="34385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CaTeRS / ROCStories</a:t>
            </a:r>
          </a:p>
        </p:txBody>
      </p:sp>
      <p:sp>
        <p:nvSpPr>
          <p:cNvPr id="16" name="Text">
            <a:extLst xmlns:a="http://schemas.openxmlformats.org/drawingml/2006/main">
              <a:ext uri="{FF2B5EF4-FFF2-40B4-BE49-F238E27FC236}">
                <a16:creationId xmlns:a16="http://schemas.microsoft.com/office/drawing/2014/main" id="{3B11AD2F-76A1-49D0-9D2D-4CDF27A0C5AB}"/>
              </a:ext>
            </a:extLst>
          </p:cNvPr>
          <p:cNvSpPr>
            <a:spLocks xmlns:a="http://schemas.openxmlformats.org/drawingml/2006/main" noGrp="1"/>
          </p:cNvSpPr>
          <p:nvPr/>
        </p:nvSpPr>
        <p:spPr>
          <a:xfrm xmlns:a="http://schemas.openxmlformats.org/drawingml/2006/main">
            <a:off x="3743325" y="3429000"/>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320 five-sentence stories with causal and temporal event relations; useful diagnostic, not TYM frame gold.</a:t>
            </a:r>
          </a:p>
        </p:txBody>
      </p:sp>
      <p:sp>
        <p:nvSpPr>
          <p:cNvPr id="17" name="Text">
            <a:extLst xmlns:a="http://schemas.openxmlformats.org/drawingml/2006/main">
              <a:ext uri="{FF2B5EF4-FFF2-40B4-BE49-F238E27FC236}">
                <a16:creationId xmlns:a16="http://schemas.microsoft.com/office/drawing/2014/main" id="{5D8C9E67-8B7A-42EC-AA1B-28FB0CBA41A7}"/>
              </a:ext>
            </a:extLst>
          </p:cNvPr>
          <p:cNvSpPr>
            <a:spLocks xmlns:a="http://schemas.openxmlformats.org/drawingml/2006/main" noGrp="1"/>
          </p:cNvSpPr>
          <p:nvPr/>
        </p:nvSpPr>
        <p:spPr>
          <a:xfrm xmlns:a="http://schemas.openxmlformats.org/drawingml/2006/main">
            <a:off x="3743325" y="39243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aclanthology.org/W16-1007/</a:t>
            </a:r>
          </a:p>
        </p:txBody>
      </p:sp>
      <p:sp>
        <p:nvSpPr>
          <p:cNvPr id="18" name="Section rule">
            <a:extLst xmlns:a="http://schemas.openxmlformats.org/drawingml/2006/main">
              <a:ext uri="{FF2B5EF4-FFF2-40B4-BE49-F238E27FC236}">
                <a16:creationId xmlns:a16="http://schemas.microsoft.com/office/drawing/2014/main" id="{25B7F014-7083-43C9-82E1-FE15085801B7}"/>
              </a:ext>
            </a:extLst>
          </p:cNvPr>
          <p:cNvSpPr>
            <a:spLocks xmlns:a="http://schemas.openxmlformats.org/drawingml/2006/main" noGrp="1"/>
          </p:cNvSpPr>
          <p:nvPr/>
        </p:nvSpPr>
        <p:spPr>
          <a:xfrm xmlns:a="http://schemas.openxmlformats.org/drawingml/2006/main">
            <a:off x="609600" y="41624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7244B952-E481-45D7-B231-2722C68F748B}"/>
              </a:ext>
            </a:extLst>
          </p:cNvPr>
          <p:cNvSpPr>
            <a:spLocks xmlns:a="http://schemas.openxmlformats.org/drawingml/2006/main" noGrp="1"/>
          </p:cNvSpPr>
          <p:nvPr/>
        </p:nvSpPr>
        <p:spPr>
          <a:xfrm xmlns:a="http://schemas.openxmlformats.org/drawingml/2006/main">
            <a:off x="609600" y="43529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MEANTIME</a:t>
            </a:r>
          </a:p>
        </p:txBody>
      </p:sp>
      <p:sp>
        <p:nvSpPr>
          <p:cNvPr id="20" name="Text">
            <a:extLst xmlns:a="http://schemas.openxmlformats.org/drawingml/2006/main">
              <a:ext uri="{FF2B5EF4-FFF2-40B4-BE49-F238E27FC236}">
                <a16:creationId xmlns:a16="http://schemas.microsoft.com/office/drawing/2014/main" id="{6B8EBB21-9F22-4248-B94F-B7EEBFA4F288}"/>
              </a:ext>
            </a:extLst>
          </p:cNvPr>
          <p:cNvSpPr>
            <a:spLocks xmlns:a="http://schemas.openxmlformats.org/drawingml/2006/main" noGrp="1"/>
          </p:cNvSpPr>
          <p:nvPr/>
        </p:nvSpPr>
        <p:spPr>
          <a:xfrm xmlns:a="http://schemas.openxmlformats.org/drawingml/2006/main">
            <a:off x="3743325" y="4343400"/>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480 translated news articles in English, Spanish, Italian, and Dutch; some annotations were projected from English.</a:t>
            </a:r>
          </a:p>
        </p:txBody>
      </p:sp>
      <p:sp>
        <p:nvSpPr>
          <p:cNvPr id="21" name="Text">
            <a:extLst xmlns:a="http://schemas.openxmlformats.org/drawingml/2006/main">
              <a:ext uri="{FF2B5EF4-FFF2-40B4-BE49-F238E27FC236}">
                <a16:creationId xmlns:a16="http://schemas.microsoft.com/office/drawing/2014/main" id="{888C0CE4-3790-4063-A311-AD77E6FC9AE1}"/>
              </a:ext>
            </a:extLst>
          </p:cNvPr>
          <p:cNvSpPr>
            <a:spLocks xmlns:a="http://schemas.openxmlformats.org/drawingml/2006/main" noGrp="1"/>
          </p:cNvSpPr>
          <p:nvPr/>
        </p:nvSpPr>
        <p:spPr>
          <a:xfrm xmlns:a="http://schemas.openxmlformats.org/drawingml/2006/main">
            <a:off x="3743325" y="48387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aclanthology.org/L16-1699/</a:t>
            </a:r>
          </a:p>
        </p:txBody>
      </p:sp>
      <p:sp>
        <p:nvSpPr>
          <p:cNvPr id="22" name="Section rule">
            <a:extLst xmlns:a="http://schemas.openxmlformats.org/drawingml/2006/main">
              <a:ext uri="{FF2B5EF4-FFF2-40B4-BE49-F238E27FC236}">
                <a16:creationId xmlns:a16="http://schemas.microsoft.com/office/drawing/2014/main" id="{6ABCEF81-787E-470D-B5FA-9488697151B8}"/>
              </a:ext>
            </a:extLst>
          </p:cNvPr>
          <p:cNvSpPr>
            <a:spLocks xmlns:a="http://schemas.openxmlformats.org/drawingml/2006/main" noGrp="1"/>
          </p:cNvSpPr>
          <p:nvPr/>
        </p:nvSpPr>
        <p:spPr>
          <a:xfrm xmlns:a="http://schemas.openxmlformats.org/drawingml/2006/main">
            <a:off x="609600" y="50768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7251B0E9-4DF4-4D35-B998-728B79DD3EED}"/>
              </a:ext>
            </a:extLst>
          </p:cNvPr>
          <p:cNvSpPr>
            <a:spLocks xmlns:a="http://schemas.openxmlformats.org/drawingml/2006/main" noGrp="1"/>
          </p:cNvSpPr>
          <p:nvPr/>
        </p:nvSpPr>
        <p:spPr>
          <a:xfrm xmlns:a="http://schemas.openxmlformats.org/drawingml/2006/main">
            <a:off x="609600" y="52673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2DDA8"/>
                </a:solidFill>
                <a:latin typeface="Arial"/>
                <a:ea typeface="Arial"/>
                <a:cs typeface="Arial"/>
              </a:defRPr>
            </a:pPr>
            <a:r>
              <a:rPr sz="1425" b="1">
                <a:solidFill>
                  <a:srgbClr val="62DDA8"/>
                </a:solidFill>
                <a:latin typeface="Arial"/>
                <a:ea typeface="Arial"/>
                <a:cs typeface="Arial"/>
              </a:rPr>
              <a:t>TYM source paper</a:t>
            </a:r>
          </a:p>
        </p:txBody>
      </p:sp>
      <p:sp>
        <p:nvSpPr>
          <p:cNvPr id="24" name="Text">
            <a:extLst xmlns:a="http://schemas.openxmlformats.org/drawingml/2006/main">
              <a:ext uri="{FF2B5EF4-FFF2-40B4-BE49-F238E27FC236}">
                <a16:creationId xmlns:a16="http://schemas.microsoft.com/office/drawing/2014/main" id="{3F377D31-98C7-4E47-8711-CBFA29BB1337}"/>
              </a:ext>
            </a:extLst>
          </p:cNvPr>
          <p:cNvSpPr>
            <a:spLocks xmlns:a="http://schemas.openxmlformats.org/drawingml/2006/main" noGrp="1"/>
          </p:cNvSpPr>
          <p:nvPr/>
        </p:nvSpPr>
        <p:spPr>
          <a:xfrm xmlns:a="http://schemas.openxmlformats.org/drawingml/2006/main">
            <a:off x="3743325" y="5257800"/>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3F6F4"/>
                </a:solidFill>
                <a:latin typeface="Arial"/>
                <a:ea typeface="Arial"/>
                <a:cs typeface="Arial"/>
              </a:defRPr>
            </a:pPr>
            <a:r>
              <a:rPr sz="1275" b="0">
                <a:solidFill>
                  <a:srgbClr val="F3F6F4"/>
                </a:solidFill>
                <a:latin typeface="Arial"/>
                <a:ea typeface="Arial"/>
                <a:cs typeface="Arial"/>
              </a:rPr>
              <a:t>User-provided PDF. Keep paper-reported metrics separate from this repo's seed models.</a:t>
            </a:r>
          </a:p>
        </p:txBody>
      </p:sp>
      <p:sp>
        <p:nvSpPr>
          <p:cNvPr id="25" name="Text">
            <a:extLst xmlns:a="http://schemas.openxmlformats.org/drawingml/2006/main">
              <a:ext uri="{FF2B5EF4-FFF2-40B4-BE49-F238E27FC236}">
                <a16:creationId xmlns:a16="http://schemas.microsoft.com/office/drawing/2014/main" id="{DF7AA487-3B43-4097-9562-DC3E9E93069F}"/>
              </a:ext>
            </a:extLst>
          </p:cNvPr>
          <p:cNvSpPr>
            <a:spLocks xmlns:a="http://schemas.openxmlformats.org/drawingml/2006/main" noGrp="1"/>
          </p:cNvSpPr>
          <p:nvPr/>
        </p:nvSpPr>
        <p:spPr>
          <a:xfrm xmlns:a="http://schemas.openxmlformats.org/drawingml/2006/main">
            <a:off x="3743325" y="5753100"/>
            <a:ext cx="7219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Supplied local PDF, 14 pages</a:t>
            </a:r>
          </a:p>
        </p:txBody>
      </p:sp>
      <p:sp>
        <p:nvSpPr>
          <p:cNvPr id="26" name="Section rule">
            <a:extLst xmlns:a="http://schemas.openxmlformats.org/drawingml/2006/main">
              <a:ext uri="{FF2B5EF4-FFF2-40B4-BE49-F238E27FC236}">
                <a16:creationId xmlns:a16="http://schemas.microsoft.com/office/drawing/2014/main" id="{CEFE859F-2252-4F8F-BF74-BEF670AA6650}"/>
              </a:ext>
            </a:extLst>
          </p:cNvPr>
          <p:cNvSpPr>
            <a:spLocks xmlns:a="http://schemas.openxmlformats.org/drawingml/2006/main" noGrp="1"/>
          </p:cNvSpPr>
          <p:nvPr/>
        </p:nvSpPr>
        <p:spPr>
          <a:xfrm xmlns:a="http://schemas.openxmlformats.org/drawingml/2006/main">
            <a:off x="609600" y="59912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1650975774"/>
      </p:ext>
    </p:extLst>
  </p:cSld>
</p:sld>
</file>

<file path=ppt/slides/slide20.xml><?xml version="1.0" encoding="utf-8"?>
<p:sld xmlns:p="http://schemas.openxmlformats.org/presentationml/2006/main">
  <p:cSld>
    <p:bg>
      <p:bgPr>
        <a:solidFill xmlns:a="http://schemas.openxmlformats.org/drawingml/2006/main">
          <a:srgbClr val="202522"/>
        </a:solidFill>
      </p:bgPr>
    </p:bg>
    <p:spTree>
      <p:nvGrpSpPr>
        <p:cNvPr id="1" name=""/>
        <p:cNvGrpSpPr/>
        <p:nvPr/>
      </p:nvGrpSpPr>
      <p:grpSpPr>
        <a:xfrm xmlns:a="http://schemas.openxmlformats.org/drawingml/2006/main"/>
      </p:grpSpPr>
      <p:sp>
        <p:nvSpPr>
          <p:cNvPr id="27" name="Section label">
            <a:extLst xmlns:a="http://schemas.openxmlformats.org/drawingml/2006/main">
              <a:ext uri="{FF2B5EF4-FFF2-40B4-BE49-F238E27FC236}">
                <a16:creationId xmlns:a16="http://schemas.microsoft.com/office/drawing/2014/main" id="{5A95AA51-B023-4A2C-AF36-C59037107D24}"/>
              </a:ext>
            </a:extLst>
          </p:cNvPr>
          <p:cNvSpPr>
            <a:spLocks xmlns:a="http://schemas.openxmlformats.org/drawingml/2006/main" noGrp="1"/>
          </p:cNvSpPr>
          <p:nvPr/>
        </p:nvSpPr>
        <p:spPr>
          <a:xfrm xmlns:a="http://schemas.openxmlformats.org/drawingml/2006/main">
            <a:off x="609600" y="2571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2DDA8"/>
                </a:solidFill>
                <a:latin typeface="Arial"/>
                <a:ea typeface="Arial"/>
                <a:cs typeface="Arial"/>
              </a:defRPr>
            </a:pPr>
            <a:r>
              <a:rPr sz="1125" b="1">
                <a:solidFill>
                  <a:srgbClr val="62DDA8"/>
                </a:solidFill>
                <a:latin typeface="Arial"/>
                <a:ea typeface="Arial"/>
                <a:cs typeface="Arial"/>
              </a:rPr>
              <a:t>TYM  /  REFERENCES</a:t>
            </a:r>
          </a:p>
        </p:txBody>
      </p:sp>
      <p:sp>
        <p:nvSpPr>
          <p:cNvPr id="2" name="Slide title">
            <a:extLst xmlns:a="http://schemas.openxmlformats.org/drawingml/2006/main">
              <a:ext uri="{FF2B5EF4-FFF2-40B4-BE49-F238E27FC236}">
                <a16:creationId xmlns:a16="http://schemas.microsoft.com/office/drawing/2014/main" id="{474791A3-F9F6-486D-B53B-5537CB174F77}"/>
              </a:ext>
            </a:extLst>
          </p:cNvPr>
          <p:cNvSpPr>
            <a:spLocks xmlns:a="http://schemas.openxmlformats.org/drawingml/2006/main" noGrp="1"/>
          </p:cNvSpPr>
          <p:nvPr/>
        </p:nvSpPr>
        <p:spPr>
          <a:xfrm xmlns:a="http://schemas.openxmlformats.org/drawingml/2006/main">
            <a:off x="609600" y="5810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F3F6F4"/>
                </a:solidFill>
                <a:latin typeface="Arial"/>
                <a:ea typeface="Arial"/>
                <a:cs typeface="Arial"/>
              </a:defRPr>
            </a:pPr>
            <a:r>
              <a:rPr sz="3075" b="1">
                <a:solidFill>
                  <a:srgbClr val="F3F6F4"/>
                </a:solidFill>
                <a:latin typeface="Arial"/>
                <a:ea typeface="Arial"/>
                <a:cs typeface="Arial"/>
              </a:rPr>
              <a:t>Research references: synthetic data and tools</a:t>
            </a:r>
          </a:p>
        </p:txBody>
      </p:sp>
      <p:sp>
        <p:nvSpPr>
          <p:cNvPr id="3" name="Section rule">
            <a:extLst xmlns:a="http://schemas.openxmlformats.org/drawingml/2006/main">
              <a:ext uri="{FF2B5EF4-FFF2-40B4-BE49-F238E27FC236}">
                <a16:creationId xmlns:a16="http://schemas.microsoft.com/office/drawing/2014/main" id="{9B5C4301-7AD2-4301-AD53-1591692BDFB2}"/>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4" name="Section rule">
            <a:extLst xmlns:a="http://schemas.openxmlformats.org/drawingml/2006/main">
              <a:ext uri="{FF2B5EF4-FFF2-40B4-BE49-F238E27FC236}">
                <a16:creationId xmlns:a16="http://schemas.microsoft.com/office/drawing/2014/main" id="{419546C8-55D5-44E4-AF44-A2BAC31BDDC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5BF1DD08-1A28-4C8D-9E30-CCB9E74D4BFA}"/>
              </a:ext>
            </a:extLst>
          </p:cNvPr>
          <p:cNvSpPr>
            <a:spLocks xmlns:a="http://schemas.openxmlformats.org/drawingml/2006/main" noGrp="1"/>
          </p:cNvSpPr>
          <p:nvPr/>
        </p:nvSpPr>
        <p:spPr>
          <a:xfrm xmlns:a="http://schemas.openxmlformats.org/drawingml/2006/main">
            <a:off x="609600" y="6562725"/>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AAB8B0"/>
                </a:solidFill>
                <a:latin typeface="Arial"/>
                <a:ea typeface="Arial"/>
                <a:cs typeface="Arial"/>
              </a:defRPr>
            </a:pPr>
            <a:r>
              <a:rPr sz="900" b="0">
                <a:solidFill>
                  <a:srgbClr val="AAB8B0"/>
                </a:solidFill>
                <a:latin typeface="Arial"/>
                <a:ea typeface="Arial"/>
                <a:cs typeface="Arial"/>
              </a:rPr>
              <a:t>SYNTHETIC DATA  /  UNSUPERVISED DISCOVERY  /  HUMAN EVALUATION</a:t>
            </a:r>
          </a:p>
        </p:txBody>
      </p:sp>
      <p:sp>
        <p:nvSpPr>
          <p:cNvPr id="6" name="Page number">
            <a:extLst xmlns:a="http://schemas.openxmlformats.org/drawingml/2006/main">
              <a:ext uri="{FF2B5EF4-FFF2-40B4-BE49-F238E27FC236}">
                <a16:creationId xmlns:a16="http://schemas.microsoft.com/office/drawing/2014/main" id="{642D1EC1-2B7D-4FC7-9CA5-C45CDFEB9008}"/>
              </a:ext>
            </a:extLst>
          </p:cNvPr>
          <p:cNvSpPr>
            <a:spLocks xmlns:a="http://schemas.openxmlformats.org/drawingml/2006/main" noGrp="1"/>
          </p:cNvSpPr>
          <p:nvPr/>
        </p:nvSpPr>
        <p:spPr>
          <a:xfrm xmlns:a="http://schemas.openxmlformats.org/drawingml/2006/main">
            <a:off x="11049000" y="654367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9AEBCA"/>
                </a:solidFill>
                <a:latin typeface="Arial"/>
                <a:ea typeface="Arial"/>
                <a:cs typeface="Arial"/>
              </a:defRPr>
            </a:pPr>
            <a:r>
              <a:rPr sz="1050" b="1">
                <a:solidFill>
                  <a:srgbClr val="9AEBCA"/>
                </a:solidFill>
                <a:latin typeface="Arial"/>
                <a:ea typeface="Arial"/>
                <a:cs typeface="Arial"/>
              </a:rPr>
              <a:t>20</a:t>
            </a:r>
          </a:p>
        </p:txBody>
      </p:sp>
      <p:sp>
        <p:nvSpPr>
          <p:cNvPr id="7" name="Text">
            <a:extLst xmlns:a="http://schemas.openxmlformats.org/drawingml/2006/main">
              <a:ext uri="{FF2B5EF4-FFF2-40B4-BE49-F238E27FC236}">
                <a16:creationId xmlns:a16="http://schemas.microsoft.com/office/drawing/2014/main" id="{3CAFC842-6C39-4DF6-89B4-222B674C2F17}"/>
              </a:ext>
            </a:extLst>
          </p:cNvPr>
          <p:cNvSpPr>
            <a:spLocks xmlns:a="http://schemas.openxmlformats.org/drawingml/2006/main" noGrp="1"/>
          </p:cNvSpPr>
          <p:nvPr/>
        </p:nvSpPr>
        <p:spPr>
          <a:xfrm xmlns:a="http://schemas.openxmlformats.org/drawingml/2006/main">
            <a:off x="609600" y="1581150"/>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Synthetic diversity</a:t>
            </a:r>
          </a:p>
        </p:txBody>
      </p:sp>
      <p:sp>
        <p:nvSpPr>
          <p:cNvPr id="8" name="Text">
            <a:extLst xmlns:a="http://schemas.openxmlformats.org/drawingml/2006/main">
              <a:ext uri="{FF2B5EF4-FFF2-40B4-BE49-F238E27FC236}">
                <a16:creationId xmlns:a16="http://schemas.microsoft.com/office/drawing/2014/main" id="{0B10C4EB-1152-40E2-B1CD-EFDD14E1DC88}"/>
              </a:ext>
            </a:extLst>
          </p:cNvPr>
          <p:cNvSpPr>
            <a:spLocks xmlns:a="http://schemas.openxmlformats.org/drawingml/2006/main" noGrp="1"/>
          </p:cNvSpPr>
          <p:nvPr/>
        </p:nvSpPr>
        <p:spPr>
          <a:xfrm xmlns:a="http://schemas.openxmlformats.org/drawingml/2006/main">
            <a:off x="3619500" y="1571625"/>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Kambhatla et al. 2025. Persona detail and lexical diversity in synthetic text.</a:t>
            </a:r>
          </a:p>
        </p:txBody>
      </p:sp>
      <p:sp>
        <p:nvSpPr>
          <p:cNvPr id="9" name="Text">
            <a:extLst xmlns:a="http://schemas.openxmlformats.org/drawingml/2006/main">
              <a:ext uri="{FF2B5EF4-FFF2-40B4-BE49-F238E27FC236}">
                <a16:creationId xmlns:a16="http://schemas.microsoft.com/office/drawing/2014/main" id="{D7EDF29B-C5E7-4241-8DA8-56181DE5760B}"/>
              </a:ext>
            </a:extLst>
          </p:cNvPr>
          <p:cNvSpPr>
            <a:spLocks xmlns:a="http://schemas.openxmlformats.org/drawingml/2006/main" noGrp="1"/>
          </p:cNvSpPr>
          <p:nvPr/>
        </p:nvSpPr>
        <p:spPr>
          <a:xfrm xmlns:a="http://schemas.openxmlformats.org/drawingml/2006/main">
            <a:off x="3619500" y="1981200"/>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aclanthology.org/2025.findings-emnlp.1146/</a:t>
            </a:r>
          </a:p>
        </p:txBody>
      </p:sp>
      <p:sp>
        <p:nvSpPr>
          <p:cNvPr id="10" name="Section rule">
            <a:extLst xmlns:a="http://schemas.openxmlformats.org/drawingml/2006/main">
              <a:ext uri="{FF2B5EF4-FFF2-40B4-BE49-F238E27FC236}">
                <a16:creationId xmlns:a16="http://schemas.microsoft.com/office/drawing/2014/main" id="{70BE0788-C0B6-4EF0-90BF-7F387E5BF126}"/>
              </a:ext>
            </a:extLst>
          </p:cNvPr>
          <p:cNvSpPr>
            <a:spLocks xmlns:a="http://schemas.openxmlformats.org/drawingml/2006/main" noGrp="1"/>
          </p:cNvSpPr>
          <p:nvPr/>
        </p:nvSpPr>
        <p:spPr>
          <a:xfrm xmlns:a="http://schemas.openxmlformats.org/drawingml/2006/main">
            <a:off x="609600" y="22288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17B9F05-43FC-442A-B886-A329A3DBBB4A}"/>
              </a:ext>
            </a:extLst>
          </p:cNvPr>
          <p:cNvSpPr>
            <a:spLocks xmlns:a="http://schemas.openxmlformats.org/drawingml/2006/main" noGrp="1"/>
          </p:cNvSpPr>
          <p:nvPr/>
        </p:nvSpPr>
        <p:spPr>
          <a:xfrm xmlns:a="http://schemas.openxmlformats.org/drawingml/2006/main">
            <a:off x="609600" y="2447925"/>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Synthetic distribution shift</a:t>
            </a:r>
          </a:p>
        </p:txBody>
      </p:sp>
      <p:sp>
        <p:nvSpPr>
          <p:cNvPr id="12" name="Text">
            <a:extLst xmlns:a="http://schemas.openxmlformats.org/drawingml/2006/main">
              <a:ext uri="{FF2B5EF4-FFF2-40B4-BE49-F238E27FC236}">
                <a16:creationId xmlns:a16="http://schemas.microsoft.com/office/drawing/2014/main" id="{5854CE8A-1ECC-419A-B3CE-97B39A70BA88}"/>
              </a:ext>
            </a:extLst>
          </p:cNvPr>
          <p:cNvSpPr>
            <a:spLocks xmlns:a="http://schemas.openxmlformats.org/drawingml/2006/main" noGrp="1"/>
          </p:cNvSpPr>
          <p:nvPr/>
        </p:nvSpPr>
        <p:spPr>
          <a:xfrm xmlns:a="http://schemas.openxmlformats.org/drawingml/2006/main">
            <a:off x="3619500" y="2438400"/>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Geng et al. 2025. Label alignment and distribution shift in synthetic quality-estimation data.</a:t>
            </a:r>
          </a:p>
        </p:txBody>
      </p:sp>
      <p:sp>
        <p:nvSpPr>
          <p:cNvPr id="13" name="Text">
            <a:extLst xmlns:a="http://schemas.openxmlformats.org/drawingml/2006/main">
              <a:ext uri="{FF2B5EF4-FFF2-40B4-BE49-F238E27FC236}">
                <a16:creationId xmlns:a16="http://schemas.microsoft.com/office/drawing/2014/main" id="{186D4405-3341-4E45-80C2-DB0689F2E938}"/>
              </a:ext>
            </a:extLst>
          </p:cNvPr>
          <p:cNvSpPr>
            <a:spLocks xmlns:a="http://schemas.openxmlformats.org/drawingml/2006/main" noGrp="1"/>
          </p:cNvSpPr>
          <p:nvPr/>
        </p:nvSpPr>
        <p:spPr>
          <a:xfrm xmlns:a="http://schemas.openxmlformats.org/drawingml/2006/main">
            <a:off x="3619500" y="2847975"/>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aclanthology.org/2025.acl-long.373/</a:t>
            </a:r>
          </a:p>
        </p:txBody>
      </p:sp>
      <p:sp>
        <p:nvSpPr>
          <p:cNvPr id="14" name="Section rule">
            <a:extLst xmlns:a="http://schemas.openxmlformats.org/drawingml/2006/main">
              <a:ext uri="{FF2B5EF4-FFF2-40B4-BE49-F238E27FC236}">
                <a16:creationId xmlns:a16="http://schemas.microsoft.com/office/drawing/2014/main" id="{47D7E405-EA5D-42E4-B322-B40341A608CD}"/>
              </a:ext>
            </a:extLst>
          </p:cNvPr>
          <p:cNvSpPr>
            <a:spLocks xmlns:a="http://schemas.openxmlformats.org/drawingml/2006/main" noGrp="1"/>
          </p:cNvSpPr>
          <p:nvPr/>
        </p:nvSpPr>
        <p:spPr>
          <a:xfrm xmlns:a="http://schemas.openxmlformats.org/drawingml/2006/main">
            <a:off x="609600" y="309562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C5734DD8-1A02-4AC7-8ADA-CA988AA86958}"/>
              </a:ext>
            </a:extLst>
          </p:cNvPr>
          <p:cNvSpPr>
            <a:spLocks xmlns:a="http://schemas.openxmlformats.org/drawingml/2006/main" noGrp="1"/>
          </p:cNvSpPr>
          <p:nvPr/>
        </p:nvSpPr>
        <p:spPr>
          <a:xfrm xmlns:a="http://schemas.openxmlformats.org/drawingml/2006/main">
            <a:off x="609600" y="3314700"/>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ML.NET metrics</a:t>
            </a:r>
          </a:p>
        </p:txBody>
      </p:sp>
      <p:sp>
        <p:nvSpPr>
          <p:cNvPr id="16" name="Text">
            <a:extLst xmlns:a="http://schemas.openxmlformats.org/drawingml/2006/main">
              <a:ext uri="{FF2B5EF4-FFF2-40B4-BE49-F238E27FC236}">
                <a16:creationId xmlns:a16="http://schemas.microsoft.com/office/drawing/2014/main" id="{E74BB115-A6F0-45A3-9BC9-DE66A78ACFFD}"/>
              </a:ext>
            </a:extLst>
          </p:cNvPr>
          <p:cNvSpPr>
            <a:spLocks xmlns:a="http://schemas.openxmlformats.org/drawingml/2006/main" noGrp="1"/>
          </p:cNvSpPr>
          <p:nvPr/>
        </p:nvSpPr>
        <p:spPr>
          <a:xfrm xmlns:a="http://schemas.openxmlformats.org/drawingml/2006/main">
            <a:off x="3619500" y="3305175"/>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Official metrics reference for classification and clustering.</a:t>
            </a:r>
          </a:p>
        </p:txBody>
      </p:sp>
      <p:sp>
        <p:nvSpPr>
          <p:cNvPr id="17" name="Text">
            <a:extLst xmlns:a="http://schemas.openxmlformats.org/drawingml/2006/main">
              <a:ext uri="{FF2B5EF4-FFF2-40B4-BE49-F238E27FC236}">
                <a16:creationId xmlns:a16="http://schemas.microsoft.com/office/drawing/2014/main" id="{9D2C59F4-805E-4713-AD93-2484F09C5DD8}"/>
              </a:ext>
            </a:extLst>
          </p:cNvPr>
          <p:cNvSpPr>
            <a:spLocks xmlns:a="http://schemas.openxmlformats.org/drawingml/2006/main" noGrp="1"/>
          </p:cNvSpPr>
          <p:nvPr/>
        </p:nvSpPr>
        <p:spPr>
          <a:xfrm xmlns:a="http://schemas.openxmlformats.org/drawingml/2006/main">
            <a:off x="3619500" y="3714750"/>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learn.microsoft.com/dotnet/machine-learning/resources/metrics</a:t>
            </a:r>
          </a:p>
        </p:txBody>
      </p:sp>
      <p:sp>
        <p:nvSpPr>
          <p:cNvPr id="18" name="Section rule">
            <a:extLst xmlns:a="http://schemas.openxmlformats.org/drawingml/2006/main">
              <a:ext uri="{FF2B5EF4-FFF2-40B4-BE49-F238E27FC236}">
                <a16:creationId xmlns:a16="http://schemas.microsoft.com/office/drawing/2014/main" id="{3773362A-2491-46A1-BBEF-17336857F0AE}"/>
              </a:ext>
            </a:extLst>
          </p:cNvPr>
          <p:cNvSpPr>
            <a:spLocks xmlns:a="http://schemas.openxmlformats.org/drawingml/2006/main" noGrp="1"/>
          </p:cNvSpPr>
          <p:nvPr/>
        </p:nvSpPr>
        <p:spPr>
          <a:xfrm xmlns:a="http://schemas.openxmlformats.org/drawingml/2006/main">
            <a:off x="609600" y="396240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0E5FEB70-A34B-42C7-93FE-21DD441F982D}"/>
              </a:ext>
            </a:extLst>
          </p:cNvPr>
          <p:cNvSpPr>
            <a:spLocks xmlns:a="http://schemas.openxmlformats.org/drawingml/2006/main" noGrp="1"/>
          </p:cNvSpPr>
          <p:nvPr/>
        </p:nvSpPr>
        <p:spPr>
          <a:xfrm xmlns:a="http://schemas.openxmlformats.org/drawingml/2006/main">
            <a:off x="609600" y="4181475"/>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ML.NET clustering</a:t>
            </a:r>
          </a:p>
        </p:txBody>
      </p:sp>
      <p:sp>
        <p:nvSpPr>
          <p:cNvPr id="20" name="Text">
            <a:extLst xmlns:a="http://schemas.openxmlformats.org/drawingml/2006/main">
              <a:ext uri="{FF2B5EF4-FFF2-40B4-BE49-F238E27FC236}">
                <a16:creationId xmlns:a16="http://schemas.microsoft.com/office/drawing/2014/main" id="{30163896-5634-4F65-8534-DADFE74E1EC1}"/>
              </a:ext>
            </a:extLst>
          </p:cNvPr>
          <p:cNvSpPr>
            <a:spLocks xmlns:a="http://schemas.openxmlformats.org/drawingml/2006/main" noGrp="1"/>
          </p:cNvSpPr>
          <p:nvPr/>
        </p:nvSpPr>
        <p:spPr>
          <a:xfrm xmlns:a="http://schemas.openxmlformats.org/drawingml/2006/main">
            <a:off x="3619500" y="4171950"/>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Official task reference: ML.NET clustering uses unsupervised centroid-based K-Means.</a:t>
            </a:r>
          </a:p>
        </p:txBody>
      </p:sp>
      <p:sp>
        <p:nvSpPr>
          <p:cNvPr id="21" name="Text">
            <a:extLst xmlns:a="http://schemas.openxmlformats.org/drawingml/2006/main">
              <a:ext uri="{FF2B5EF4-FFF2-40B4-BE49-F238E27FC236}">
                <a16:creationId xmlns:a16="http://schemas.microsoft.com/office/drawing/2014/main" id="{A3C65CF2-B152-4240-8E98-935BFD2F27B6}"/>
              </a:ext>
            </a:extLst>
          </p:cNvPr>
          <p:cNvSpPr>
            <a:spLocks xmlns:a="http://schemas.openxmlformats.org/drawingml/2006/main" noGrp="1"/>
          </p:cNvSpPr>
          <p:nvPr/>
        </p:nvSpPr>
        <p:spPr>
          <a:xfrm xmlns:a="http://schemas.openxmlformats.org/drawingml/2006/main">
            <a:off x="3619500" y="4581525"/>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learn.microsoft.com/dotnet/machine-learning/resources/tasks</a:t>
            </a:r>
          </a:p>
        </p:txBody>
      </p:sp>
      <p:sp>
        <p:nvSpPr>
          <p:cNvPr id="22" name="Section rule">
            <a:extLst xmlns:a="http://schemas.openxmlformats.org/drawingml/2006/main">
              <a:ext uri="{FF2B5EF4-FFF2-40B4-BE49-F238E27FC236}">
                <a16:creationId xmlns:a16="http://schemas.microsoft.com/office/drawing/2014/main" id="{CD5F4E08-5365-4CC6-A310-629A26EE6364}"/>
              </a:ext>
            </a:extLst>
          </p:cNvPr>
          <p:cNvSpPr>
            <a:spLocks xmlns:a="http://schemas.openxmlformats.org/drawingml/2006/main" noGrp="1"/>
          </p:cNvSpPr>
          <p:nvPr/>
        </p:nvSpPr>
        <p:spPr>
          <a:xfrm xmlns:a="http://schemas.openxmlformats.org/drawingml/2006/main">
            <a:off x="609600" y="4829175"/>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CE3C98A7-9EC5-4967-BD8D-41E71DE208A9}"/>
              </a:ext>
            </a:extLst>
          </p:cNvPr>
          <p:cNvSpPr>
            <a:spLocks xmlns:a="http://schemas.openxmlformats.org/drawingml/2006/main" noGrp="1"/>
          </p:cNvSpPr>
          <p:nvPr/>
        </p:nvSpPr>
        <p:spPr>
          <a:xfrm xmlns:a="http://schemas.openxmlformats.org/drawingml/2006/main">
            <a:off x="609600" y="5048250"/>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DDA8"/>
                </a:solidFill>
                <a:latin typeface="Arial"/>
                <a:ea typeface="Arial"/>
                <a:cs typeface="Arial"/>
              </a:defRPr>
            </a:pPr>
            <a:r>
              <a:rPr sz="1350" b="1">
                <a:solidFill>
                  <a:srgbClr val="62DDA8"/>
                </a:solidFill>
                <a:latin typeface="Arial"/>
                <a:ea typeface="Arial"/>
                <a:cs typeface="Arial"/>
              </a:rPr>
              <a:t>Conference research themes</a:t>
            </a:r>
          </a:p>
        </p:txBody>
      </p:sp>
      <p:sp>
        <p:nvSpPr>
          <p:cNvPr id="24" name="Text">
            <a:extLst xmlns:a="http://schemas.openxmlformats.org/drawingml/2006/main">
              <a:ext uri="{FF2B5EF4-FFF2-40B4-BE49-F238E27FC236}">
                <a16:creationId xmlns:a16="http://schemas.microsoft.com/office/drawing/2014/main" id="{F8BEB02A-5BA1-4854-A287-2DF7EBD84F56}"/>
              </a:ext>
            </a:extLst>
          </p:cNvPr>
          <p:cNvSpPr>
            <a:spLocks xmlns:a="http://schemas.openxmlformats.org/drawingml/2006/main" noGrp="1"/>
          </p:cNvSpPr>
          <p:nvPr/>
        </p:nvSpPr>
        <p:spPr>
          <a:xfrm xmlns:a="http://schemas.openxmlformats.org/drawingml/2006/main">
            <a:off x="3619500" y="5038725"/>
            <a:ext cx="738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648"/>
          </a:bodyPr>
          <a:lstStyle xmlns:a="http://schemas.openxmlformats.org/drawingml/2006/main"/>
          <a:p xmlns:a="http://schemas.openxmlformats.org/drawingml/2006/main">
            <a:pPr algn="l">
              <a:defRPr sz="1350" b="0">
                <a:solidFill>
                  <a:srgbClr val="F3F6F4"/>
                </a:solidFill>
                <a:latin typeface="Arial"/>
                <a:ea typeface="Arial"/>
                <a:cs typeface="Arial"/>
              </a:defRPr>
            </a:pPr>
            <a:r>
              <a:rPr sz="1350" b="0">
                <a:solidFill>
                  <a:srgbClr val="F3F6F4"/>
                </a:solidFill>
                <a:latin typeface="Arial"/>
                <a:ea typeface="Arial"/>
                <a:cs typeface="Arial"/>
              </a:rPr>
              <a:t>EACL: human in language; COLING: NLP for linguistics; ACL: homogenization. NAACL main track covers resources, transfer, and evaluation.</a:t>
            </a:r>
          </a:p>
        </p:txBody>
      </p:sp>
      <p:sp>
        <p:nvSpPr>
          <p:cNvPr id="25" name="Text">
            <a:extLst xmlns:a="http://schemas.openxmlformats.org/drawingml/2006/main">
              <a:ext uri="{FF2B5EF4-FFF2-40B4-BE49-F238E27FC236}">
                <a16:creationId xmlns:a16="http://schemas.microsoft.com/office/drawing/2014/main" id="{CC9DEA8D-5729-4590-8585-DC7F6BCA7B80}"/>
              </a:ext>
            </a:extLst>
          </p:cNvPr>
          <p:cNvSpPr>
            <a:spLocks xmlns:a="http://schemas.openxmlformats.org/drawingml/2006/main" noGrp="1"/>
          </p:cNvSpPr>
          <p:nvPr/>
        </p:nvSpPr>
        <p:spPr>
          <a:xfrm xmlns:a="http://schemas.openxmlformats.org/drawingml/2006/main">
            <a:off x="3619500" y="5448300"/>
            <a:ext cx="7381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8B0"/>
                </a:solidFill>
                <a:latin typeface="Arial"/>
                <a:ea typeface="Arial"/>
                <a:cs typeface="Arial"/>
              </a:defRPr>
            </a:pPr>
            <a:r>
              <a:rPr sz="975" b="0">
                <a:solidFill>
                  <a:srgbClr val="AAB8B0"/>
                </a:solidFill>
                <a:latin typeface="Arial"/>
                <a:ea typeface="Arial"/>
                <a:cs typeface="Arial"/>
              </a:rPr>
              <a:t>Official 2027 CFPs checked 1 Oct 2026; EMNLP theme TBA</a:t>
            </a:r>
          </a:p>
        </p:txBody>
      </p:sp>
      <p:sp>
        <p:nvSpPr>
          <p:cNvPr id="26" name="Section rule">
            <a:extLst xmlns:a="http://schemas.openxmlformats.org/drawingml/2006/main">
              <a:ext uri="{FF2B5EF4-FFF2-40B4-BE49-F238E27FC236}">
                <a16:creationId xmlns:a16="http://schemas.microsoft.com/office/drawing/2014/main" id="{19177C44-A737-4F83-BDED-643641506352}"/>
              </a:ext>
            </a:extLst>
          </p:cNvPr>
          <p:cNvSpPr>
            <a:spLocks xmlns:a="http://schemas.openxmlformats.org/drawingml/2006/main" noGrp="1"/>
          </p:cNvSpPr>
          <p:nvPr/>
        </p:nvSpPr>
        <p:spPr>
          <a:xfrm xmlns:a="http://schemas.openxmlformats.org/drawingml/2006/main">
            <a:off x="609600" y="5695950"/>
            <a:ext cx="10972800" cy="9525"/>
          </a:xfrm>
          <a:prstGeom xmlns:a="http://schemas.openxmlformats.org/drawingml/2006/main" prst="rect">
            <a:avLst/>
          </a:prstGeom>
          <a:solidFill xmlns:a="http://schemas.openxmlformats.org/drawingml/2006/main">
            <a:srgbClr val="47534B"/>
          </a:solidFill>
          <a:ln xmlns:a="http://schemas.openxmlformats.org/drawingml/2006/main" w="0">
            <a:noFill/>
          </a:ln>
        </p:spPr>
      </p:sp>
    </p:spTree>
    <p:extLst>
      <p:ext uri="{BB962C8B-B14F-4D97-AF65-F5344CB8AC3E}">
        <p14:creationId xmlns:p14="http://schemas.microsoft.com/office/powerpoint/2010/main" val="3997030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2026-10-01T19:50:08.5640000Z</dcterms:created>
  <dcterms:modified xsi:type="dcterms:W3CDTF">2026-10-01T19:50:08.5640000Z</dcterms:modified>
</coreProperties>
</file>